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143500"/>
          </a:xfrm>
          <a:prstGeom prst="round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Georgia"/>
              </a:defRPr>
            </a:pPr>
            <a:r>
              <a:t>🐋 Week 2: Evidence of Evolution 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t>Grade 8 Science | Rosche | Kairos Academies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MS-LS4-2 &amp; MS-LS4-4 Evidence of Evolution | 100 Points Total | ~75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840480"/>
            <a:ext cx="548640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39776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34E52"/>
                </a:solidFill>
                <a:latin typeface="Arial"/>
              </a:defRPr>
            </a:pPr>
            <a:r>
              <a:t>Why do whale flippers have finger bones?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82880"/>
            <a:ext cx="8778240" cy="548640"/>
          </a:xfrm>
          <a:prstGeom prst="roundRect">
            <a:avLst/>
          </a:prstGeom>
          <a:solidFill>
            <a:srgbClr val="23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🐋 The Phenomenon: The Whale Finger Mystery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914400"/>
            <a:ext cx="4389120" cy="2560320"/>
          </a:xfrm>
          <a:prstGeom prst="round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4023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4E52"/>
                </a:solidFill>
                <a:latin typeface="Arial"/>
              </a:defRPr>
            </a:pPr>
            <a:r>
              <a:t>Look at an X-ray of a whale's flipper. Inside that smooth flipper, there are BONES:</a:t>
            </a:r>
            <a:br/>
            <a:br/>
            <a:r>
              <a:t>• Upper arm bone (humerus)</a:t>
            </a:r>
            <a:br/>
            <a:r>
              <a:t>• Two forearm bones (radius and ulna)</a:t>
            </a:r>
            <a:br/>
            <a:r>
              <a:t>• Wrist bones (carpals)</a:t>
            </a:r>
            <a:br/>
            <a:r>
              <a:t>• FIVE FINGERS with knuckles!</a:t>
            </a:r>
            <a:br/>
            <a:br/>
            <a:r>
              <a:t>But whales don't have hands. They swim.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" y="3566160"/>
            <a:ext cx="4389120" cy="640080"/>
          </a:xfrm>
          <a:prstGeom prst="roundRect">
            <a:avLst/>
          </a:prstGeom>
          <a:solidFill>
            <a:srgbClr val="23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6576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So why would a whale have finger bones?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914400"/>
            <a:ext cx="4206240" cy="274320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0972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📝 QUICK WRITE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64592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30 sec – silent writing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74320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Arial"/>
              </a:defRPr>
            </a:pPr>
            <a:r>
              <a:t>What's your prediction?</a:t>
            </a:r>
            <a:br/>
            <a:r>
              <a:t>Why might whales have finger bones?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3749039"/>
            <a:ext cx="4206240" cy="457200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37947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7EEA"/>
                </a:solidFill>
                <a:latin typeface="Arial"/>
              </a:defRPr>
            </a:pPr>
            <a:r>
              <a:t>👥 TURN &amp; TALK: Share with partner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" y="4389120"/>
            <a:ext cx="8778240" cy="54864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462272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📝 Notecard: Write your prediction - Why do whales have finger bones?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143500"/>
          </a:xfrm>
          <a:prstGeom prst="round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DRIVING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Georgia"/>
              </a:defRPr>
            </a:pPr>
            <a:r>
              <a:t>Why do whale flippers have finger bones?</a:t>
            </a:r>
            <a:br/>
            <a:r>
              <a:t>What does this tell us about whale ancestors?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2926080"/>
            <a:ext cx="1828800" cy="731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Georgia"/>
              </a:defRPr>
            </a:pPr>
            <a:r>
              <a:t>And how does this connect to natural selection from Week 1?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931920"/>
            <a:ext cx="5486400" cy="731520"/>
          </a:xfrm>
          <a:prstGeom prst="roundRect">
            <a:avLst/>
          </a:prstGeom>
          <a:solidFill>
            <a:srgbClr val="234E5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40233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🎯 Your Mission: Use anatomical &amp; fossil evidence to explain evolution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05AD5"/>
                </a:solidFill>
                <a:latin typeface="Georgia"/>
              </a:defRPr>
            </a:pPr>
            <a:r>
              <a:t>🔗 What You Already Know (Week 1 Natural Selection)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640080"/>
            <a:ext cx="4206240" cy="1280160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640080"/>
            <a:ext cx="73152" cy="1280160"/>
          </a:xfrm>
          <a:prstGeom prst="roundRect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F7AEA"/>
                </a:solidFill>
                <a:latin typeface="Arial"/>
              </a:defRPr>
            </a:pPr>
            <a:r>
              <a:t>1. Variation exists...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3748"/>
                </a:solidFill>
                <a:latin typeface="Arial"/>
              </a:defRPr>
            </a:pPr>
            <a:r>
              <a:t>in every population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Arial"/>
              </a:defRPr>
            </a:pPr>
            <a:r>
              <a:t>→ Different traits = different genes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640080"/>
            <a:ext cx="4206240" cy="1280160"/>
          </a:xfrm>
          <a:prstGeom prst="round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63440" y="640080"/>
            <a:ext cx="73152" cy="1280160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7315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D6B20"/>
                </a:solidFill>
                <a:latin typeface="Arial"/>
              </a:defRPr>
            </a:pPr>
            <a:r>
              <a:t>2. Selection pressure...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005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3748"/>
                </a:solidFill>
                <a:latin typeface="Arial"/>
              </a:defRPr>
            </a:pPr>
            <a:r>
              <a:t>favors some traits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3716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Arial"/>
              </a:defRPr>
            </a:pPr>
            <a:r>
              <a:t>→ Environment determines fitness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2011680"/>
            <a:ext cx="4206240" cy="128016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4320" y="2011680"/>
            <a:ext cx="73152" cy="1280160"/>
          </a:xfrm>
          <a:prstGeom prst="round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1031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A169"/>
                </a:solidFill>
                <a:latin typeface="Arial"/>
              </a:defRPr>
            </a:pPr>
            <a:r>
              <a:t>3. Survivors reproduce...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77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3748"/>
                </a:solidFill>
                <a:latin typeface="Arial"/>
              </a:defRPr>
            </a:pPr>
            <a:r>
              <a:t>passing on their genes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432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Arial"/>
              </a:defRPr>
            </a:pPr>
            <a:r>
              <a:t>→ Offspring inherit advantageous traits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2011680"/>
            <a:ext cx="4206240" cy="128016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63440" y="2011680"/>
            <a:ext cx="73152" cy="128016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21031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182CE"/>
                </a:solidFill>
                <a:latin typeface="Arial"/>
              </a:defRPr>
            </a:pPr>
            <a:r>
              <a:t>4. Population changes...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377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3748"/>
                </a:solidFill>
                <a:latin typeface="Arial"/>
              </a:defRPr>
            </a:pPr>
            <a:r>
              <a:t>over generations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7432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Arial"/>
              </a:defRPr>
            </a:pPr>
            <a:r>
              <a:t>→ Evolution = population change over 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474720"/>
            <a:ext cx="8595360" cy="64008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📝 Notecard: Which step of natural selection do you remember BEST?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206240"/>
            <a:ext cx="8595360" cy="731520"/>
          </a:xfrm>
          <a:prstGeom prst="round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34E52"/>
                </a:solidFill>
                <a:latin typeface="Arial"/>
              </a:defRPr>
            </a:pPr>
            <a:r>
              <a:t>🆕 NEW THIS WEEK: What EVIDENCE do we have that evolution actually happened?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14350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34E52"/>
                </a:solidFill>
                <a:latin typeface="Georgia"/>
              </a:defRPr>
            </a:pPr>
            <a:r>
              <a:t>🎯 Learning Targets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640080"/>
            <a:ext cx="42062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F7AEA"/>
                </a:solidFill>
                <a:latin typeface="Arial"/>
              </a:defRPr>
            </a:pPr>
            <a:r>
              <a:t>TARGET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Arial"/>
              </a:defRPr>
            </a:pPr>
            <a:r>
              <a:t>Distinguish between homologous and analogous structures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640080"/>
            <a:ext cx="42062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7315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F7AEA"/>
                </a:solidFill>
                <a:latin typeface="Arial"/>
              </a:defRPr>
            </a:pPr>
            <a:r>
              <a:t>TARGET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00584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Arial"/>
              </a:defRPr>
            </a:pPr>
            <a:r>
              <a:t>Use anatomical evidence to infer evolutionary relationships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920240"/>
            <a:ext cx="42062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46C1"/>
                </a:solidFill>
                <a:latin typeface="Arial"/>
              </a:defRPr>
            </a:pPr>
            <a:r>
              <a:t>TARGET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Arial"/>
              </a:defRPr>
            </a:pPr>
            <a:r>
              <a:t>Interpret fossil evidence including transitional forms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920240"/>
            <a:ext cx="42062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0116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46C1"/>
                </a:solidFill>
                <a:latin typeface="Arial"/>
              </a:defRPr>
            </a:pPr>
            <a:r>
              <a:t>TARGET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28600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Arial"/>
              </a:defRPr>
            </a:pPr>
            <a:r>
              <a:t>Predict features of transitional organisms based on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291840"/>
            <a:ext cx="8595360" cy="640080"/>
          </a:xfrm>
          <a:prstGeom prst="roundRect">
            <a:avLst/>
          </a:prstGeom>
          <a:solidFill>
            <a:srgbClr val="23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337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6576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rial"/>
              </a:defRPr>
            </a:pPr>
            <a:r>
              <a:t>Total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3337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~75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6576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rial"/>
              </a:defRPr>
            </a:pPr>
            <a:r>
              <a:t>Minutes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337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6576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rial"/>
              </a:defRPr>
            </a:pPr>
            <a:r>
              <a:t>Sections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4114800"/>
            <a:ext cx="85953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160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D3748"/>
                </a:solidFill>
                <a:latin typeface="Arial"/>
              </a:defRPr>
            </a:pPr>
            <a:r>
              <a:t>🎯 Hook (12 pts)  →  🦴 Station 1 (20 pts)  →  🦕 Station 2 (20 pts)  →  🔧 Station 3 (25 pts)  →  🎓 Exit (23 pts)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37160"/>
            <a:ext cx="8778240" cy="45720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📚 Key Vocabulary This Week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731520"/>
            <a:ext cx="8778240" cy="59436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748"/>
                </a:solidFill>
                <a:latin typeface="Arial"/>
              </a:defRPr>
            </a:pPr>
            <a:r>
              <a:t>Homologous Structures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804672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Same bone structure, different function (evidence of common ancestor)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1325880"/>
            <a:ext cx="877824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9903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748"/>
                </a:solidFill>
                <a:latin typeface="Arial"/>
              </a:defRPr>
            </a:pPr>
            <a:r>
              <a:t>Analogous Structures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399032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Different structure, same function (NOT from common ancestor)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" y="1920240"/>
            <a:ext cx="8778240" cy="59436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9339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748"/>
                </a:solidFill>
                <a:latin typeface="Arial"/>
              </a:defRPr>
            </a:pPr>
            <a:r>
              <a:t>Transitional Fossil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1993392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Fossil with features of both ancestral and descendant groups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" y="2514600"/>
            <a:ext cx="877824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58775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748"/>
                </a:solidFill>
                <a:latin typeface="Arial"/>
              </a:defRPr>
            </a:pPr>
            <a:r>
              <a:t>Vestigial 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587752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Reduced or non-functional structure left over from ancestors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" y="3108960"/>
            <a:ext cx="8778240" cy="59436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18211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748"/>
                </a:solidFill>
                <a:latin typeface="Arial"/>
              </a:defRPr>
            </a:pPr>
            <a:r>
              <a:t>Common Ancestor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182112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An ancestral species from which multiple species evolved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" y="3794760"/>
            <a:ext cx="8778240" cy="54864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88620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📝 Notecard: Write down the term you find most confusing - we'll clarify today!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" y="4434840"/>
            <a:ext cx="8778240" cy="457200"/>
          </a:xfrm>
          <a:prstGeom prst="round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34E52"/>
                </a:solidFill>
                <a:latin typeface="Arial"/>
              </a:defRPr>
            </a:pPr>
            <a:r>
              <a:t>💡 KEY: Same STRUCTURE = common ancestor | Same FUNCTION only = evolved independently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"/>
            <a:ext cx="8869680" cy="77724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🎯 Hook – The Whale Finger Mystery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12 Points | ~10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7EEA"/>
                </a:solidFill>
                <a:latin typeface="Arial"/>
              </a:defRPr>
            </a:pPr>
            <a:r>
              <a:t>WHAT YOU'LL 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4114800" cy="1828800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45720" cy="182880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Arial"/>
              </a:defRPr>
            </a:pPr>
            <a:r>
              <a:t>1. Observe the whale flipper bone structure (2 min)</a:t>
            </a:r>
            <a:br/>
            <a:r>
              <a:t>2. Compare to human arm bones (2 min)</a:t>
            </a:r>
            <a:br/>
            <a:r>
              <a:t>3. Identify which other animals share this pattern (3 min)</a:t>
            </a:r>
            <a:br/>
            <a:r>
              <a:t>4. Connect to natural selection from Week 1 (3 min)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291840"/>
            <a:ext cx="4114800" cy="73152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3291840"/>
            <a:ext cx="4114800" cy="45720"/>
          </a:xfrm>
          <a:prstGeom prst="round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8A169"/>
                </a:solidFill>
                <a:latin typeface="Arial"/>
              </a:defRPr>
            </a:pPr>
            <a:r>
              <a:t>💡 Key: Same bones, different functions = evidence of common ancestor!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005840"/>
            <a:ext cx="4297680" cy="228600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1430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📝 QUICK WRITE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64592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"Whales have finger bones because..."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383280"/>
            <a:ext cx="4297680" cy="365760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34290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7EEA"/>
                </a:solidFill>
                <a:latin typeface="Arial"/>
              </a:defRPr>
            </a:pPr>
            <a:r>
              <a:t>🎲 Cold Call Coming! Be ready to share.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" y="4160520"/>
            <a:ext cx="8869680" cy="50292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2062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📝 Notecard: Record your prediction AND your reasoning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"/>
            <a:ext cx="8869680" cy="548640"/>
          </a:xfrm>
          <a:prstGeom prst="round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🎯 Hook – The "1-2-Many-5" Pattern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868680"/>
            <a:ext cx="8686800" cy="1371600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73152" cy="137160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7EEA"/>
                </a:solidFill>
                <a:latin typeface="Arial"/>
              </a:defRPr>
            </a:pPr>
            <a:r>
              <a:t>🦴 The Same Bone Pattern in ALL These Animals: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Arial"/>
              </a:defRPr>
            </a:pPr>
            <a:r>
              <a:t>• Humerus – 1 upper arm/shoulder bone</a:t>
            </a:r>
            <a:br/>
            <a:r>
              <a:t>• Radius &amp; Ulna – 2 forearm bones</a:t>
            </a:r>
            <a:br/>
            <a:r>
              <a:t>• Carpals – Multiple small wrist bones</a:t>
            </a:r>
            <a:br/>
            <a:r>
              <a:t>• Metacarpals &amp; Phalanges – Hand/finger bones (5 digits)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28016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748"/>
                </a:solidFill>
                <a:latin typeface="Arial"/>
              </a:defRPr>
            </a:pPr>
            <a:r>
              <a:t>Human arm ✓</a:t>
            </a:r>
            <a:br/>
            <a:r>
              <a:t>Whale flipper ✓</a:t>
            </a:r>
            <a:br/>
            <a:r>
              <a:t>Bat wing ✓</a:t>
            </a:r>
            <a:br/>
            <a:r>
              <a:t>Cat leg ✓</a:t>
            </a:r>
            <a:br/>
            <a:r>
              <a:t>Dog leg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2377440"/>
            <a:ext cx="8686800" cy="640080"/>
          </a:xfrm>
          <a:prstGeom prst="round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🔑 KEY: Same bones = HOMOLOGOUS = inherited from common ancestor!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3154680"/>
            <a:ext cx="8686800" cy="822960"/>
          </a:xfrm>
          <a:prstGeom prst="round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461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D6B20"/>
                </a:solidFill>
                <a:latin typeface="Arial"/>
              </a:defRPr>
            </a:pPr>
            <a:r>
              <a:t>⚠️ But bird wings and butterfly wings are ANALOGOUS: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Arial"/>
              </a:defRPr>
            </a:pPr>
            <a:r>
              <a:t>Same function (flying) but DIFFERENT structure = evolved independently, NOT from common ancestor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" y="4114800"/>
            <a:ext cx="8869680" cy="50292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41605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📝 Notecard: Why is same STRUCTURE more important than same FUNCTION for proving ancestry?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"/>
            <a:ext cx="8869680" cy="777240"/>
          </a:xfrm>
          <a:prstGeom prst="round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🦴 Station 1 – Comparative Anatomy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20 Points | ~18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D6B20"/>
                </a:solidFill>
                <a:latin typeface="Arial"/>
              </a:defRPr>
            </a:pPr>
            <a:r>
              <a:t>YOUR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4114800" cy="1828800"/>
          </a:xfrm>
          <a:prstGeom prst="round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45720" cy="1828800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Arial"/>
              </a:defRPr>
            </a:pPr>
            <a:r>
              <a:t>1. Compare bone structures in 5 animals (5 min)</a:t>
            </a:r>
            <a:br/>
            <a:r>
              <a:t>2. Identify homologous vs analogous structures (5 min)</a:t>
            </a:r>
            <a:br/>
            <a:r>
              <a:t>3. Determine which animals share ancestors (4 min)</a:t>
            </a:r>
            <a:br/>
            <a:r>
              <a:t>4. Explain WHY same bones = common ancestry (4 min)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005840"/>
            <a:ext cx="4297680" cy="1371600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🎯 DISCOVERY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46304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What does shared bone structure tell us about animal ancestry?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468880"/>
            <a:ext cx="4297680" cy="914400"/>
          </a:xfrm>
          <a:prstGeom prst="round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2468880"/>
            <a:ext cx="4297680" cy="45720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56032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6B20"/>
                </a:solidFill>
                <a:latin typeface="Arial"/>
              </a:defRPr>
            </a:pPr>
            <a:r>
              <a:t>🔑 Remember:</a:t>
            </a:r>
            <a:br/>
            <a:r>
              <a:t>Homologous = same structure</a:t>
            </a:r>
            <a:br/>
            <a:r>
              <a:t>Analogous = same function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337560"/>
            <a:ext cx="8595360" cy="640080"/>
          </a:xfrm>
          <a:prstGeom prst="round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34E52"/>
                </a:solidFill>
                <a:latin typeface="Arial"/>
              </a:defRPr>
            </a:pPr>
            <a:r>
              <a:t>💡 Why would a whale, bat, and human all have the SAME bones arranged the same way?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" y="4160520"/>
            <a:ext cx="8869680" cy="502920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2062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📝 Notecard: Write your prediction BEFORE analyzing the diagrams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"/>
            <a:ext cx="8869680" cy="502920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Georgia"/>
              </a:defRPr>
            </a:pPr>
            <a:r>
              <a:t>🦴 Station 1 – Homologous vs Analogous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777240"/>
            <a:ext cx="8778240" cy="457200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8046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8046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Function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8046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Indicates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" y="1280160"/>
            <a:ext cx="8778240" cy="50292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0759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748"/>
                </a:solidFill>
                <a:latin typeface="Arial"/>
              </a:defRPr>
            </a:pPr>
            <a:r>
              <a:t>Homologous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307592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Arial"/>
              </a:defRPr>
            </a:pPr>
            <a:r>
              <a:t>SAME bones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307592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Arial"/>
              </a:defRPr>
            </a:pPr>
            <a:r>
              <a:t>Different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307592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A169"/>
                </a:solidFill>
                <a:latin typeface="Arial"/>
              </a:defRPr>
            </a:pPr>
            <a:r>
              <a:t>Common ancestor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" y="1828800"/>
            <a:ext cx="8778240" cy="502920"/>
          </a:xfrm>
          <a:prstGeom prst="roundRect">
            <a:avLst/>
          </a:prstGeom>
          <a:solidFill>
            <a:srgbClr val="FE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856231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748"/>
                </a:solidFill>
                <a:latin typeface="Arial"/>
              </a:defRPr>
            </a:pPr>
            <a:r>
              <a:t>Analogous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1856231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Arial"/>
              </a:defRPr>
            </a:pPr>
            <a:r>
              <a:t>Different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856231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Arial"/>
              </a:defRPr>
            </a:pPr>
            <a:r>
              <a:t>SAME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856231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53030"/>
                </a:solidFill>
                <a:latin typeface="Arial"/>
              </a:defRPr>
            </a:pPr>
            <a:r>
              <a:t>Independent evolution 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" y="2468880"/>
            <a:ext cx="4297680" cy="91440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56032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A169"/>
                </a:solidFill>
                <a:latin typeface="Arial"/>
              </a:defRPr>
            </a:pPr>
            <a:r>
              <a:t>✓ HOMOLOGOUS Examples: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83464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• Whale flipper + bat wing + human arm</a:t>
            </a:r>
            <a:br/>
            <a:r>
              <a:t>• Dog leg + cat leg + horse leg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2468880"/>
            <a:ext cx="4297680" cy="914400"/>
          </a:xfrm>
          <a:prstGeom prst="roundRect">
            <a:avLst/>
          </a:prstGeom>
          <a:solidFill>
            <a:srgbClr val="FE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256032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53030"/>
                </a:solidFill>
                <a:latin typeface="Arial"/>
              </a:defRPr>
            </a:pPr>
            <a:r>
              <a:t>✗ ANALOGOUS Examples: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283464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• Bird wing + butterfly wing (both fly)</a:t>
            </a:r>
            <a:br/>
            <a:r>
              <a:t>• Shark fin + dolphin fin (both swim)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" y="3520440"/>
            <a:ext cx="8778240" cy="68580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61188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182CE"/>
                </a:solidFill>
                <a:latin typeface="Arial"/>
              </a:defRPr>
            </a:pPr>
            <a:r>
              <a:t>📗 SENTENCE STARTERS: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84048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Arial"/>
              </a:defRPr>
            </a:pPr>
            <a:r>
              <a:t>"These structures are homologous because they have the same _____ but different _____."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" y="4343400"/>
            <a:ext cx="8869680" cy="502920"/>
          </a:xfrm>
          <a:prstGeom prst="round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43891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📝 Notecard: Is a dolphin fin homologous or analogous to a shark fin? Explain WHY.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"/>
            <a:ext cx="8869680" cy="77724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🦕 Station 2 – Fossil Record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20 Points | ~15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6CB0"/>
                </a:solidFill>
                <a:latin typeface="Arial"/>
              </a:defRPr>
            </a:pPr>
            <a:r>
              <a:t>YOUR INVESTIGATION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4114800" cy="182880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45720" cy="182880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Arial"/>
              </a:defRPr>
            </a:pPr>
            <a:r>
              <a:t>1. Study the whale evolution timeline (4 min)</a:t>
            </a:r>
            <a:br/>
            <a:r>
              <a:t>2. Identify transitional features in each fossil (4 min)</a:t>
            </a:r>
            <a:br/>
            <a:r>
              <a:t>3. Explain what changed from Pakicetus to modern whales (4 min)</a:t>
            </a:r>
            <a:br/>
            <a:r>
              <a:t>4. Connect to natural selection (3 min)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005840"/>
            <a:ext cx="4297680" cy="137160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🎯 DISCOVERY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46304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How do transitional fossils show evolution from land to water?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468880"/>
            <a:ext cx="4297680" cy="91440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2468880"/>
            <a:ext cx="4297680" cy="4572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56032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B6CB0"/>
                </a:solidFill>
                <a:latin typeface="Arial"/>
              </a:defRPr>
            </a:pPr>
            <a:r>
              <a:t>🔑 Transitional fossil = has features of BOTH ancestor and descendant groups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337560"/>
            <a:ext cx="8595360" cy="640080"/>
          </a:xfrm>
          <a:prstGeom prst="round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34E52"/>
                </a:solidFill>
                <a:latin typeface="Arial"/>
              </a:defRPr>
            </a:pPr>
            <a:r>
              <a:t>💡 Why do whales still have tiny hip bones if they don't have legs?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" y="4160520"/>
            <a:ext cx="8869680" cy="50292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2062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📝 Notecard: Write your prediction - Why would whales have vestigial hip bones?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"/>
            <a:ext cx="8869680" cy="50292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Georgia"/>
              </a:defRPr>
            </a:pPr>
            <a:r>
              <a:t>🦕 Station 2 – Whale Evolution Timeline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777240"/>
            <a:ext cx="8778240" cy="41148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Fossil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80467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80467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Key Features (What Changed)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" y="1234440"/>
            <a:ext cx="8778240" cy="50292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3748"/>
                </a:solidFill>
                <a:latin typeface="Arial"/>
              </a:defRPr>
            </a:pPr>
            <a:r>
              <a:t>Pakicetus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2801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50 mya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2801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Arial"/>
              </a:defRPr>
            </a:pPr>
            <a:r>
              <a:t>4 legs, lived on LAND near water, wolf-like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" y="1737360"/>
            <a:ext cx="87782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7830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3748"/>
                </a:solidFill>
                <a:latin typeface="Arial"/>
              </a:defRPr>
            </a:pPr>
            <a:r>
              <a:t>Ambulocetus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17830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49 mya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17830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Arial"/>
              </a:defRPr>
            </a:pPr>
            <a:r>
              <a:t>Could walk AND swim, webbed feet, "walking whale"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" y="2240280"/>
            <a:ext cx="8778240" cy="50292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286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3748"/>
                </a:solidFill>
                <a:latin typeface="Arial"/>
              </a:defRPr>
            </a:pPr>
            <a:r>
              <a:t>Rodhocetus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22860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47 mya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2860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Arial"/>
              </a:defRPr>
            </a:pPr>
            <a:r>
              <a:t>Short legs, large tail, MOSTLY aquatic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" y="2743200"/>
            <a:ext cx="87782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7889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3748"/>
                </a:solidFill>
                <a:latin typeface="Arial"/>
              </a:defRPr>
            </a:pPr>
            <a:r>
              <a:t>Basilosaurus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27889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40 mya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7889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Arial"/>
              </a:defRPr>
            </a:pPr>
            <a:r>
              <a:t>Tiny back legs, FULLY aquatic, long body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" y="3246120"/>
            <a:ext cx="8778240" cy="50292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29183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3748"/>
                </a:solidFill>
                <a:latin typeface="Arial"/>
              </a:defRPr>
            </a:pPr>
            <a:r>
              <a:t>Modern whales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3291839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Today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29183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Arial"/>
              </a:defRPr>
            </a:pPr>
            <a:r>
              <a:t>Flippers, NO visible legs, vestigial hip bones inside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" y="3794760"/>
            <a:ext cx="8778240" cy="457200"/>
          </a:xfrm>
          <a:prstGeom prst="round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867912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🔑 Notice: Legs got SMALLER over 10 million years. Each fossil is a "snapshot" of evolution!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160" y="4389120"/>
            <a:ext cx="8869680" cy="502920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44348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📝 Notecard: Why is Ambulocetus called a "transitional fossil"? What 2 groups does it bridge?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"/>
            <a:ext cx="8869680" cy="77724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🔧 Station 3 – Design a Transitional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25 Points | ~20 min (Highest Value!)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6749"/>
                </a:solidFill>
                <a:latin typeface="Arial"/>
              </a:defRPr>
            </a:pPr>
            <a:r>
              <a:t>YOUR DESIGN 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4114800" cy="182880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45720" cy="182880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Arial"/>
              </a:defRPr>
            </a:pPr>
            <a:r>
              <a:t>1. Review ancestor and descendant features (3 min)</a:t>
            </a:r>
            <a:br/>
            <a:r>
              <a:t>2. Predict what the in-between looked like (5 min)</a:t>
            </a:r>
            <a:br/>
            <a:r>
              <a:t>3. Draw/describe your transitional form (7 min)</a:t>
            </a:r>
            <a:br/>
            <a:r>
              <a:t>4. Compare to real fossil (Tiktaalik) (5 min)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005840"/>
            <a:ext cx="4297680" cy="164592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📋 YOUR 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41732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ANCESTOR (100 mya):</a:t>
            </a:r>
            <a:br/>
            <a:r>
              <a:t>Fully land mammal – 4 legs, fur, small ears</a:t>
            </a:r>
            <a:br/>
            <a:br/>
            <a:r>
              <a:t>DESCENDANT (today):</a:t>
            </a:r>
            <a:br/>
            <a:r>
              <a:t>Fully aquatic – flippers, smooth skin</a:t>
            </a:r>
            <a:br/>
            <a:br/>
            <a:r>
              <a:t>YOUR DESIGN (60 mya): ???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4297680" cy="54864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8346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76749"/>
                </a:solidFill>
                <a:latin typeface="Arial"/>
              </a:defRPr>
            </a:pPr>
            <a:r>
              <a:t>⭐ HIGHEST VALUE STATION - Show your best work!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337560"/>
            <a:ext cx="8595360" cy="640080"/>
          </a:xfrm>
          <a:prstGeom prst="round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34E52"/>
                </a:solidFill>
                <a:latin typeface="Arial"/>
              </a:defRPr>
            </a:pPr>
            <a:r>
              <a:t>💡 Each body part should be HALFWAY between ancestor and descendant!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" y="4160520"/>
            <a:ext cx="8869680" cy="50292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2062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📝 Notecard: What features would YOU design for limbs, body covering, and habitat?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"/>
            <a:ext cx="8869680" cy="50292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Georgia"/>
              </a:defRPr>
            </a:pPr>
            <a:r>
              <a:t>🔧 Station 3 – Worked Example: Tiktaalik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777240"/>
            <a:ext cx="8778240" cy="1463040"/>
          </a:xfrm>
          <a:prstGeom prst="round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" y="777240"/>
            <a:ext cx="73152" cy="1463040"/>
          </a:xfrm>
          <a:prstGeom prst="roundRect">
            <a:avLst/>
          </a:prstGeom>
          <a:solidFill>
            <a:srgbClr val="31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34E52"/>
                </a:solidFill>
                <a:latin typeface="Arial"/>
              </a:defRPr>
            </a:pPr>
            <a:r>
              <a:t>📝 REAL TRANSITIONAL FOSSIL: Fish → Tetrapod (375 mya)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Arial"/>
              </a:defRPr>
            </a:pPr>
            <a:r>
              <a:t>TIKTAALIK had:</a:t>
            </a:r>
            <a:br/>
            <a:r>
              <a:t>• Limbs: Fins with WRIST BONES (in-between fins and legs) – could prop itself up</a:t>
            </a:r>
            <a:br/>
            <a:r>
              <a:t>• Body: Fish scales + flat head like tetrapods</a:t>
            </a:r>
            <a:br/>
            <a:r>
              <a:t>• Habitat: Shallow water – not fully aquatic, not fully land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3774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6749"/>
                </a:solidFill>
                <a:latin typeface="Arial"/>
              </a:defRPr>
            </a:pPr>
            <a:r>
              <a:t>🎯 HOW TO DESIGN YOUR TRANSITIONAL FORM: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743200"/>
            <a:ext cx="2743200" cy="82296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A169"/>
                </a:solidFill>
                <a:latin typeface="Arial"/>
              </a:defRPr>
            </a:pPr>
            <a:r>
              <a:t>LIMBS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Arial"/>
              </a:defRPr>
            </a:pPr>
            <a:r>
              <a:t>Halfway: Shortened legs with webbed feet?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743200"/>
            <a:ext cx="2743200" cy="82296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28346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182CE"/>
                </a:solidFill>
                <a:latin typeface="Arial"/>
              </a:defRPr>
            </a:pPr>
            <a:r>
              <a:t>BODY COVERING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Arial"/>
              </a:defRPr>
            </a:pPr>
            <a:r>
              <a:t>Halfway: Sparse fur? Smooth but not slick?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743200"/>
            <a:ext cx="2743200" cy="822960"/>
          </a:xfrm>
          <a:prstGeom prst="round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8346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D6B20"/>
                </a:solidFill>
                <a:latin typeface="Arial"/>
              </a:defRPr>
            </a:pPr>
            <a:r>
              <a:t>HABITAT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Arial"/>
              </a:defRPr>
            </a:pPr>
            <a:r>
              <a:t>Halfway: Lives in shallow water near shore?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" y="3703320"/>
            <a:ext cx="8778240" cy="457200"/>
          </a:xfrm>
          <a:prstGeom prst="round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776472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🔑 DON'T make fully land OR fully water – your design should have features of BOTH!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" y="4297680"/>
            <a:ext cx="8869680" cy="502920"/>
          </a:xfrm>
          <a:prstGeom prst="round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3434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📝 Notecard: Draw or describe your transitional form with labels for 3 features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"/>
            <a:ext cx="8869680" cy="822960"/>
          </a:xfrm>
          <a:prstGeom prst="roundRect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🎓 Exit Ticket – Evidence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008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23 Points | ~15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8595360" cy="1463040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097280"/>
            <a:ext cx="73152" cy="1463040"/>
          </a:xfrm>
          <a:prstGeom prst="roundRect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F7AEA"/>
                </a:solidFill>
                <a:latin typeface="Arial"/>
              </a:defRPr>
            </a:pPr>
            <a:r>
              <a:t>QUESTION TYPES: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Arial"/>
              </a:defRPr>
            </a:pPr>
            <a:r>
              <a:t>• 2 NEW – Week 2 evolutionary evidence content</a:t>
            </a:r>
            <a:br/>
            <a:r>
              <a:t>• 2 SPIRAL – Week 1 natural selection review</a:t>
            </a:r>
            <a:br/>
            <a:r>
              <a:t>• 1 INTEGRATION – Connect evidence to natural selection mechanism</a:t>
            </a:r>
            <a:br/>
            <a:r>
              <a:t>• 1 SEP-6 – Construct a scientific explanation using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697480"/>
            <a:ext cx="4206240" cy="109728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A169"/>
                </a:solidFill>
                <a:latin typeface="Arial"/>
              </a:defRPr>
            </a:pPr>
            <a:r>
              <a:t>✅ SUCCESS TIPS: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Arial"/>
              </a:defRPr>
            </a:pPr>
            <a:r>
              <a:t>• Use vocabulary: homologous, analogous, transitional</a:t>
            </a:r>
            <a:br/>
            <a:r>
              <a:t>• Reference specific evidence from today</a:t>
            </a:r>
            <a:br/>
            <a:r>
              <a:t>• Connect structure → ancestry → natural selection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697480"/>
            <a:ext cx="4206240" cy="109728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7432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182CE"/>
                </a:solidFill>
                <a:latin typeface="Arial"/>
              </a:defRPr>
            </a:pPr>
            <a:r>
              <a:t>📊 SEP-6 EXPLANATION FORMAT: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01752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Arial"/>
              </a:defRPr>
            </a:pPr>
            <a:r>
              <a:t>• Claim: State your answer clearly</a:t>
            </a:r>
            <a:br/>
            <a:r>
              <a:t>• Evidence: Cite specific observations</a:t>
            </a:r>
            <a:br/>
            <a:r>
              <a:t>• Reasoning: Explain WHY evidence supports claim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" y="3840480"/>
            <a:ext cx="8869680" cy="594360"/>
          </a:xfrm>
          <a:prstGeom prst="round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88620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📝 FINAL Notecard: How does the whale finger mystery connect to natural selection?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143500"/>
          </a:xfrm>
          <a:prstGeom prst="round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34E52"/>
                </a:solidFill>
                <a:latin typeface="Georgia"/>
              </a:defRPr>
            </a:pPr>
            <a:r>
              <a:t>Week 2 Summary: What You Learned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777240"/>
            <a:ext cx="85953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777240"/>
            <a:ext cx="91440" cy="731520"/>
          </a:xfrm>
          <a:prstGeom prst="roundRect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Arial"/>
              </a:defRPr>
            </a:pPr>
            <a:r>
              <a:t>Homologous Structures: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Same bones, different functions = evidence of common ancestor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600200"/>
            <a:ext cx="85953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" y="1600200"/>
            <a:ext cx="91440" cy="731520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Arial"/>
              </a:defRPr>
            </a:pPr>
            <a:r>
              <a:t>Analogous Structures: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Different structures, same function = evolved independently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423160"/>
            <a:ext cx="85953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" y="2423160"/>
            <a:ext cx="91440" cy="73152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14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Arial"/>
              </a:defRPr>
            </a:pPr>
            <a:r>
              <a:t>Transitional Fossils: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788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Show intermediate features between ancestral and descendant groups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246120"/>
            <a:ext cx="85953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4320" y="3246120"/>
            <a:ext cx="91440" cy="73152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337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Arial"/>
              </a:defRPr>
            </a:pPr>
            <a:r>
              <a:t>Key Misconception: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61187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Individuals don't evolve – POPULATIONS change over generations!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4114800"/>
            <a:ext cx="8595360" cy="731520"/>
          </a:xfrm>
          <a:prstGeom prst="roundRect">
            <a:avLst/>
          </a:prstGeom>
          <a:solidFill>
            <a:srgbClr val="23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🎉 Week 2 Complete!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Next Week: Synthesis &amp; Assessment - Bringing it all together!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