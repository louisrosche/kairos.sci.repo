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🐋 Week 2: Evidence of Evolution 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8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MS-LS4-2 &amp; MS-LS4-4 Evidence of Evolution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19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 whale flippers have finger bones?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🐋 The Phenomenon: The Whale Finger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4E52"/>
                </a:solidFill>
                <a:latin typeface="Arial"/>
              </a:defRPr>
            </a:pPr>
            <a:r>
              <a:t>Look at an X-ray of a whale's flipper. Inside that smooth flipper, there are BONES:</a:t>
            </a:r>
            <a:br/>
            <a:br/>
            <a:r>
              <a:t>• Upper arm bone (humerus)</a:t>
            </a:r>
            <a:br/>
            <a:r>
              <a:t>• Two forearm bones (radius and ulna)</a:t>
            </a:r>
            <a:br/>
            <a:r>
              <a:t>• Wrist bones (carpals)</a:t>
            </a:r>
            <a:br/>
            <a:r>
              <a:t>• FIVE FINGERS with knuckles!</a:t>
            </a:r>
            <a:br/>
            <a:br/>
            <a:r>
              <a:t>But whales don't have hands. They swim.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So why would a whale have finger bones?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whales have finger bones?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 whales have finger bones?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do whale flippers have finger bones?</a:t>
            </a:r>
            <a:br/>
            <a:r>
              <a:t>What does this tell us about whale ancestors?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926080"/>
            <a:ext cx="1828800" cy="73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natural selection from Week 1?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Use anatomical &amp; fossil evidence to explain evolution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805AD5"/>
                </a:solidFill>
                <a:latin typeface="Georgia"/>
              </a:defRPr>
            </a:pPr>
            <a:r>
              <a:t>🔗 What You Already Know (Week 1 Natural Selection)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1. Variation exists...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in every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Different traits = different genes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2. Selection pressure...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favors some traits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Environment determines fitness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3. Survivors reproduce...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passing on their 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Offspring inherit advantageous traits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4. Population changes...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over generations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Evolution = population change over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step of natural selection do you remember BEST?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What EVIDENCE do we have that evolution actually happened?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F7AEA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Distinguish between homologous and analogous structures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F7AEA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Use anatomical evidence to infer evolutionary relationships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46C1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Interpret fossil evidence including transitional forms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46C1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Predict features of transitional organisms based on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🦴 Station 1 (20 pts)  →  🦕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Homologous Structures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82296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Same bone structure, different function (evidence of common ancestor)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Analogous Structures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41732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Different structure, same function (NOT from common ancestor)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Transitional Fossil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01168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Fossil with features of both ancestral and descendant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Vestigial 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0604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Reduced or non-functional structure left over from ancestors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Common Ancestor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20040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An ancestral species from which multiple species evolved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79476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3484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KEY: Same STRUCTURE = common ancestor | Same FUNCTION only = evolved independently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Whale Finger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whale flipper bone structure (2 min)</a:t>
            </a:r>
            <a:br/>
            <a:r>
              <a:t>2. Compare to human arm bones (2 min)</a:t>
            </a:r>
            <a:br/>
            <a:r>
              <a:t>3. Identify which other animals share this pattern (3 min)</a:t>
            </a:r>
            <a:br/>
            <a:r>
              <a:t>4. Connect to natural selection from Week 1 (3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💡 Key: Same bones, different functions = evidence of common ancestor!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"Whales have finger bones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The "1-2-Many-5"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868680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8600" y="868680"/>
            <a:ext cx="73152" cy="13716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🦴 The Same Bone Pattern in ALL These Animals: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Humerus – 1 upper arm/shoulder bone</a:t>
            </a:r>
            <a:br/>
            <a:r>
              <a:t>• Radius &amp; Ulna – 2 forearm bones</a:t>
            </a:r>
            <a:br/>
            <a:r>
              <a:t>• Carpals – Multiple small wrist bones</a:t>
            </a:r>
            <a:br/>
            <a:r>
              <a:t>• Metacarpals &amp; Phalanges – Hand/finger bones (5 digits)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8016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3748"/>
                </a:solidFill>
                <a:latin typeface="Arial"/>
              </a:defRPr>
            </a:pPr>
            <a:r>
              <a:t>Human arm ✓</a:t>
            </a:r>
            <a:br/>
            <a:r>
              <a:t>Whale flipper ✓</a:t>
            </a:r>
            <a:br/>
            <a:r>
              <a:t>Bat wing ✓</a:t>
            </a:r>
            <a:br/>
            <a:r>
              <a:t>Cat leg ✓</a:t>
            </a:r>
            <a:br/>
            <a:r>
              <a:t>Dog leg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2377440"/>
            <a:ext cx="8686800" cy="64008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🔑 KEY: Same bones = HOMOLOGOUS = inherited from common ancestor!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" y="3154680"/>
            <a:ext cx="868680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D6B20"/>
                </a:solidFill>
                <a:latin typeface="Arial"/>
              </a:defRPr>
            </a:pPr>
            <a:r>
              <a:t>⚠️ But bird wings and butterfly wings are ANALOGOUS: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 function (flying) but DIFFERENT structure = evolved independently, NOT from common ancestor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Why is same STRUCTURE more important than same FUNCTION for proving ancestry?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🦴 Station 1 – Comparative Anatomy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Compare bone structures in 5 animals (5 min)</a:t>
            </a:r>
            <a:br/>
            <a:r>
              <a:t>2. Identify homologous vs analogous structures (5 min)</a:t>
            </a:r>
            <a:br/>
            <a:r>
              <a:t>3. Determine which animals share ancestors (4 min)</a:t>
            </a:r>
            <a:br/>
            <a:r>
              <a:t>4. Explain WHY same bones = common ancestry (4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What does shared bone structure tell us about animal ancestry?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9144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6B20"/>
                </a:solidFill>
                <a:latin typeface="Arial"/>
              </a:defRPr>
            </a:pPr>
            <a:r>
              <a:t>🔑 Remember:</a:t>
            </a:r>
            <a:br/>
            <a:r>
              <a:t>Homologous = same structure</a:t>
            </a:r>
            <a:br/>
            <a:r>
              <a:t>Analogous = same function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Why would a whale, bat, and human all have the SAME bones arranged the same way?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BEFORE analyzing the diagrams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🦴 Station 1 – Homologous vs Analogous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4572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68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868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8686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Indicates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716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Homologous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371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 bones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371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Different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Common ancestor 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1828800"/>
            <a:ext cx="8778240" cy="50292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Analogous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1920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Different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20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Independent evolution 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246888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5603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✓ HOMOLOGOUS Examples: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83464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Whale flipper + bat wing + human arm</a:t>
            </a:r>
            <a:br/>
            <a:r>
              <a:t>• Dog leg + cat leg + horse leg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46888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25603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✗ ANALOGOUS Examples: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83464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Bird wing + butterfly wing (both fly)</a:t>
            </a:r>
            <a:br/>
            <a:r>
              <a:t>• Shark fin + dolphin fin (both swim)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" y="3520440"/>
            <a:ext cx="8778240" cy="685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61188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182CE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404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"These structures are homologous because they have the same _____ but different _____."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" y="434340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389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Is a dolphin fin homologous or analogous to a shark fin? Explain WHY.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🦕 Station 2 – Fossil Record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whale evolution timeline (4 min)</a:t>
            </a:r>
            <a:br/>
            <a:r>
              <a:t>2. Identify transitional features in each fossil (4 min)</a:t>
            </a:r>
            <a:br/>
            <a:r>
              <a:t>3. Explain what changed from Pakicetus to modern whales (4 min)</a:t>
            </a:r>
            <a:br/>
            <a:r>
              <a:t>4. Connect to natural selection (3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How do transitional fossils show evolution from land to water?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9144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B6CB0"/>
                </a:solidFill>
                <a:latin typeface="Arial"/>
              </a:defRPr>
            </a:pPr>
            <a:r>
              <a:t>🔑 Transitional fossil = has features of BOTH ancestor and descendant groups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Why do whales still have tiny hip bones if they don't have legs?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would whales have vestigial hip bones?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🦕 Station 2 – Whale Evolution Timeline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41148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50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Fossil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503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50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Key Features (What Changed)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3444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Pakicetus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258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50 mya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325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4 legs, lived on LAND near water, wolf-like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373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Ambulocetus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828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49 mya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828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Could walk AND swim, webbed feet, "walking whale"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4028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Rodhocetus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47 mya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331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Short legs, large tail, MOSTLY aquatic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7432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834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Basilosaurus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40 mya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34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Tiny back legs, FULLY aquatic, long body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" y="324612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337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Modern whales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337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3375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Flippers, NO visible legs, vestigial hip bones inside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" y="3794760"/>
            <a:ext cx="8778240" cy="4572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86791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Notice: Legs got SMALLER over 10 million years. Each fossil is a "snapshot" of evolution!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429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Why is Ambulocetus called a "transitional fossil"? What 2 groups does it bridge?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a Transitional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DESIGN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Review ancestor and descendant features (3 min)</a:t>
            </a:r>
            <a:br/>
            <a:r>
              <a:t>2. Predict what the in-between looked like (5 min)</a:t>
            </a:r>
            <a:br/>
            <a:r>
              <a:t>3. Draw/describe your transitional form (7 min)</a:t>
            </a:r>
            <a:br/>
            <a:r>
              <a:t>4. Compare to real fossil (Tiktaalik)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YOUR 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1732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ANCESTOR (100 mya):</a:t>
            </a:r>
            <a:br/>
            <a:r>
              <a:t>Fully land mammal – 4 legs, fur, small ears</a:t>
            </a:r>
            <a:br/>
            <a:br/>
            <a:r>
              <a:t>DESCENDANT (today):</a:t>
            </a:r>
            <a:br/>
            <a:r>
              <a:t>Fully aquatic – flippers, smooth skin</a:t>
            </a:r>
            <a:br/>
            <a:br/>
            <a:r>
              <a:t>YOUR DESIGN (60 mya): ???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Each body part should be HALFWAY between ancestor and descendant!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What features would YOU design for limbs, body covering, and habitat?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Worked Example: Tiktaalik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463040"/>
          </a:xfrm>
          <a:prstGeom prst="roundRect">
            <a:avLst/>
          </a:prstGeom>
          <a:solidFill>
            <a:srgbClr val="319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34E52"/>
                </a:solidFill>
                <a:latin typeface="Arial"/>
              </a:defRPr>
            </a:pPr>
            <a:r>
              <a:t>📝 REAL TRANSITIONAL FOSSIL: Fish → Tetrapod (375 mya)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TIKTAALIK had:</a:t>
            </a:r>
            <a:br/>
            <a:r>
              <a:t>• Limbs: Fins with WRIST BONES (in-between fins and legs) – could prop itself up</a:t>
            </a:r>
            <a:br/>
            <a:r>
              <a:t>• Body: Fish scales + flat head like tetrapods</a:t>
            </a:r>
            <a:br/>
            <a:r>
              <a:t>• Habitat: Shallow water – not fully aquatic, not fully 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6749"/>
                </a:solidFill>
                <a:latin typeface="Arial"/>
              </a:defRPr>
            </a:pPr>
            <a:r>
              <a:t>🎯 HOW TO DESIGN YOUR TRANSITIONAL FORM: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743200"/>
            <a:ext cx="2743200" cy="8229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A169"/>
                </a:solidFill>
                <a:latin typeface="Arial"/>
              </a:defRPr>
            </a:pPr>
            <a:r>
              <a:t>LIMBS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Shortened legs with webbed feet?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743200"/>
            <a:ext cx="274320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182CE"/>
                </a:solidFill>
                <a:latin typeface="Arial"/>
              </a:defRPr>
            </a:pPr>
            <a:r>
              <a:t>BODY COVERING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Sparse fur? Smooth but not slick?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743200"/>
            <a:ext cx="274320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D6B20"/>
                </a:solidFill>
                <a:latin typeface="Arial"/>
              </a:defRPr>
            </a:pPr>
            <a:r>
              <a:t>HABITAT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Lives in shallow water near shore?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" y="3703320"/>
            <a:ext cx="8778240" cy="4572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77647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DON'T make fully land OR fully water – your design should have features of BOTH!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Draw or describe your transitional form with labels for 3 features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Evidence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evolutionary evidence content</a:t>
            </a:r>
            <a:br/>
            <a:r>
              <a:t>• 2 SPIRAL – Week 1 natural selection review</a:t>
            </a:r>
            <a:br/>
            <a:r>
              <a:t>• 1 INTEGRATION – Connect evidence to natural selection mechanism</a:t>
            </a:r>
            <a:br/>
            <a:r>
              <a:t>• 1 SEP-6 – Construct a scientific explanation using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vocabulary: homologous, analogous, transitional</a:t>
            </a:r>
            <a:br/>
            <a:r>
              <a:t>• Reference specific evidence from today</a:t>
            </a:r>
            <a:br/>
            <a:r>
              <a:t>• Connect structure → ancestry → natural selection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058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889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SEP-6 EXPLANATION FORMAT: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Claim: State your answer clearly</a:t>
            </a:r>
            <a:br/>
            <a:r>
              <a:t>• Evidence: Cite specific observations</a:t>
            </a:r>
            <a:br/>
            <a:r>
              <a:t>• Reasoning: Explain WHY evidence supports claim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931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How does the whale finger mystery connect to natural selection?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Homologous Structures: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Same bones, different functions = evidence of common ancestor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Analogous Structures: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Different structures, same function = evolved independently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Transitional Fossils: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Show intermediate features between ancestral and descendant groups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Key Misconception: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Individuals don't evolve – POPULATIONS change over generations!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