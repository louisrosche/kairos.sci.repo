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📋 Week 3: Synthesis &amp; Assessment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Grade 8 Science | Rosche | Kairos Academies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Cycle 3 Cumulative Assessment | 100 Points Total | ~75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5486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337A"/>
                </a:solidFill>
                <a:latin typeface="Arial"/>
              </a:defRPr>
            </a:pPr>
            <a:r>
              <a:t>⚠️ Assessment Week - Show What You Know!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54864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⚠️ Assessment Week - Important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8778240" cy="201168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914400"/>
            <a:ext cx="73152" cy="201168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337A"/>
                </a:solidFill>
                <a:latin typeface="Arial"/>
              </a:defRPr>
            </a:pPr>
            <a:r>
              <a:t>• This is your cumulative assessment for Cycle 3 Evolution unit</a:t>
            </a:r>
            <a:br/>
            <a:r>
              <a:t>• You may NOT go back once you submit each part</a:t>
            </a:r>
            <a:br/>
            <a:r>
              <a:t>• Complete all 3 parts in order: Synthesis → Assessment → Misconception Check</a:t>
            </a:r>
            <a:br/>
            <a:r>
              <a:t>• Take breaks between parts - your brain works better with rest!</a:t>
            </a:r>
            <a:br/>
            <a:r>
              <a:t>• Ask Mr. Rosche if you need clarification on any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3108960"/>
            <a:ext cx="2743200" cy="914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🔗 Part 1: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20 pts | ~15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108960"/>
            <a:ext cx="2743200" cy="91440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Part 2: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60 pts | ~40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2743200" cy="9144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🎯 Part 3: Misconceptions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20 pts | ~20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4206240"/>
            <a:ext cx="8778240" cy="54864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7939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💡 Take 5-minute breaks between parts for best performance!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📚 What You Need to Know (Review Guide)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4297680" cy="13716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731520"/>
            <a:ext cx="73152" cy="137160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05AD5"/>
                </a:solidFill>
                <a:latin typeface="Arial"/>
              </a:defRPr>
            </a:pPr>
            <a:r>
              <a:t>Week 1: Natural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Variation → Selection → Survival → Reproduction</a:t>
            </a:r>
            <a:br/>
            <a:r>
              <a:t>• POPULATIONS evolve, not individuals</a:t>
            </a:r>
            <a:br/>
            <a:r>
              <a:t>• Variation must exist BEFORE selection</a:t>
            </a:r>
            <a:br/>
            <a:r>
              <a:t>• Individuals cannot change genes through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731520"/>
            <a:ext cx="4297680" cy="13716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731520"/>
            <a:ext cx="73152" cy="13716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22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0"/>
                </a:solidFill>
                <a:latin typeface="Arial"/>
              </a:defRPr>
            </a:pPr>
            <a:r>
              <a:t>Week 2: Evidence of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4300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Homologous = same bones, different function</a:t>
            </a:r>
            <a:br/>
            <a:r>
              <a:t>• Analogous = different bones, same function</a:t>
            </a:r>
            <a:br/>
            <a:r>
              <a:t>• Transitional fossils = intermediate features</a:t>
            </a:r>
            <a:br/>
            <a:r>
              <a:t>• Vestigial structures = reduced from ancestors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2240280"/>
            <a:ext cx="8778240" cy="10058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" y="2240280"/>
            <a:ext cx="73152" cy="10058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6749"/>
                </a:solidFill>
                <a:latin typeface="Arial"/>
              </a:defRPr>
            </a:pPr>
            <a:r>
              <a:t>Cycle 2 Spiral Review (Forces):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51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• Newton's 3rd Law: Equal and opposite forces (size doesn't matter!)  •  F=ma: Same force + less mass = more acceleration  •  Physics determines what traits help survival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383280"/>
            <a:ext cx="8778240" cy="91440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747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🔑 KEY CONNECTION: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49039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Natural selection (W1 mechanism) PRODUCES the evidence (W2): homologous structures, transitional fossils, vestigial parts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4434840"/>
            <a:ext cx="8778240" cy="50292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Use your notecard from W1 &amp; W2 during the assessment!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⚠️ Common Mistakes to Avoid (Lamarckian Thinking)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4297680" cy="91440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Arial"/>
              </a:defRPr>
            </a:pPr>
            <a:r>
              <a:t>❌ LAMARCKIAN: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"Giraffes stretched necks to reach leaves, so babies had longer necks"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31520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2296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6749"/>
                </a:solidFill>
                <a:latin typeface="Arial"/>
              </a:defRPr>
            </a:pPr>
            <a:r>
              <a:t>✅ DARWINIAN: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05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Variation in neck length already existed; longer-necked giraffes survived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737360"/>
            <a:ext cx="4297680" cy="91440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Arial"/>
              </a:defRPr>
            </a:pPr>
            <a:r>
              <a:t>❌ LAMARCKIAN: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"Whales evolved flippers BECAUSE they moved to the ocean"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2880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6749"/>
                </a:solidFill>
                <a:latin typeface="Arial"/>
              </a:defRPr>
            </a:pPr>
            <a:r>
              <a:t>✅ DARWINIAN: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Some individuals had limb variations better suited for swimming; they survived better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743200"/>
            <a:ext cx="4297680" cy="91440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Arial"/>
              </a:defRPr>
            </a:pPr>
            <a:r>
              <a:t>❌ LAMARCKIAN: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17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"The elephant pushes harder because it's bigger"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743200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83464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6749"/>
                </a:solidFill>
                <a:latin typeface="Arial"/>
              </a:defRPr>
            </a:pPr>
            <a:r>
              <a:t>✅ DARWINIAN: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017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Newton's 3rd Law: Forces are EQUAL and opposite regardless of size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3794760"/>
            <a:ext cx="8778240" cy="64008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💡 REMEMBER: Organisms can NOT change their genes by trying! Variation exists FIRST,</a:t>
            </a:r>
            <a:br/>
            <a:r>
              <a:t>then selection happens. POPULATIONS change over generations, not individuals.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🐋 Whale Evolution Timeline (Reference)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8778240" cy="3657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804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MYA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0467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143000"/>
            <a:ext cx="8778240" cy="4572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Pakicetus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234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4 legs, land animal, whale-like inner 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600200"/>
            <a:ext cx="8778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Ambulocetus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4 legs, webbed feet, swam + walked ("walking whale")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057400"/>
            <a:ext cx="8778240" cy="4572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Rodhocetus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48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Smaller legs, larger tail, more aquatic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2514600"/>
            <a:ext cx="8778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Basilosaurus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Tiny vestigial legs, fully aquatic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2971800"/>
            <a:ext cx="8778240" cy="4572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748"/>
                </a:solidFill>
                <a:latin typeface="Arial"/>
              </a:defRPr>
            </a:pPr>
            <a:r>
              <a:t>Modern Whales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063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Flippers with finger bones, vestigial hip bones inside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3520440"/>
            <a:ext cx="8778240" cy="7315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6118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🔑 This is TRANSITIONAL FOSSIL evidence: Each stage shows intermediate features!</a:t>
            </a:r>
            <a:br/>
            <a:r>
              <a:t>Ambulocetus = "walking whale" - has features of BOTH land mammals and whales.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5AD5"/>
                </a:solidFill>
                <a:latin typeface="Arial"/>
              </a:defRPr>
            </a:pPr>
            <a:r>
              <a:t>💡 Vestigial hip bones in modern whales = evidence of land-dwelling ancestors!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🔗 Part 1: Synthesis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 | Connects Week 1 +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Arial"/>
              </a:defRPr>
            </a:pPr>
            <a:r>
              <a:t>WHAT YOU'LL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1. Explain how natural selection (W1)</a:t>
            </a:r>
            <a:br/>
            <a:r>
              <a:t>   produces the evidence (W2)</a:t>
            </a:r>
            <a:br/>
            <a:r>
              <a:t>2. Identify best evidence for whale evolution</a:t>
            </a:r>
            <a:br/>
            <a:r>
              <a:t>3. Apply natural selection to Tiktaalik</a:t>
            </a:r>
            <a:br/>
            <a:r>
              <a:t>4. Connect forces (C2) to survival advantages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219456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KEY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MECHANISM (Week 1):</a:t>
            </a:r>
            <a:br/>
            <a:r>
              <a:t>Natural Selection</a:t>
            </a:r>
            <a:br/>
            <a:r>
              <a:t>↓</a:t>
            </a:r>
            <a:br/>
            <a:r>
              <a:t>PRODUCES</a:t>
            </a:r>
            <a:br/>
            <a:r>
              <a:t>↓</a:t>
            </a:r>
            <a:br/>
            <a:r>
              <a:t>EVIDENCE (Week 2):</a:t>
            </a:r>
            <a:br/>
            <a:r>
              <a:t>Homologous structures</a:t>
            </a:r>
            <a:br/>
            <a:r>
              <a:t>Transitional fossils</a:t>
            </a:r>
            <a:br/>
            <a:r>
              <a:t>Vestigial structures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3383280"/>
            <a:ext cx="8869680" cy="4572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564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4E52"/>
                </a:solidFill>
                <a:latin typeface="Arial"/>
              </a:defRPr>
            </a:pPr>
            <a:r>
              <a:t>💡 This is about CONNECTING concepts - explain HOW the mechanism creates the evidence!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3977639"/>
            <a:ext cx="886968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023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Complete Part 1 Form, then take a 5-minute break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🔗 Part 1 – How Mechanism Creates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8778240" cy="210312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Arial"/>
              </a:defRPr>
            </a:pPr>
            <a:r>
              <a:t>🔄 Whale Evolution 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748"/>
                </a:solidFill>
                <a:latin typeface="Arial"/>
              </a:defRPr>
            </a:pPr>
            <a:r>
              <a:t>1. VARIATION: Some early whale ancestors had limbs slightly better suited for swimming</a:t>
            </a:r>
            <a:br/>
            <a:r>
              <a:t>                    ↓</a:t>
            </a:r>
            <a:br/>
            <a:r>
              <a:t>2. SELECTION: Aquatic environment favored individuals who could swim better</a:t>
            </a:r>
            <a:br/>
            <a:r>
              <a:t>                    ↓</a:t>
            </a:r>
            <a:br/>
            <a:r>
              <a:t>3. SURVIVAL: Better swimmers caught more food, escaped predators</a:t>
            </a:r>
            <a:br/>
            <a:r>
              <a:t>                    ↓</a:t>
            </a:r>
            <a:br/>
            <a:r>
              <a:t>4. REPRODUCTION: Better swimmers had more offspring, passed on genes</a:t>
            </a:r>
            <a:br/>
            <a:r>
              <a:t>                    ↓</a:t>
            </a:r>
            <a:br/>
            <a:r>
              <a:t>5. POPULATION CHANGE: Over millions of years, legs → flippers</a:t>
            </a:r>
            <a:br/>
            <a:r>
              <a:t>                    ↓</a:t>
            </a:r>
            <a:br/>
            <a:r>
              <a:t>6. EVIDENCE: We see transitional fossils + vestigial hip bones + homologous limb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3017520"/>
            <a:ext cx="877824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09067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🔑 The MECHANISM (natural selection) over TIME creates the EVIDENCE (fossils, structures)!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3657600"/>
            <a:ext cx="8869680" cy="50292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703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⏸️ After Part 1: Take a 5-minute break before Part 2!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📝 Part 2: Cumulative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60 Points | ~40 min | All Learning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51560"/>
            <a:ext cx="2103120" cy="13716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051560"/>
            <a:ext cx="2103120" cy="4572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05AD5"/>
                </a:solidFill>
                <a:latin typeface="Arial"/>
              </a:defRPr>
            </a:pPr>
            <a:r>
              <a:t>Section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Natural Selection (15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Apply the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051560"/>
            <a:ext cx="2103120" cy="13716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051560"/>
            <a:ext cx="2103120" cy="457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6CB0"/>
                </a:solidFill>
                <a:latin typeface="Arial"/>
              </a:defRPr>
            </a:pPr>
            <a:r>
              <a:t>Section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Evidence (15 pts)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Homologous, analogous, transitional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051560"/>
            <a:ext cx="2103120" cy="13716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051560"/>
            <a:ext cx="2103120" cy="457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6749"/>
                </a:solidFill>
                <a:latin typeface="Arial"/>
              </a:defRPr>
            </a:pPr>
            <a:r>
              <a:t>Section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Connecting (15 pts)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Mechanism to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051560"/>
            <a:ext cx="2103120" cy="13716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0" y="1051560"/>
            <a:ext cx="2103120" cy="4572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69E2E"/>
                </a:solidFill>
                <a:latin typeface="Arial"/>
              </a:defRPr>
            </a:pPr>
            <a:r>
              <a:t>Section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SEP-6 (15 pts)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Construct explanations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" y="2560320"/>
            <a:ext cx="8778240" cy="73152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" y="2560320"/>
            <a:ext cx="73152" cy="73152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53030"/>
                </a:solidFill>
                <a:latin typeface="Arial"/>
              </a:defRPr>
            </a:pPr>
            <a:r>
              <a:t>⚠️ WARNING: You cannot go back once you submit. Read each question carefully!</a:t>
            </a:r>
            <a:br/>
            <a:r>
              <a:t>Watch out for LAMARCKIAN trap answers!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" y="3429000"/>
            <a:ext cx="8869680" cy="502920"/>
          </a:xfrm>
          <a:prstGeom prst="round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474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Complete Part 2 Form - Take your time!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44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📝 Part 2 –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4297680" cy="18288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CB0"/>
                </a:solidFill>
                <a:latin typeface="Arial"/>
              </a:defRPr>
            </a:pPr>
            <a:r>
              <a:t>🦴 EVIDENCE TYPES: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HOMOLOGOUS = Same structure, different function</a:t>
            </a:r>
            <a:br/>
            <a:r>
              <a:t>→ Whale flipper + bat wing + human arm</a:t>
            </a:r>
            <a:br/>
            <a:r>
              <a:t>→ Evidence of COMMON ANCESTOR</a:t>
            </a:r>
            <a:br/>
            <a:br/>
            <a:r>
              <a:t>ANALOGOUS = Different structure, same function</a:t>
            </a:r>
            <a:br/>
            <a:r>
              <a:t>→ Bird wing + butterfly wing (both fly)</a:t>
            </a:r>
            <a:br/>
            <a:r>
              <a:t>→ Evidence of INDEPENDENT evolution</a:t>
            </a:r>
            <a:br/>
            <a:br/>
            <a:r>
              <a:t>TRANSITIONAL = Intermediate features</a:t>
            </a:r>
            <a:br/>
            <a:r>
              <a:t>→ Tiktaalik, Ambulocetus, Archaeopteryx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77240"/>
            <a:ext cx="4297680" cy="18288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6749"/>
                </a:solidFill>
                <a:latin typeface="Arial"/>
              </a:defRPr>
            </a:pPr>
            <a:r>
              <a:t>📊 SEP-6 EXPLANATION FORMAT: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CLAIM: State your answer clearly</a:t>
            </a:r>
            <a:br/>
            <a:r>
              <a:t>"Whales and bats share a common ancestor"</a:t>
            </a:r>
            <a:br/>
            <a:br/>
            <a:r>
              <a:t>EVIDENCE: Cite specific observations</a:t>
            </a:r>
            <a:br/>
            <a:r>
              <a:t>"Both have humerus, radius, ulna, carpals, 5 digits"</a:t>
            </a:r>
            <a:br/>
            <a:br/>
            <a:r>
              <a:t>REASONING: Explain WHY evidence supports claim</a:t>
            </a:r>
            <a:br/>
            <a:r>
              <a:t>"Same bone pattern despite different functions</a:t>
            </a:r>
            <a:br/>
            <a:r>
              <a:t>indicates shared ancestry, not independent evolution"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743200"/>
            <a:ext cx="8778240" cy="5486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163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🔢 Forces: F=ma → Same force, less mass = MORE acceleration (helps small predators catch prey!)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3429000"/>
            <a:ext cx="8869680" cy="50292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74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⏸️ After Part 2: Take a 5-minute break before Part 3!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🎯 Part 3: Misconception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~20 min | Final Chance!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6749"/>
                </a:solidFill>
                <a:latin typeface="Arial"/>
              </a:defRPr>
            </a:pPr>
            <a:r>
              <a:t>WHAT THIS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6459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645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Lamarckian Misconception: "Use it or</a:t>
            </a:r>
            <a:br/>
            <a:r>
              <a:t>  lose it" / "Organisms change BECAUSE</a:t>
            </a:r>
            <a:br/>
            <a:r>
              <a:t>  they need to"</a:t>
            </a:r>
            <a:br/>
            <a:br/>
            <a:r>
              <a:t>• Newton's 3rd Law: Equal and opposite</a:t>
            </a:r>
            <a:br/>
            <a:r>
              <a:t>  forces (bigger ≠ more force!)</a:t>
            </a:r>
            <a:br/>
            <a:br/>
            <a:r>
              <a:t>• F=ma Application: Same force + less</a:t>
            </a:r>
            <a:br/>
            <a:r>
              <a:t>  mass = more acceleration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20116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⚠️ #1 TRAP: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"Organisms evolved traits BECAUSE they needed them"</a:t>
            </a:r>
            <a:br/>
            <a:br/>
            <a:r>
              <a:t>❌ WRONG! (Lamarckian)</a:t>
            </a:r>
            <a:br/>
            <a:br/>
            <a:r>
              <a:t>✅ Variation existed FIRST</a:t>
            </a:r>
            <a:br/>
            <a:r>
              <a:t>✅ Selection happened AFTER</a:t>
            </a:r>
            <a:br/>
            <a:r>
              <a:t>✅ Populations change, not individuals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3200400"/>
            <a:ext cx="886968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46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Complete Part 3 Form - Last section! You've got this!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🎯 Part 3 – Misconception Traps to Avoid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4297680" cy="146304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Arial"/>
              </a:defRPr>
            </a:pPr>
            <a:r>
              <a:t>❌ TRAP ANSWERS: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"Giraffes stretched their necks..."</a:t>
            </a:r>
            <a:br/>
            <a:r>
              <a:t>• "Whales evolved flippers because..."</a:t>
            </a:r>
            <a:br/>
            <a:r>
              <a:t>• "The bigger animal pushes harder"</a:t>
            </a:r>
            <a:br/>
            <a:r>
              <a:t>• "Individuals evolved over their lifetime"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77240"/>
            <a:ext cx="4297680" cy="14630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6749"/>
                </a:solidFill>
                <a:latin typeface="Arial"/>
              </a:defRPr>
            </a:pPr>
            <a:r>
              <a:t>✅ CORRECT ANSWERS: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"Variation already existed in the population"</a:t>
            </a:r>
            <a:br/>
            <a:r>
              <a:t>• "Selection favored certain pre-existing traits"</a:t>
            </a:r>
            <a:br/>
            <a:r>
              <a:t>• "Forces are equal regardless of size (N3L)"</a:t>
            </a:r>
            <a:br/>
            <a:r>
              <a:t>• "Populations change over generations"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377440"/>
            <a:ext cx="8778240" cy="64008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💡 TIP: If the answer suggests organisms TRIED to evolve or NEEDED to change, it's WRONG!</a:t>
            </a:r>
            <a:br/>
            <a:r>
              <a:t>Evolution is NOT goal-directed. Variation comes FIRST, then selection happens.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🎉 Cycle 3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Congratulations on finishing the Evolution unit!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Arial"/>
              </a:defRPr>
            </a:pPr>
            <a:r>
              <a:t>Key Takeaways: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• Natural selection requires variation + differential survival</a:t>
            </a:r>
            <a:br/>
            <a:r>
              <a:t>• POPULATIONS evolve, not individuals</a:t>
            </a:r>
            <a:br/>
            <a:r>
              <a:t>• Homologous structures prove common ancestry</a:t>
            </a:r>
            <a:br/>
            <a:r>
              <a:t>• Transitional fossils show evolution in progress</a:t>
            </a:r>
            <a:br/>
            <a:r>
              <a:t>• Physics (F=ma, N3L) determines survival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Great work this cycle! 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