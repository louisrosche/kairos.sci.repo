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Remind students: This is a FORMAL assessment. Different from weekly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this as helpful review, not stressful cramming.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rotate every 5 minutes. They should WRITE key concepts on sticky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Have students trace the mechanism step by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students: Is dolphin/shark shape homologous or analogous?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Transitional fossils = evolution caught in action!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Connect to survival: Faster acceleration = escape predators = survive to reproduce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around and check understanding. Note common struggles.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Write student questions on board. Address each one explicitly.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these aloud. Make eye contact. This sets expectations.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students finish Part 1, have them wait quietly for Part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Monitor conversations - redirect any content discussion.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Announce when 10 minutes remain. 5-minute warning at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Have books/magazines ready for early finishers.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Remind: Same rules apply. No talking, no sharing.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Don't give away answers - just remind them these traps exist.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this brief. Let students process.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encouraging. Focus on growth, not comparison.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Group students by their most-missed concept, not overall score.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the muscle demonstration: Squeeze fist - does your baby get stronger muscles?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builds growth mindset. Learning &gt; grades.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Recognize effort, not just achievement.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Quick write - collect for future planning.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energy high. End on positive note.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Build excitement by connecting to evolution.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6B46C1"/>
                </a:solidFill>
              </a:defRPr>
            </a:pPr>
            <a:r>
              <a:t>🧬 Week 3: Synthesis &amp;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234E52"/>
                </a:solidFill>
              </a:defRPr>
            </a:pPr>
            <a:r>
              <a:t>Grade 8 Science | Cycle 3 | Evolution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76749"/>
                </a:solidFill>
              </a:defRPr>
            </a:pPr>
            <a:r>
              <a:t>📅 This Week's Schedule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Monday: Review Day - Gallery Walk &amp; Practice</a:t>
            </a:r>
          </a:p>
          <a:p>
            <a:pPr>
              <a:spcAft>
                <a:spcPts val="1200"/>
              </a:spcAft>
              <a:defRPr sz="2000"/>
            </a:pPr>
            <a:r>
              <a:t>• Tuesday: Assessment Day 1 - Parts 1 &amp; 2 (80 pts)</a:t>
            </a:r>
          </a:p>
          <a:p>
            <a:pPr>
              <a:spcAft>
                <a:spcPts val="1200"/>
              </a:spcAft>
              <a:defRPr sz="2000"/>
            </a:pPr>
            <a:r>
              <a:t>• Wednesday: Assessment Day 2 - Part 3 (20 pts)</a:t>
            </a:r>
          </a:p>
          <a:p>
            <a:pPr>
              <a:spcAft>
                <a:spcPts val="1200"/>
              </a:spcAft>
              <a:defRPr sz="2000"/>
            </a:pPr>
            <a:r>
              <a:t>• Thursday: Remediation &amp; Second Chances</a:t>
            </a:r>
          </a:p>
          <a:p>
            <a:pPr>
              <a:spcAft>
                <a:spcPts val="1200"/>
              </a:spcAft>
              <a:defRPr sz="2000"/>
            </a:pPr>
            <a:r>
              <a:t>• Friday: Celebration &amp; Cycle 4 Preview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276749"/>
                </a:solidFill>
              </a:defRPr>
            </a:pPr>
            <a:r>
              <a:t>📚 MONDAY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718096"/>
                </a:solidFill>
              </a:defRPr>
            </a:pPr>
            <a:r>
              <a:t>Review Day - Gallery Walk &amp; Practice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76749"/>
                </a:solidFill>
              </a:defRPr>
            </a:pPr>
            <a:r>
              <a:t>🎯 Today's Goals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Review ALL learning targets from Weeks 1 &amp; 2</a:t>
            </a:r>
          </a:p>
          <a:p>
            <a:pPr>
              <a:spcAft>
                <a:spcPts val="1200"/>
              </a:spcAft>
              <a:defRPr sz="2000"/>
            </a:pPr>
            <a:r>
              <a:t>• Practice with assessment-style questions</a:t>
            </a:r>
          </a:p>
          <a:p>
            <a:pPr>
              <a:spcAft>
                <a:spcPts val="1200"/>
              </a:spcAft>
              <a:defRPr sz="2000"/>
            </a:pPr>
            <a:r>
              <a:t>• Ask clarifying questions (last chance before assessment!)</a:t>
            </a:r>
          </a:p>
          <a:p>
            <a:pPr>
              <a:spcAft>
                <a:spcPts val="1200"/>
              </a:spcAft>
              <a:defRPr sz="2000"/>
            </a:pPr>
            <a:r>
              <a:t>• Build confidence for tomorrow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76749"/>
                </a:solidFill>
              </a:defRPr>
            </a:pPr>
            <a:r>
              <a:t>🖼️ Gallery Walk Stations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Station 1: Natural Selection Mechanism</a:t>
            </a:r>
          </a:p>
          <a:p>
            <a:pPr>
              <a:spcAft>
                <a:spcPts val="1200"/>
              </a:spcAft>
              <a:defRPr sz="2000"/>
            </a:pPr>
            <a:r>
              <a:t>• Station 2: Evidence Types (Homologous vs Analogous vs Transitional)</a:t>
            </a:r>
          </a:p>
          <a:p>
            <a:pPr>
              <a:spcAft>
                <a:spcPts val="1200"/>
              </a:spcAft>
              <a:defRPr sz="2000"/>
            </a:pPr>
            <a:r>
              <a:t>• Station 3: Whale Evolution Timeline</a:t>
            </a:r>
          </a:p>
          <a:p>
            <a:pPr>
              <a:spcAft>
                <a:spcPts val="1200"/>
              </a:spcAft>
              <a:defRPr sz="2000"/>
            </a:pPr>
            <a:r>
              <a:t>• Station 4: Forces + Evolution Connection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76749"/>
                </a:solidFill>
              </a:defRPr>
            </a:pPr>
            <a:r>
              <a:t>Station 1: Natural Selection 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KEY: Variation → Selection → Survival → Reproduction → Change</a:t>
            </a:r>
          </a:p>
          <a:p>
            <a:pPr>
              <a:spcAft>
                <a:spcPts val="1200"/>
              </a:spcAft>
              <a:defRPr sz="2000"/>
            </a:pPr>
            <a:r>
              <a:t>• Populations evolve, NOT individuals</a:t>
            </a:r>
          </a:p>
          <a:p>
            <a:pPr>
              <a:spcAft>
                <a:spcPts val="1200"/>
              </a:spcAft>
              <a:defRPr sz="2000"/>
            </a:pPr>
            <a:r>
              <a:t>• Variation must ALREADY EXIST</a:t>
            </a:r>
          </a:p>
          <a:p>
            <a:pPr>
              <a:spcAft>
                <a:spcPts val="1200"/>
              </a:spcAft>
              <a:defRPr sz="2000"/>
            </a:pPr>
            <a:r>
              <a:t>• ⚠️ LAMARCKIAN TRAP: 'Giraffes stretched their necks' = WRONG!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76749"/>
                </a:solidFill>
              </a:defRPr>
            </a:pPr>
            <a:r>
              <a:t>Station 2: Evidence Types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HOMOLOGOUS: Same structure, different function → Common ancestor</a:t>
            </a:r>
          </a:p>
          <a:p>
            <a:pPr>
              <a:spcAft>
                <a:spcPts val="1200"/>
              </a:spcAft>
              <a:defRPr sz="2000"/>
            </a:pPr>
            <a:r>
              <a:t>•   Example: Whale flipper + human arm + bat wing (same bones!)</a:t>
            </a:r>
          </a:p>
          <a:p>
            <a:pPr>
              <a:spcAft>
                <a:spcPts val="1200"/>
              </a:spcAft>
              <a:defRPr sz="2000"/>
            </a:pPr>
            <a:r>
              <a:t>• ANALOGOUS: Different structure, same function → NOT related</a:t>
            </a:r>
          </a:p>
          <a:p>
            <a:pPr>
              <a:spcAft>
                <a:spcPts val="1200"/>
              </a:spcAft>
              <a:defRPr sz="2000"/>
            </a:pPr>
            <a:r>
              <a:t>•   Example: Bird wing + butterfly wing (both fly, different structures)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76749"/>
                </a:solidFill>
              </a:defRPr>
            </a:pPr>
            <a:r>
              <a:t>Station 3: Whale Evolution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Pakicetus (50 mya): 4 legs, land mammal near water</a:t>
            </a:r>
          </a:p>
          <a:p>
            <a:pPr>
              <a:spcAft>
                <a:spcPts val="1200"/>
              </a:spcAft>
              <a:defRPr sz="2000"/>
            </a:pPr>
            <a:r>
              <a:t>• Ambulocetus (49 mya): Could walk AND swim</a:t>
            </a:r>
          </a:p>
          <a:p>
            <a:pPr>
              <a:spcAft>
                <a:spcPts val="1200"/>
              </a:spcAft>
              <a:defRPr sz="2000"/>
            </a:pPr>
            <a:r>
              <a:t>• Rodhocetus (47 mya): Short legs, large tail</a:t>
            </a:r>
          </a:p>
          <a:p>
            <a:pPr>
              <a:spcAft>
                <a:spcPts val="1200"/>
              </a:spcAft>
              <a:defRPr sz="2000"/>
            </a:pPr>
            <a:r>
              <a:t>• Basilosaurus (40 mya): Tiny legs, fully aquatic</a:t>
            </a:r>
          </a:p>
          <a:p>
            <a:pPr>
              <a:spcAft>
                <a:spcPts val="1200"/>
              </a:spcAft>
              <a:defRPr sz="2000"/>
            </a:pPr>
            <a:r>
              <a:t>• Modern whales: Flippers, vestigial hip bones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76749"/>
                </a:solidFill>
              </a:defRPr>
            </a:pPr>
            <a:r>
              <a:t>Station 4: Forces + Evolution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Newton's 3rd Law: Equal and opposite forces</a:t>
            </a:r>
          </a:p>
          <a:p>
            <a:pPr>
              <a:spcAft>
                <a:spcPts val="1200"/>
              </a:spcAft>
              <a:defRPr sz="2000"/>
            </a:pPr>
            <a:r>
              <a:t>• F = ma: Same force, smaller mass → larger acceleration</a:t>
            </a:r>
          </a:p>
          <a:p>
            <a:pPr>
              <a:spcAft>
                <a:spcPts val="1200"/>
              </a:spcAft>
              <a:defRPr sz="2000"/>
            </a:pPr>
            <a:r>
              <a:t>• Cheetah vs Gazelle: Who wins?</a:t>
            </a:r>
          </a:p>
          <a:p>
            <a:pPr>
              <a:spcAft>
                <a:spcPts val="1200"/>
              </a:spcAft>
              <a:defRPr sz="2000"/>
            </a:pPr>
            <a:r>
              <a:t>• ⚠️ MISCONCEPTION: 'Bigger animal = more force' = WRONG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76749"/>
                </a:solidFill>
              </a:defRPr>
            </a:pPr>
            <a:r>
              <a:t>📝 Practice Problems (20 min)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Complete the practice worksheet</a:t>
            </a:r>
          </a:p>
          <a:p>
            <a:pPr>
              <a:spcAft>
                <a:spcPts val="1200"/>
              </a:spcAft>
              <a:defRPr sz="2000"/>
            </a:pPr>
            <a:r>
              <a:t>• These questions are SIMILAR to tomorrow's assessment</a:t>
            </a:r>
          </a:p>
          <a:p>
            <a:pPr>
              <a:spcAft>
                <a:spcPts val="1200"/>
              </a:spcAft>
              <a:defRPr sz="2000"/>
            </a:pPr>
            <a:r>
              <a:t>• Work individually first, then check with partner</a:t>
            </a:r>
          </a:p>
          <a:p>
            <a:pPr>
              <a:spcAft>
                <a:spcPts val="1200"/>
              </a:spcAft>
              <a:defRPr sz="2000"/>
            </a:pPr>
            <a:r>
              <a:t>• Raise hand if stuck - I CAN help today!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76749"/>
                </a:solidFill>
              </a:defRPr>
            </a:pPr>
            <a:r>
              <a:t>❓ Q&amp;A Session (15 min)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What questions do you have about CONTENT?</a:t>
            </a:r>
          </a:p>
          <a:p>
            <a:pPr>
              <a:spcAft>
                <a:spcPts val="1200"/>
              </a:spcAft>
              <a:defRPr sz="2000"/>
            </a:pPr>
            <a:r>
              <a:t>• What questions do you have about the ASSESSMENT FORMAT?</a:t>
            </a:r>
          </a:p>
          <a:p>
            <a:pPr>
              <a:spcAft>
                <a:spcPts val="1200"/>
              </a:spcAft>
              <a:defRPr sz="2000"/>
            </a:pPr>
            <a:r>
              <a:t>• What concepts feel shaky?</a:t>
            </a:r>
          </a:p>
          <a:p>
            <a:pPr>
              <a:spcAft>
                <a:spcPts val="1200"/>
              </a:spcAft>
              <a:defRPr sz="2000"/>
            </a:pPr>
            <a:r>
              <a:t>• Tomorrow I cannot help with answers - ask now!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2B6CB0"/>
                </a:solidFill>
              </a:defRPr>
            </a:pPr>
            <a:r>
              <a:t>📋 TUESDAY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718096"/>
                </a:solidFill>
              </a:defRPr>
            </a:pPr>
            <a:r>
              <a:t>Assessment Day 1 - Parts 1 &amp; 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53030"/>
                </a:solidFill>
              </a:defRPr>
            </a:pPr>
            <a:r>
              <a:t>⚠️ Assessment Rules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This is a FORMAL assessment</a:t>
            </a:r>
          </a:p>
          <a:p>
            <a:pPr>
              <a:spcAft>
                <a:spcPts val="1200"/>
              </a:spcAft>
              <a:defRPr sz="2000"/>
            </a:pPr>
            <a:r>
              <a:t>• No talking to classmates</a:t>
            </a:r>
          </a:p>
          <a:p>
            <a:pPr>
              <a:spcAft>
                <a:spcPts val="1200"/>
              </a:spcAft>
              <a:defRPr sz="2000"/>
            </a:pPr>
            <a:r>
              <a:t>• No looking at other screens</a:t>
            </a:r>
          </a:p>
          <a:p>
            <a:pPr>
              <a:spcAft>
                <a:spcPts val="1200"/>
              </a:spcAft>
              <a:defRPr sz="2000"/>
            </a:pPr>
            <a:r>
              <a:t>• If question is CONFUSING, raise hand - I'll clarify the question</a:t>
            </a:r>
          </a:p>
          <a:p>
            <a:pPr>
              <a:spcAft>
                <a:spcPts val="1200"/>
              </a:spcAft>
              <a:defRPr sz="2000"/>
            </a:pPr>
            <a:r>
              <a:t>• I CANNOT help with answers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76749"/>
                </a:solidFill>
              </a:defRPr>
            </a:pPr>
            <a:r>
              <a:t>📱 Part 1: Synthesis (15 min, 20 pts)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4 questions connecting Week 1 + Week 2 concepts</a:t>
            </a:r>
          </a:p>
          <a:p>
            <a:pPr>
              <a:spcAft>
                <a:spcPts val="1200"/>
              </a:spcAft>
              <a:defRPr sz="2000"/>
            </a:pPr>
            <a:r>
              <a:t>• You must EXPLAIN using natural selection mechanism</a:t>
            </a:r>
          </a:p>
          <a:p>
            <a:pPr>
              <a:spcAft>
                <a:spcPts val="1200"/>
              </a:spcAft>
              <a:defRPr sz="2000"/>
            </a:pPr>
            <a:r>
              <a:t>• Use complete sentences with evidence</a:t>
            </a:r>
          </a:p>
          <a:p>
            <a:pPr>
              <a:spcAft>
                <a:spcPts val="1200"/>
              </a:spcAft>
              <a:defRPr sz="2000"/>
            </a:pPr>
            <a:r>
              <a:t>• Take your time - quality over speed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76749"/>
                </a:solidFill>
              </a:defRPr>
            </a:pPr>
            <a:r>
              <a:t>⏰ 5-Minute Break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Stand up and stretch</a:t>
            </a:r>
          </a:p>
          <a:p>
            <a:pPr>
              <a:spcAft>
                <a:spcPts val="1200"/>
              </a:spcAft>
              <a:defRPr sz="2000"/>
            </a:pPr>
            <a:r>
              <a:t>• Get water if needed</a:t>
            </a:r>
          </a:p>
          <a:p>
            <a:pPr>
              <a:spcAft>
                <a:spcPts val="1200"/>
              </a:spcAft>
              <a:defRPr sz="2000"/>
            </a:pPr>
            <a:r>
              <a:t>• NO talking about assessment content</a:t>
            </a:r>
          </a:p>
          <a:p>
            <a:pPr>
              <a:spcAft>
                <a:spcPts val="1200"/>
              </a:spcAft>
              <a:defRPr sz="2000"/>
            </a:pPr>
            <a:r>
              <a:t>• Return to seat in 5 minutes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76749"/>
                </a:solidFill>
              </a:defRPr>
            </a:pPr>
            <a:r>
              <a:t>📋 Part 2: Cumulative Assessment (40 min, 60 pts)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Section A: Natural Selection (15 pts)</a:t>
            </a:r>
          </a:p>
          <a:p>
            <a:pPr>
              <a:spcAft>
                <a:spcPts val="1200"/>
              </a:spcAft>
              <a:defRPr sz="2000"/>
            </a:pPr>
            <a:r>
              <a:t>• Section B: Evolutionary Evidence (15 pts)</a:t>
            </a:r>
          </a:p>
          <a:p>
            <a:pPr>
              <a:spcAft>
                <a:spcPts val="1200"/>
              </a:spcAft>
              <a:defRPr sz="2000"/>
            </a:pPr>
            <a:r>
              <a:t>• Section C: Synthesis (15 pts)</a:t>
            </a:r>
          </a:p>
          <a:p>
            <a:pPr>
              <a:spcAft>
                <a:spcPts val="1200"/>
              </a:spcAft>
              <a:defRPr sz="2000"/>
            </a:pPr>
            <a:r>
              <a:t>• Section D: Constructing Explanations - SEP-6 (15 pts)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76749"/>
                </a:solidFill>
              </a:defRPr>
            </a:pPr>
            <a:r>
              <a:t>✅ When You Finish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Review your answers before submitting</a:t>
            </a:r>
          </a:p>
          <a:p>
            <a:pPr>
              <a:spcAft>
                <a:spcPts val="1200"/>
              </a:spcAft>
              <a:defRPr sz="2000"/>
            </a:pPr>
            <a:r>
              <a:t>• Check: Did you use the mechanism? (Variation → Selection → Reproduction)</a:t>
            </a:r>
          </a:p>
          <a:p>
            <a:pPr>
              <a:spcAft>
                <a:spcPts val="1200"/>
              </a:spcAft>
              <a:defRPr sz="2000"/>
            </a:pPr>
            <a:r>
              <a:t>• Click SUBMIT when ready</a:t>
            </a:r>
          </a:p>
          <a:p>
            <a:pPr>
              <a:spcAft>
                <a:spcPts val="1200"/>
              </a:spcAft>
              <a:defRPr sz="2000"/>
            </a:pPr>
            <a:r>
              <a:t>• Silent reading only - no devices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DD6B20"/>
                </a:solidFill>
              </a:defRPr>
            </a:pPr>
            <a:r>
              <a:t>📋 WEDNESDAY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718096"/>
                </a:solidFill>
              </a:defRPr>
            </a:pPr>
            <a:r>
              <a:t>Assessment Day 2 - Part 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76749"/>
                </a:solidFill>
              </a:defRPr>
            </a:pPr>
            <a:r>
              <a:t>📱 Part 3: Misconception Check (20 min, 20 pts)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4 questions targeting common mistakes</a:t>
            </a:r>
          </a:p>
          <a:p>
            <a:pPr>
              <a:spcAft>
                <a:spcPts val="1200"/>
              </a:spcAft>
              <a:defRPr sz="2000"/>
            </a:pPr>
            <a:r>
              <a:t>• These check if misconceptions were corrected</a:t>
            </a:r>
          </a:p>
          <a:p>
            <a:pPr>
              <a:spcAft>
                <a:spcPts val="1200"/>
              </a:spcAft>
              <a:defRPr sz="2000"/>
            </a:pPr>
            <a:r>
              <a:t>• Think carefully - wrong patterns are tempting!</a:t>
            </a:r>
          </a:p>
          <a:p>
            <a:pPr>
              <a:spcAft>
                <a:spcPts val="1200"/>
              </a:spcAft>
              <a:defRPr sz="2000"/>
            </a:pPr>
            <a:r>
              <a:t>• Last assessment piece!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76749"/>
                </a:solidFill>
              </a:defRPr>
            </a:pPr>
            <a:r>
              <a:t>🔍 Key Misconceptions to Avoid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❌ Lamarckian: 'Organism changed itself' → ✅ Variation already existed</a:t>
            </a:r>
          </a:p>
          <a:p>
            <a:pPr>
              <a:spcAft>
                <a:spcPts val="1200"/>
              </a:spcAft>
              <a:defRPr sz="2000"/>
            </a:pPr>
            <a:r>
              <a:t>• ❌ 'Bigger animal = more force' → ✅ Forces are equal (N3L)</a:t>
            </a:r>
          </a:p>
          <a:p>
            <a:pPr>
              <a:spcAft>
                <a:spcPts val="1200"/>
              </a:spcAft>
              <a:defRPr sz="2000"/>
            </a:pPr>
            <a:r>
              <a:t>• ❌ 'Same function = related' → ✅ Need same STRUCTURE</a:t>
            </a:r>
          </a:p>
          <a:p>
            <a:pPr>
              <a:spcAft>
                <a:spcPts val="1200"/>
              </a:spcAft>
              <a:defRPr sz="2000"/>
            </a:pPr>
            <a:r>
              <a:t>• Think before answering!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76749"/>
                </a:solidFill>
              </a:defRPr>
            </a:pPr>
            <a:r>
              <a:t>🗣️ Immediate Debrief (5 min)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How did it feel?</a:t>
            </a:r>
          </a:p>
          <a:p>
            <a:pPr>
              <a:spcAft>
                <a:spcPts val="1200"/>
              </a:spcAft>
              <a:defRPr sz="2000"/>
            </a:pPr>
            <a:r>
              <a:t>• Any questions that surprised you?</a:t>
            </a:r>
          </a:p>
          <a:p>
            <a:pPr>
              <a:spcAft>
                <a:spcPts val="1200"/>
              </a:spcAft>
              <a:defRPr sz="2000"/>
            </a:pPr>
            <a:r>
              <a:t>• What would you study more if you could?</a:t>
            </a:r>
          </a:p>
          <a:p>
            <a:pPr>
              <a:spcAft>
                <a:spcPts val="1200"/>
              </a:spcAft>
              <a:defRPr sz="2000"/>
            </a:pPr>
            <a:r>
              <a:t>• Self-reflection: Rate your confidence 1-5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6B46C1"/>
                </a:solidFill>
              </a:defRPr>
            </a:pPr>
            <a:r>
              <a:t>🔧 THURSDAY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718096"/>
                </a:solidFill>
              </a:defRPr>
            </a:pPr>
            <a:r>
              <a:t>Remediation &amp; Second Chances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76749"/>
                </a:solidFill>
              </a:defRPr>
            </a:pPr>
            <a:r>
              <a:t>📊 Score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Part 1 scores returned today</a:t>
            </a:r>
          </a:p>
          <a:p>
            <a:pPr>
              <a:spcAft>
                <a:spcPts val="1200"/>
              </a:spcAft>
              <a:defRPr sz="2000"/>
            </a:pPr>
            <a:r>
              <a:t>• Part 2 scores returned today</a:t>
            </a:r>
          </a:p>
          <a:p>
            <a:pPr>
              <a:spcAft>
                <a:spcPts val="1200"/>
              </a:spcAft>
              <a:defRPr sz="2000"/>
            </a:pPr>
            <a:r>
              <a:t>• Part 3 scores coming Friday</a:t>
            </a:r>
          </a:p>
          <a:p>
            <a:pPr>
              <a:spcAft>
                <a:spcPts val="1200"/>
              </a:spcAft>
              <a:defRPr sz="2000"/>
            </a:pPr>
            <a:r>
              <a:t>• Overall: Add Parts 1 + 2 + 3 = Total out of 100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76749"/>
                </a:solidFill>
              </a:defRPr>
            </a:pPr>
            <a:r>
              <a:t>👥 Remediation Groups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Group A: Lamarckian Misconception - with Mr. Rosche</a:t>
            </a:r>
          </a:p>
          <a:p>
            <a:pPr>
              <a:spcAft>
                <a:spcPts val="1200"/>
              </a:spcAft>
              <a:defRPr sz="2000"/>
            </a:pPr>
            <a:r>
              <a:t>• Group B: Homologous vs Analogous - peer pairs</a:t>
            </a:r>
          </a:p>
          <a:p>
            <a:pPr>
              <a:spcAft>
                <a:spcPts val="1200"/>
              </a:spcAft>
              <a:defRPr sz="2000"/>
            </a:pPr>
            <a:r>
              <a:t>• Group C: N3L and F=ma - independent practice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76749"/>
                </a:solidFill>
              </a:defRPr>
            </a:pPr>
            <a:r>
              <a:t>🧬 Group A: Fixing Lamarckian Thinking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❌ WRONG: 'Giraffes stretched necks → babies had longer necks'</a:t>
            </a:r>
          </a:p>
          <a:p>
            <a:pPr>
              <a:spcAft>
                <a:spcPts val="1200"/>
              </a:spcAft>
              <a:defRPr sz="2000"/>
            </a:pPr>
            <a:r>
              <a:t>• ✅ RIGHT: 'Some giraffes were BORN with longer necks'</a:t>
            </a:r>
          </a:p>
          <a:p>
            <a:pPr>
              <a:spcAft>
                <a:spcPts val="1200"/>
              </a:spcAft>
              <a:defRPr sz="2000"/>
            </a:pPr>
            <a:r>
              <a:t>• You cannot change your genes by your actions</a:t>
            </a:r>
          </a:p>
          <a:p>
            <a:pPr>
              <a:spcAft>
                <a:spcPts val="1200"/>
              </a:spcAft>
              <a:defRPr sz="2000"/>
            </a:pPr>
            <a:r>
              <a:t>• POPULATIONS change over generations, not individuals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76749"/>
                </a:solidFill>
              </a:defRPr>
            </a:pPr>
            <a:r>
              <a:t>🔄 Second Chance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You may REDO one question for partial credit</a:t>
            </a:r>
          </a:p>
          <a:p>
            <a:pPr>
              <a:spcAft>
                <a:spcPts val="1200"/>
              </a:spcAft>
              <a:defRPr sz="2000"/>
            </a:pPr>
            <a:r>
              <a:t>• Choose your WEAKEST section</a:t>
            </a:r>
          </a:p>
          <a:p>
            <a:pPr>
              <a:spcAft>
                <a:spcPts val="1200"/>
              </a:spcAft>
              <a:defRPr sz="2000"/>
            </a:pPr>
            <a:r>
              <a:t>• Show your work and explain your thinking</a:t>
            </a:r>
          </a:p>
          <a:p>
            <a:pPr>
              <a:spcAft>
                <a:spcPts val="1200"/>
              </a:spcAft>
              <a:defRPr sz="2000"/>
            </a:pPr>
            <a:r>
              <a:t>• New answer replaces old (can only go up!)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276749"/>
                </a:solidFill>
              </a:defRPr>
            </a:pPr>
            <a:r>
              <a:t>🎉 FRIDAY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718096"/>
                </a:solidFill>
              </a:defRPr>
            </a:pPr>
            <a:r>
              <a:t>Celebration &amp; Cycle 4 Preview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76749"/>
                </a:solidFill>
              </a:defRPr>
            </a:pPr>
            <a:r>
              <a:t>🏆 Final Scores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All assessment scores returned</a:t>
            </a:r>
          </a:p>
          <a:p>
            <a:pPr>
              <a:spcAft>
                <a:spcPts val="1200"/>
              </a:spcAft>
              <a:defRPr sz="2000"/>
            </a:pPr>
            <a:r>
              <a:t>• Celebrate growth from Week 1 → Week 3</a:t>
            </a:r>
          </a:p>
          <a:p>
            <a:pPr>
              <a:spcAft>
                <a:spcPts val="1200"/>
              </a:spcAft>
              <a:defRPr sz="2000"/>
            </a:pPr>
            <a:r>
              <a:t>• Mastery badges for top performers</a:t>
            </a:r>
          </a:p>
          <a:p>
            <a:pPr>
              <a:spcAft>
                <a:spcPts val="1200"/>
              </a:spcAft>
              <a:defRPr sz="2000"/>
            </a:pPr>
            <a:r>
              <a:t>• Growth awards for most improvement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76749"/>
                </a:solidFill>
              </a:defRPr>
            </a:pPr>
            <a:r>
              <a:t>📝 3-2-1 Reflection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3 things I learned in Cycle 3</a:t>
            </a:r>
          </a:p>
          <a:p>
            <a:pPr>
              <a:spcAft>
                <a:spcPts val="1200"/>
              </a:spcAft>
              <a:defRPr sz="2000"/>
            </a:pPr>
            <a:r>
              <a:t>• 2 questions I still have</a:t>
            </a:r>
          </a:p>
          <a:p>
            <a:pPr>
              <a:spcAft>
                <a:spcPts val="1200"/>
              </a:spcAft>
              <a:defRPr sz="2000"/>
            </a:pPr>
            <a:r>
              <a:t>• 1 goal for Cycle 4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76749"/>
                </a:solidFill>
              </a:defRPr>
            </a:pPr>
            <a:r>
              <a:t>🎮 Celebration Activity: Evolution Kahoot!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Fun review of Cycle 3 concepts</a:t>
            </a:r>
          </a:p>
          <a:p>
            <a:pPr>
              <a:spcAft>
                <a:spcPts val="1200"/>
              </a:spcAft>
              <a:defRPr sz="2000"/>
            </a:pPr>
            <a:r>
              <a:t>• Team competition</a:t>
            </a:r>
          </a:p>
          <a:p>
            <a:pPr>
              <a:spcAft>
                <a:spcPts val="1200"/>
              </a:spcAft>
              <a:defRPr sz="2000"/>
            </a:pPr>
            <a:r>
              <a:t>• Prizes for winners!</a:t>
            </a:r>
          </a:p>
          <a:p>
            <a:pPr>
              <a:spcAft>
                <a:spcPts val="1200"/>
              </a:spcAft>
              <a:defRPr sz="2000"/>
            </a:pPr>
            <a:r>
              <a:t>• No pressure - just fun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76749"/>
                </a:solidFill>
              </a:defRPr>
            </a:pPr>
            <a:r>
              <a:t>🔮 Coming in January: Cycle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Topic: Genetics &amp; Heredity</a:t>
            </a:r>
          </a:p>
          <a:p>
            <a:pPr>
              <a:spcAft>
                <a:spcPts val="1200"/>
              </a:spcAft>
              <a:defRPr sz="2000"/>
            </a:pPr>
            <a:r>
              <a:t>• How do genes code for traits?</a:t>
            </a:r>
          </a:p>
          <a:p>
            <a:pPr>
              <a:spcAft>
                <a:spcPts val="1200"/>
              </a:spcAft>
              <a:defRPr sz="2000"/>
            </a:pPr>
            <a:r>
              <a:t>• What happens when DNA mutates?</a:t>
            </a:r>
          </a:p>
          <a:p>
            <a:pPr>
              <a:spcAft>
                <a:spcPts val="1200"/>
              </a:spcAft>
              <a:defRPr sz="2000"/>
            </a:pPr>
            <a:r>
              <a:t>• How do we inherit traits from parents?</a:t>
            </a:r>
          </a:p>
          <a:p>
            <a:pPr>
              <a:spcAft>
                <a:spcPts val="1200"/>
              </a:spcAft>
              <a:defRPr sz="2000"/>
            </a:pPr>
            <a:r>
              <a:t>• CONNECTION: Mutations = source of variation for natural selection!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6B46C1"/>
                </a:solidFill>
              </a:defRPr>
            </a:pPr>
            <a:r>
              <a:t>🎉 Cycle 3 Complete!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234E52"/>
                </a:solidFill>
              </a:defRPr>
            </a:pPr>
            <a:r>
              <a:t>Great work! Enjoy winter break!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