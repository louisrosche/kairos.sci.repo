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2286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Cycle 4: Synthesis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Grade 8 | Week 3 | Ecosystems &amp; Energy Transfer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Assessment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PART 1: Synthesis Review (20 pts, ~15 min)</a:t>
            </a:r>
          </a:p>
          <a:p>
            <a:pPr>
              <a:spcAft>
                <a:spcPts val="1000"/>
              </a:spcAft>
              <a:defRPr sz="2200"/>
            </a:pPr>
            <a:r>
              <a:t>  → Connect energy flow and ecosystem disruption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• PART 2: Cumulative Assessment (60 pts, ~40 min)</a:t>
            </a:r>
          </a:p>
          <a:p>
            <a:pPr>
              <a:spcAft>
                <a:spcPts val="1000"/>
              </a:spcAft>
              <a:defRPr sz="2200"/>
            </a:pPr>
            <a:r>
              <a:t>  → Comprehensive demonstration of learning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• PART 3: Misconception Check (20 pts, ~20 min)</a:t>
            </a:r>
          </a:p>
          <a:p>
            <a:pPr>
              <a:spcAft>
                <a:spcPts val="1000"/>
              </a:spcAft>
              <a:defRPr sz="2200"/>
            </a:pPr>
            <a:r>
              <a:t>  → Final verification of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Review: What You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Week 1: Energy Pyramids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Energy flows from producers up</a:t>
            </a:r>
          </a:p>
          <a:p>
            <a:pPr>
              <a:spcAft>
                <a:spcPts val="800"/>
              </a:spcAft>
              <a:defRPr sz="1800"/>
            </a:pPr>
            <a:r>
              <a:t>• 10% rule for transfers</a:t>
            </a:r>
          </a:p>
          <a:p>
            <a:pPr>
              <a:spcAft>
                <a:spcPts val="800"/>
              </a:spcAft>
              <a:defRPr sz="1800"/>
            </a:pPr>
            <a:r>
              <a:t>• Biomass decreases up levels</a:t>
            </a:r>
          </a:p>
          <a:p>
            <a:pPr>
              <a:spcAft>
                <a:spcPts val="800"/>
              </a:spcAft>
              <a:defRPr sz="1800"/>
            </a:pPr>
            <a:r>
              <a:t>• Shapes ecosystem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Week 2: Ecosystem Disruption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Invasive species disrupt flow</a:t>
            </a:r>
          </a:p>
          <a:p>
            <a:pPr>
              <a:spcAft>
                <a:spcPts val="800"/>
              </a:spcAft>
              <a:defRPr sz="1800"/>
            </a:pPr>
            <a:r>
              <a:t>• Trophic cascades ripple through</a:t>
            </a:r>
          </a:p>
          <a:p>
            <a:pPr>
              <a:spcAft>
                <a:spcPts val="800"/>
              </a:spcAft>
              <a:defRPr sz="1800"/>
            </a:pPr>
            <a:r>
              <a:t>• Keystone species matter most</a:t>
            </a:r>
          </a:p>
          <a:p>
            <a:pPr>
              <a:spcAft>
                <a:spcPts val="800"/>
              </a:spcAft>
              <a:defRPr sz="1800"/>
            </a:pPr>
            <a:r>
              <a:t>• Resilience varies by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Energy flow STRUCTURES ecosystems</a:t>
            </a:r>
          </a:p>
          <a:p>
            <a:pPr>
              <a:spcAft>
                <a:spcPts val="1000"/>
              </a:spcAft>
              <a:defRPr sz="2200"/>
            </a:pPr>
            <a:r>
              <a:t>• Disruptions RIPPLE through energy levels</a:t>
            </a:r>
          </a:p>
          <a:p>
            <a:pPr>
              <a:spcAft>
                <a:spcPts val="1000"/>
              </a:spcAft>
              <a:defRPr sz="2200"/>
            </a:pPr>
            <a:r>
              <a:t>• Ecosystems can be STABLE or CHANGING</a:t>
            </a:r>
          </a:p>
          <a:p>
            <a:pPr>
              <a:spcAft>
                <a:spcPts val="1000"/>
              </a:spcAft>
              <a:defRPr sz="2200"/>
            </a:pPr>
            <a:r>
              <a:t>• Both connect to Cycle 3 NATURAL SELECTION</a:t>
            </a:r>
          </a:p>
          <a:p>
            <a:pPr>
              <a:spcAft>
                <a:spcPts val="1000"/>
              </a:spcAft>
              <a:defRPr sz="2200"/>
            </a:pPr>
            <a:r>
              <a:t>• Both demonstrate SYSTEMS THINKING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Tips for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Complete parts in order—they build on each other</a:t>
            </a:r>
          </a:p>
          <a:p>
            <a:pPr>
              <a:spcAft>
                <a:spcPts val="1000"/>
              </a:spcAft>
              <a:defRPr sz="2200"/>
            </a:pPr>
            <a:r>
              <a:t>• Take short breaks between parts (5 minutes)</a:t>
            </a:r>
          </a:p>
          <a:p>
            <a:pPr>
              <a:spcAft>
                <a:spcPts val="1000"/>
              </a:spcAft>
              <a:defRPr sz="2200"/>
            </a:pPr>
            <a:r>
              <a:t>• Show your work on calculation questions</a:t>
            </a:r>
          </a:p>
          <a:p>
            <a:pPr>
              <a:spcAft>
                <a:spcPts val="1000"/>
              </a:spcAft>
              <a:defRPr sz="2200"/>
            </a:pPr>
            <a:r>
              <a:t>• Use scientific vocabulary in explanations</a:t>
            </a:r>
          </a:p>
          <a:p>
            <a:pPr>
              <a:spcAft>
                <a:spcPts val="1000"/>
              </a:spcAft>
              <a:defRPr sz="2200"/>
            </a:pPr>
            <a:r>
              <a:t>• Think about cause and effect chains</a:t>
            </a:r>
          </a:p>
          <a:p>
            <a:pPr>
              <a:spcAft>
                <a:spcPts val="1000"/>
              </a:spcAft>
              <a:defRPr sz="2200"/>
            </a:pPr>
            <a:r>
              <a:t>• Read feedback on Part 3 carefully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