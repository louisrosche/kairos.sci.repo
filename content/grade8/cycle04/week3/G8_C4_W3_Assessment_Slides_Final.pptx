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Week 3: Synthesis &amp;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Grade 8 Science | Ecosystems &amp; Energy Transfer | 100 Points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59669"/>
                </a:solidFill>
              </a:defRPr>
            </a:pPr>
            <a:r>
              <a:t>Assessment Week Overview</a:t>
            </a:r>
          </a:p>
          <a:p>
            <a:pPr algn="l">
              <a:defRPr sz="1400">
                <a:solidFill>
                  <a:srgbClr val="2D3748"/>
                </a:solidFill>
              </a:defRPr>
            </a:pPr>
            <a:r>
              <a:t>MS-LS2-3 &amp; MS-LS2-4 | ~75 Minutes Total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8412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Part 1: Synthesis Review (20 pts, ~15 min)</a:t>
            </a:r>
          </a:p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Part 2: Cumulative Assessment (60 pts, ~40 min)</a:t>
            </a:r>
          </a:p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Part 3: Misconception Check (20 pts, ~20 min)</a:t>
            </a:r>
          </a:p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Covers: Week 1 (10% rule) + Week 2 (invasive species)</a:t>
            </a:r>
          </a:p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Spiral content: Cycle 3 natural selection concepts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59669"/>
                </a:solidFill>
              </a:defRPr>
            </a:pPr>
            <a:r>
              <a:t>What You'll Be Assessed On</a:t>
            </a:r>
          </a:p>
          <a:p>
            <a:pPr>
              <a:defRPr sz="1400">
                <a:solidFill>
                  <a:srgbClr val="2D3748"/>
                </a:solidFill>
              </a:defRPr>
            </a:pPr>
            <a:r>
              <a:t>Content from Weeks 1 &amp; 2 plus Cycle 3 spiral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40233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59669"/>
                </a:solidFill>
              </a:defRPr>
            </a:pPr>
            <a:r>
              <a:t>Week 1 Topics</a:t>
            </a:r>
          </a:p>
          <a:p>
            <a:pPr>
              <a:spcAft>
                <a:spcPts val="600"/>
              </a:spcAft>
              <a:defRPr sz="1600">
                <a:solidFill>
                  <a:srgbClr val="2D3748"/>
                </a:solidFill>
              </a:defRPr>
            </a:pPr>
            <a:r>
              <a:t>• Energy pyramids &amp; 10% rule</a:t>
            </a:r>
          </a:p>
          <a:p>
            <a:pPr>
              <a:spcAft>
                <a:spcPts val="600"/>
              </a:spcAft>
              <a:defRPr sz="1600">
                <a:solidFill>
                  <a:srgbClr val="2D3748"/>
                </a:solidFill>
              </a:defRPr>
            </a:pPr>
            <a:r>
              <a:t>• Biomass calculations</a:t>
            </a:r>
          </a:p>
          <a:p>
            <a:pPr>
              <a:spcAft>
                <a:spcPts val="600"/>
              </a:spcAft>
              <a:defRPr sz="1600">
                <a:solidFill>
                  <a:srgbClr val="2D3748"/>
                </a:solidFill>
              </a:defRPr>
            </a:pPr>
            <a:r>
              <a:t>• Why pyramids are pyramid-shaped</a:t>
            </a:r>
          </a:p>
          <a:p>
            <a:pPr>
              <a:spcAft>
                <a:spcPts val="600"/>
              </a:spcAft>
              <a:defRPr sz="1600">
                <a:solidFill>
                  <a:srgbClr val="2D3748"/>
                </a:solidFill>
              </a:defRPr>
            </a:pPr>
            <a:r>
              <a:t>• Efficiency of eating at lower levels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280160"/>
            <a:ext cx="40233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59669"/>
                </a:solidFill>
              </a:defRPr>
            </a:pPr>
            <a:r>
              <a:t>Week 2 Topics</a:t>
            </a:r>
          </a:p>
          <a:p>
            <a:pPr>
              <a:spcAft>
                <a:spcPts val="600"/>
              </a:spcAft>
              <a:defRPr sz="1600">
                <a:solidFill>
                  <a:srgbClr val="2D3748"/>
                </a:solidFill>
              </a:defRPr>
            </a:pPr>
            <a:r>
              <a:t>• Invasive species &amp; trophic cascades</a:t>
            </a:r>
          </a:p>
          <a:p>
            <a:pPr>
              <a:spcAft>
                <a:spcPts val="600"/>
              </a:spcAft>
              <a:defRPr sz="1600">
                <a:solidFill>
                  <a:srgbClr val="2D3748"/>
                </a:solidFill>
              </a:defRPr>
            </a:pPr>
            <a:r>
              <a:t>• Keystone species &amp; their roles</a:t>
            </a:r>
          </a:p>
          <a:p>
            <a:pPr>
              <a:spcAft>
                <a:spcPts val="600"/>
              </a:spcAft>
              <a:defRPr sz="1600">
                <a:solidFill>
                  <a:srgbClr val="2D3748"/>
                </a:solidFill>
              </a:defRPr>
            </a:pPr>
            <a:r>
              <a:t>• Top-down vs bottom-up effects</a:t>
            </a:r>
          </a:p>
          <a:p>
            <a:pPr>
              <a:spcAft>
                <a:spcPts val="600"/>
              </a:spcAft>
              <a:defRPr sz="1600">
                <a:solidFill>
                  <a:srgbClr val="2D3748"/>
                </a:solidFill>
              </a:defRPr>
            </a:pPr>
            <a:r>
              <a:t>• Why native species are vulnerable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Part 1: Synthesis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20 Points | ~15 Minutes | Connect Week 1 &amp; Week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891B2"/>
                </a:solidFill>
              </a:defRPr>
            </a:pPr>
            <a:r>
              <a:t>The Big Synthesis Question</a:t>
            </a:r>
          </a:p>
          <a:p>
            <a:pPr algn="l">
              <a:defRPr sz="1400">
                <a:solidFill>
                  <a:srgbClr val="2D3748"/>
                </a:solidFill>
              </a:defRPr>
            </a:pPr>
            <a:r>
              <a:t>Part 1 | 20 Points | Connect your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8412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How does the 10% rule explain why invasive species are so damaging?</a:t>
            </a:r>
          </a:p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Think: Energy is limited at each level</a:t>
            </a:r>
          </a:p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Think: Invasives enter at a particular trophic level</a:t>
            </a:r>
          </a:p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Think: Limited energy makes ecosystems vulnerable</a:t>
            </a:r>
          </a:p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Connect: Energy flow explains cascade effects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Part 2: Cumulative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60 Points | ~40 Minutes | Main Assessment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59669"/>
                </a:solidFill>
              </a:defRPr>
            </a:pPr>
            <a:r>
              <a:t>Question Breakdown (12 Questions)</a:t>
            </a:r>
          </a:p>
          <a:p>
            <a:pPr algn="l">
              <a:defRPr sz="1400">
                <a:solidFill>
                  <a:srgbClr val="2D3748"/>
                </a:solidFill>
              </a:defRPr>
            </a:pPr>
            <a:r>
              <a:t>Part 2 | 60 Points | Show what you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8412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Energy Pyramids (3 questions): 10% rule calculations, biomass</a:t>
            </a:r>
          </a:p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Ecosystem Disruption (3 questions): Invasives, trophic cascades</a:t>
            </a:r>
          </a:p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Data Analysis (2 questions): Interpret graphs and tables</a:t>
            </a:r>
          </a:p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Engineering Design (2 questions): Sustainable systems</a:t>
            </a:r>
          </a:p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Spiral - Cycle 3 (2 questions): Natural selection, adaptation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59669"/>
                </a:solidFill>
              </a:defRPr>
            </a:pPr>
            <a:r>
              <a:t>10% Rule Calculation Reminder</a:t>
            </a:r>
          </a:p>
          <a:p>
            <a:pPr algn="l">
              <a:defRPr sz="1400">
                <a:solidFill>
                  <a:srgbClr val="2D3748"/>
                </a:solidFill>
              </a:defRPr>
            </a:pPr>
            <a:r>
              <a:t>Use this method for energy transfer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8412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Example: If producers have 100,000 kcal, what reaches tertiary consumers?</a:t>
            </a:r>
          </a:p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Producers: 100,000 kcal (starting point)</a:t>
            </a:r>
          </a:p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Primary consumers: 100,000 × 0.10 = 10,000 kcal</a:t>
            </a:r>
          </a:p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Secondary consumers: 10,000 × 0.10 = 1,000 kcal</a:t>
            </a:r>
          </a:p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Tertiary consumers: 1,000 × 0.10 = 100 kcal (answer!)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Part 3: Misconception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20 Points | ~20 Minutes | Correct Common Mistakes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B5CF6"/>
                </a:solidFill>
              </a:defRPr>
            </a:pPr>
            <a:r>
              <a:t>Common Misconceptions to Avoid</a:t>
            </a:r>
          </a:p>
          <a:p>
            <a:pPr>
              <a:defRPr sz="1400">
                <a:solidFill>
                  <a:srgbClr val="2D3748"/>
                </a:solidFill>
              </a:defRPr>
            </a:pPr>
            <a:r>
              <a:t>Part 3 | 20 Points | Know 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40233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8B5CF6"/>
                </a:solidFill>
              </a:defRPr>
            </a:pPr>
            <a:r>
              <a:t>WRONG</a:t>
            </a:r>
          </a:p>
          <a:p>
            <a:pPr>
              <a:spcAft>
                <a:spcPts val="600"/>
              </a:spcAft>
              <a:defRPr sz="1600">
                <a:solidFill>
                  <a:srgbClr val="2D3748"/>
                </a:solidFill>
              </a:defRPr>
            </a:pPr>
            <a:r>
              <a:t>• Energy is destroyed at each level</a:t>
            </a:r>
          </a:p>
          <a:p>
            <a:pPr>
              <a:spcAft>
                <a:spcPts val="600"/>
              </a:spcAft>
              <a:defRPr sz="1600">
                <a:solidFill>
                  <a:srgbClr val="2D3748"/>
                </a:solidFill>
              </a:defRPr>
            </a:pPr>
            <a:r>
              <a:t>• Invasive = poisonous/dangerous</a:t>
            </a:r>
          </a:p>
          <a:p>
            <a:pPr>
              <a:spcAft>
                <a:spcPts val="600"/>
              </a:spcAft>
              <a:defRPr sz="1600">
                <a:solidFill>
                  <a:srgbClr val="2D3748"/>
                </a:solidFill>
              </a:defRPr>
            </a:pPr>
            <a:r>
              <a:t>• Cascades only go top to bottom</a:t>
            </a:r>
          </a:p>
          <a:p>
            <a:pPr>
              <a:spcAft>
                <a:spcPts val="600"/>
              </a:spcAft>
              <a:defRPr sz="1600">
                <a:solidFill>
                  <a:srgbClr val="2D3748"/>
                </a:solidFill>
              </a:defRPr>
            </a:pPr>
            <a:r>
              <a:t>• Ecosystems always recover naturally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280160"/>
            <a:ext cx="40233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8B5CF6"/>
                </a:solidFill>
              </a:defRPr>
            </a:pPr>
            <a:r>
              <a:t>RIGHT</a:t>
            </a:r>
          </a:p>
          <a:p>
            <a:pPr>
              <a:spcAft>
                <a:spcPts val="600"/>
              </a:spcAft>
              <a:defRPr sz="1600">
                <a:solidFill>
                  <a:srgbClr val="2D3748"/>
                </a:solidFill>
              </a:defRPr>
            </a:pPr>
            <a:r>
              <a:t>• Energy converted to heat (still exists!)</a:t>
            </a:r>
          </a:p>
          <a:p>
            <a:pPr>
              <a:spcAft>
                <a:spcPts val="600"/>
              </a:spcAft>
              <a:defRPr sz="1600">
                <a:solidFill>
                  <a:srgbClr val="2D3748"/>
                </a:solidFill>
              </a:defRPr>
            </a:pPr>
            <a:r>
              <a:t>• Invasive = non-native + ecological harm</a:t>
            </a:r>
          </a:p>
          <a:p>
            <a:pPr>
              <a:spcAft>
                <a:spcPts val="600"/>
              </a:spcAft>
              <a:defRPr sz="1600">
                <a:solidFill>
                  <a:srgbClr val="2D3748"/>
                </a:solidFill>
              </a:defRPr>
            </a:pPr>
            <a:r>
              <a:t>• Cascades can be top-down OR bottom-up</a:t>
            </a:r>
          </a:p>
          <a:p>
            <a:pPr>
              <a:spcAft>
                <a:spcPts val="600"/>
              </a:spcAft>
              <a:defRPr sz="1600">
                <a:solidFill>
                  <a:srgbClr val="2D3748"/>
                </a:solidFill>
              </a:defRPr>
            </a:pPr>
            <a:r>
              <a:t>• Some damage is permanent w/o intervention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59669"/>
                </a:solidFill>
              </a:defRPr>
            </a:pPr>
            <a:r>
              <a:t>Cycle 4 Complete: Key Takeaways</a:t>
            </a:r>
          </a:p>
          <a:p>
            <a:pPr algn="l">
              <a:defRPr sz="1400">
                <a:solidFill>
                  <a:srgbClr val="2D3748"/>
                </a:solidFill>
              </a:defRPr>
            </a:pPr>
            <a:r>
              <a:t>What you learned about Ecosystems &amp; Energy 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8412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10% Rule: Only ~10% transfers; 90% lost to heat/waste</a:t>
            </a:r>
          </a:p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Energy Pyramids: Wide at bottom, narrow at top</a:t>
            </a:r>
          </a:p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Invasive Species: Outcompete natives due to no predators</a:t>
            </a:r>
          </a:p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Trophic Cascades: Changes ripple through entire food webs</a:t>
            </a:r>
          </a:p>
          <a:p>
            <a:pPr algn="l">
              <a:spcAft>
                <a:spcPts val="1000"/>
              </a:spcAft>
              <a:defRPr sz="2000">
                <a:solidFill>
                  <a:srgbClr val="2D3748"/>
                </a:solidFill>
              </a:defRPr>
            </a:pPr>
            <a:r>
              <a:t>• The Connection: Limited energy makes ecosystems vulnerable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Cycle 4 Complete!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You've mastered Ecosystems &amp; Energy Transfer. Great work!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