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FFFFFF"/>
                </a:solidFill>
                <a:latin typeface="Arial"/>
              </a:defRPr>
            </a:pPr>
            <a:r>
              <a:t>🦁 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Georgia"/>
              </a:defRPr>
            </a:pPr>
            <a:r>
              <a:t>Week 1: Energy Pyramids &amp; Trophic Levels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Arial"/>
              </a:defRPr>
            </a:pPr>
            <a:r>
              <a:t>Grade 8 Science | Cycle 4 | Rosche | Kairos Academies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Arial"/>
              </a:defRPr>
            </a:pPr>
            <a:r>
              <a:t>MS-LS2-3 Energy Flow in Ecosystems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Arial"/>
              </a:defRPr>
            </a:pPr>
            <a:r>
              <a:t>100 Points Total | ~75 Minutes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6400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Georgia"/>
              </a:defRPr>
            </a:pPr>
            <a:r>
              <a:t>🦁 The Phenomenon: The Missing Energy Mystery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" y="914400"/>
            <a:ext cx="8869680" cy="256032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3748"/>
                </a:solidFill>
                <a:latin typeface="Arial"/>
              </a:defRPr>
            </a:pPr>
            <a:r>
              <a:t>In the Serengeti ecosystem of Africa: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A5568"/>
                </a:solidFill>
                <a:latin typeface="Arial"/>
              </a:defRPr>
            </a:pPr>
            <a:r>
              <a:t>• There are millions of pounds of grasses</a:t>
            </a:r>
            <a:br/>
            <a:r>
              <a:t>• Hundreds of thousands of wildebeest, zebras, gazelles</a:t>
            </a:r>
            <a:br/>
            <a:r>
              <a:t>• But only a few thousand lions and hyenas</a:t>
            </a:r>
            <a:br/>
            <a:br/>
            <a:r>
              <a:t>Why are there SO MANY plants and herbivores, but SO FEW top predators?</a:t>
            </a:r>
            <a:br/>
            <a:r>
              <a:t>Where does all the energy go?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" y="3611880"/>
            <a:ext cx="8869680" cy="128016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379476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🔬 KEY CONCEPT: Only 10% of energy transfers between trophic levels!</a:t>
            </a:r>
            <a:br/>
            <a:r>
              <a:t>The rest is 'lost' to heat, movement, and metabolism.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6400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Georgia"/>
              </a:defRPr>
            </a:pPr>
            <a:r>
              <a:t>🤔 Driving Question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7863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t>Why are there more plants than animals,</a:t>
            </a:r>
            <a:br/>
            <a:r>
              <a:t>and more herbivores than predators,</a:t>
            </a:r>
            <a:br/>
            <a:r>
              <a:t>in every ecosystem on Earth?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474720"/>
            <a:ext cx="8229600" cy="128016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7863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47857"/>
                </a:solidFill>
                <a:latin typeface="Arial"/>
              </a:defRPr>
            </a:pPr>
            <a:r>
              <a:t>🔗 Connection to Cycle 3:</a:t>
            </a:r>
            <a:br/>
            <a:r>
              <a:t>You learned about natural selection and adaptation.</a:t>
            </a:r>
            <a:br/>
            <a:r>
              <a:t>Now we'll explore how energy availability limits populations at each level!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6400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Georgia"/>
              </a:defRPr>
            </a:pPr>
            <a:r>
              <a:t>💡 What You Already Know (Cycle 3 Connections)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2743200" cy="164592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0972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47857"/>
                </a:solidFill>
                <a:latin typeface="Arial"/>
              </a:defRPr>
            </a:pPr>
            <a:r>
              <a:t>Natural Selection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79" y="146304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5568"/>
                </a:solidFill>
                <a:latin typeface="Arial"/>
              </a:defRPr>
            </a:pPr>
            <a:r>
              <a:t>Organisms with advantageous</a:t>
            </a:r>
            <a:br/>
            <a:r>
              <a:t>traits survive and reproduce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005840"/>
            <a:ext cx="2743200" cy="164592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37560" y="10972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47857"/>
                </a:solidFill>
                <a:latin typeface="Arial"/>
              </a:defRPr>
            </a:pPr>
            <a:r>
              <a:t>Adaptation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146304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5568"/>
                </a:solidFill>
                <a:latin typeface="Arial"/>
              </a:defRPr>
            </a:pPr>
            <a:r>
              <a:t>Traits that help organisms</a:t>
            </a:r>
            <a:br/>
            <a:r>
              <a:t>survive in their environment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005840"/>
            <a:ext cx="2743200" cy="164592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0972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47857"/>
                </a:solidFill>
                <a:latin typeface="Arial"/>
              </a:defRPr>
            </a:pPr>
            <a:r>
              <a:t>Population Dynamics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46304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5568"/>
                </a:solidFill>
                <a:latin typeface="Arial"/>
              </a:defRPr>
            </a:pPr>
            <a:r>
              <a:t>Populations change based</a:t>
            </a:r>
            <a:br/>
            <a:r>
              <a:t>on resources and competition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834640"/>
            <a:ext cx="8595360" cy="2011680"/>
          </a:xfrm>
          <a:prstGeom prst="rect">
            <a:avLst/>
          </a:prstGeom>
          <a:solidFill>
            <a:srgbClr val="FED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53030"/>
                </a:solidFill>
                <a:latin typeface="Arial"/>
              </a:defRPr>
            </a:pPr>
            <a:r>
              <a:t>⚠️ COMMON MISTAKE ALERT: 'Energy is Destroyed'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291840"/>
            <a:ext cx="8229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53030"/>
                </a:solidFill>
                <a:latin typeface="Arial"/>
              </a:defRPr>
            </a:pPr>
            <a:r>
              <a:t>WRONG: 'Energy is destroyed as it moves up the food chain.'</a:t>
            </a:r>
            <a:br/>
            <a:br/>
            <a:r>
              <a:t>RIGHT: 'Energy is converted to heat through metabolism, movement, and digestion.</a:t>
            </a:r>
            <a:br/>
            <a:r>
              <a:t>It's not destroyed—it just becomes unusable for the next level.'</a:t>
            </a:r>
            <a:br/>
            <a:br/>
            <a:r>
              <a:t>KEY: Energy is conserved, but only ~10% transfers to the next trophic level.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6400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Georgia"/>
              </a:defRPr>
            </a:pPr>
            <a:r>
              <a:t>🎯 Learning Targets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8595360" cy="86868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47857"/>
                </a:solidFill>
                <a:latin typeface="Arial"/>
              </a:defRPr>
            </a:pPr>
            <a:r>
              <a:t>Target 1: Trace energy flow through trophic levels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920240"/>
            <a:ext cx="8595360" cy="86868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47857"/>
                </a:solidFill>
                <a:latin typeface="Arial"/>
              </a:defRPr>
            </a:pPr>
            <a:r>
              <a:t>Target 2: Apply the 10% rule to calculate energy transfer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926080"/>
            <a:ext cx="8595360" cy="86868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06324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47857"/>
                </a:solidFill>
                <a:latin typeface="Arial"/>
              </a:defRPr>
            </a:pPr>
            <a:r>
              <a:t>Target 3: Calculate and compare biomass at different levels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931920"/>
            <a:ext cx="8595360" cy="86868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0690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47857"/>
                </a:solidFill>
                <a:latin typeface="Arial"/>
              </a:defRPr>
            </a:pPr>
            <a:r>
              <a:t>Target 4: Design a sustainable food production system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6400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Georgia"/>
              </a:defRPr>
            </a:pPr>
            <a:r>
              <a:t>📚 Key Vocabulary This Week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68680"/>
            <a:ext cx="8595360" cy="6400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47857"/>
                </a:solidFill>
                <a:latin typeface="Arial"/>
              </a:defRPr>
            </a:pPr>
            <a:r>
              <a:t>Trophic Level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0" y="96012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Arial"/>
              </a:defRPr>
            </a:pPr>
            <a:r>
              <a:t>Position in food chain (1=producer, 2=primary consumer...)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554480"/>
            <a:ext cx="8595360" cy="6400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47857"/>
                </a:solidFill>
                <a:latin typeface="Arial"/>
              </a:defRPr>
            </a:pPr>
            <a:r>
              <a:t>10% Rule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64592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Arial"/>
              </a:defRPr>
            </a:pPr>
            <a:r>
              <a:t>Only ~10% of energy transfers between trophic levels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240280"/>
            <a:ext cx="8595360" cy="6400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47857"/>
                </a:solidFill>
                <a:latin typeface="Arial"/>
              </a:defRPr>
            </a:pPr>
            <a:r>
              <a:t>Biomass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33172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Arial"/>
              </a:defRPr>
            </a:pPr>
            <a:r>
              <a:t>Total mass of organisms at a trophic level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926080"/>
            <a:ext cx="8595360" cy="6400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0175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47857"/>
                </a:solidFill>
                <a:latin typeface="Arial"/>
              </a:defRPr>
            </a:pPr>
            <a:r>
              <a:t>Energy Pyramid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301752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Arial"/>
              </a:defRPr>
            </a:pPr>
            <a:r>
              <a:t>Diagram showing energy decrease at each level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611880"/>
            <a:ext cx="8595360" cy="6400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703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47857"/>
                </a:solidFill>
                <a:latin typeface="Arial"/>
              </a:defRPr>
            </a:pPr>
            <a:r>
              <a:t>Producer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70332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Arial"/>
              </a:defRPr>
            </a:pPr>
            <a:r>
              <a:t>Makes own food via photosynthesis (plants, algae)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297680"/>
            <a:ext cx="8595360" cy="6400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3891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47857"/>
                </a:solidFill>
                <a:latin typeface="Arial"/>
              </a:defRPr>
            </a:pPr>
            <a:r>
              <a:t>Consumer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438912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Arial"/>
              </a:defRPr>
            </a:pPr>
            <a:r>
              <a:t>Gets energy by eating other organisms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Georgia"/>
              </a:defRPr>
            </a:pPr>
            <a:r>
              <a:t>🦁 Hook – The Missing Energy Mystery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12 Points | ~10 min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8595360" cy="201168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97706"/>
                </a:solidFill>
                <a:latin typeface="Arial"/>
              </a:defRPr>
            </a:pPr>
            <a:r>
              <a:t>🦁 The Challenge: Where does the energy go?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568"/>
                </a:solidFill>
                <a:latin typeface="Arial"/>
              </a:defRPr>
            </a:pPr>
            <a:r>
              <a:t>1. Observe the phenomenon: Serengeti population data (2 min)</a:t>
            </a:r>
            <a:br/>
            <a:r>
              <a:t>2. Make predictions about why predators are rare (3 min)</a:t>
            </a:r>
            <a:br/>
            <a:r>
              <a:t>3. Connect to Cycle 3: natural selection (3 min)</a:t>
            </a:r>
            <a:br/>
            <a:r>
              <a:t>4. Answer diagnostic questions (2 min)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3246120"/>
            <a:ext cx="8595360" cy="164592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47857"/>
                </a:solidFill>
                <a:latin typeface="Arial"/>
              </a:defRPr>
            </a:pPr>
            <a:r>
              <a:t>💭 Think About This: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033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Arial"/>
              </a:defRPr>
            </a:pPr>
            <a:r>
              <a:t>• Where does ALL energy in an ecosystem come from?</a:t>
            </a:r>
            <a:br/>
            <a:r>
              <a:t>• What happens to energy when an animal eats another animal?</a:t>
            </a:r>
            <a:br/>
            <a:r>
              <a:t>• How does this connect to natural selection from Cycle 3?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Georgia"/>
              </a:defRPr>
            </a:pPr>
            <a:r>
              <a:t>🦁 Hook – Serengeti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4114800" cy="228600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97706"/>
                </a:solidFill>
                <a:latin typeface="Arial"/>
              </a:defRPr>
            </a:pPr>
            <a:r>
              <a:t>📊 Serengeti Populations: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374903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Arial"/>
              </a:defRPr>
            </a:pPr>
            <a:r>
              <a:t>Grasses: Millions of pounds</a:t>
            </a:r>
            <a:br/>
            <a:br/>
            <a:r>
              <a:t>Herbivores (wildebeest, zebras):</a:t>
            </a:r>
            <a:br/>
            <a:r>
              <a:t>Hundreds of thousands</a:t>
            </a:r>
            <a:br/>
            <a:br/>
            <a:r>
              <a:t>Predators (lions, hyenas):</a:t>
            </a:r>
            <a:br/>
            <a:r>
              <a:t>Only a few thousand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914400"/>
            <a:ext cx="4297680" cy="22860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47857"/>
                </a:solidFill>
                <a:latin typeface="Arial"/>
              </a:defRPr>
            </a:pPr>
            <a:r>
              <a:t>☀️ Energy Source: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371600"/>
            <a:ext cx="3931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5568"/>
                </a:solidFill>
                <a:latin typeface="Arial"/>
              </a:defRPr>
            </a:pPr>
            <a:r>
              <a:t>Sun → Plants (photosynthesis)</a:t>
            </a:r>
            <a:br/>
            <a:br/>
            <a:r>
              <a:t>Plants → Herbivores (eating)</a:t>
            </a:r>
            <a:br/>
            <a:br/>
            <a:r>
              <a:t>Herbivores → Predators (eating)</a:t>
            </a:r>
            <a:br/>
            <a:br/>
            <a:r>
              <a:t>But energy is LOST at each step!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383280"/>
            <a:ext cx="8595360" cy="150876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53030"/>
                </a:solidFill>
                <a:latin typeface="Arial"/>
              </a:defRPr>
            </a:pPr>
            <a:r>
              <a:t>📝 Complete the Hook form on the student page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Arial"/>
              </a:defRPr>
            </a:pPr>
            <a:r>
              <a:t>Record your predictions about:</a:t>
            </a:r>
            <a:br/>
            <a:r>
              <a:t>• Why there are more plants than herbivores</a:t>
            </a:r>
            <a:br/>
            <a:r>
              <a:t>• Why there are more herbivores than predators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Georgia"/>
              </a:defRPr>
            </a:pPr>
            <a:r>
              <a:t>📊 Station 1 – 10% Rule Investigation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20 Points | ~18 min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8595360" cy="11887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Arial"/>
              </a:defRPr>
            </a:pPr>
            <a:r>
              <a:t>📊 Your Mission: Discover the 10% Rule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568"/>
                </a:solidFill>
                <a:latin typeface="Arial"/>
              </a:defRPr>
            </a:pPr>
            <a:r>
              <a:t>Calculate how much energy transfers between trophic levels</a:t>
            </a:r>
            <a:br/>
            <a:r>
              <a:t>and explain why ecosystems are shaped like pyramids.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423160"/>
            <a:ext cx="8595360" cy="246888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514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47857"/>
                </a:solidFill>
                <a:latin typeface="Arial"/>
              </a:defRPr>
            </a:pPr>
            <a:r>
              <a:t>🔬 Where Does Energy Go When a Zebra Eats Grass?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26080"/>
            <a:ext cx="3931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Arial"/>
              </a:defRPr>
            </a:pPr>
            <a:r>
              <a:t>Energy in Grass Eaten: 1000 kcal</a:t>
            </a:r>
            <a:br/>
            <a:br/>
            <a:r>
              <a:t>Lost to heat (metabolism): ~60%</a:t>
            </a:r>
            <a:br/>
            <a:r>
              <a:t>Lost to waste (feces): ~25%</a:t>
            </a:r>
            <a:br/>
            <a:r>
              <a:t>Parts not eaten: ~5%</a:t>
            </a:r>
            <a:br/>
            <a:r>
              <a:t>Stored in zebra body: ~10% 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92608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47857"/>
                </a:solidFill>
                <a:latin typeface="Arial"/>
              </a:defRPr>
            </a:pPr>
            <a:r>
              <a:t>⚠️ KEY INSIGHT:</a:t>
            </a:r>
            <a:br/>
            <a:br/>
            <a:r>
              <a:t>The 10% stored in the zebra</a:t>
            </a:r>
            <a:br/>
            <a:r>
              <a:t>is ALL that's available</a:t>
            </a:r>
            <a:br/>
            <a:r>
              <a:t>to the NEXT level (lions)!</a:t>
            </a:r>
            <a:br/>
            <a:br/>
            <a:r>
              <a:t>This explains the pyramid shape!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640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Georgia"/>
              </a:defRPr>
            </a:pPr>
            <a:r>
              <a:t>📊 Station 1 – Energy Transfer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8595360" cy="2286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  <a:latin typeface="Arial"/>
              </a:defRPr>
            </a:pPr>
            <a:r>
              <a:t>📈 Energy at Each Trophic Level (starting with 10,000 kcal):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568"/>
                </a:solidFill>
                <a:latin typeface="Arial"/>
              </a:defRPr>
            </a:pPr>
            <a:r>
              <a:t>Trophic Level              |  Energy (kcal)  |  % of Original</a:t>
            </a:r>
            <a:br/>
            <a:r>
              <a:t>─────────────────────────────────────────────────────────</a:t>
            </a:r>
            <a:br/>
            <a:r>
              <a:t>Producers (grass)          |    10,000       |     100%</a:t>
            </a:r>
            <a:br/>
            <a:r>
              <a:t>Primary consumers (zebras) |     1,000       |      10%</a:t>
            </a:r>
            <a:br/>
            <a:r>
              <a:t>Secondary consumers (lions)|       100       |       1%</a:t>
            </a:r>
            <a:br/>
            <a:r>
              <a:t>Tertiary consumers         |        10       |     0.1%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3337560"/>
            <a:ext cx="8595360" cy="15544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4290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47857"/>
                </a:solidFill>
                <a:latin typeface="Arial"/>
              </a:defRPr>
            </a:pPr>
            <a:r>
              <a:t>🧮 How to Calculate: Multiply by 0.10 for each level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94760"/>
            <a:ext cx="3931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568"/>
                </a:solidFill>
                <a:latin typeface="Arial"/>
              </a:defRPr>
            </a:pPr>
            <a:r>
              <a:t>Level 2: 10,000 × 0.10 = 1,000</a:t>
            </a:r>
            <a:br/>
            <a:r>
              <a:t>Level 3: 1,000 × 0.10 = 100</a:t>
            </a:r>
            <a:br/>
            <a:r>
              <a:t>Level 4: 100 × 0.10 =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794760"/>
            <a:ext cx="4114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53030"/>
                </a:solidFill>
                <a:latin typeface="Arial"/>
              </a:defRPr>
            </a:pPr>
            <a:r>
              <a:t>📝 Complete Station 1 form</a:t>
            </a:r>
            <a:br/>
            <a:r>
              <a:t>Apply the 10% rule and explain</a:t>
            </a:r>
            <a:br/>
            <a:r>
              <a:t>why energy decreases at each level.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7772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Georgia"/>
              </a:defRPr>
            </a:pPr>
            <a:r>
              <a:t>⚖️ Station 2 – Biomass Calculations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20 Points | ~15 min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8595360" cy="109728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Arial"/>
              </a:defRPr>
            </a:pPr>
            <a:r>
              <a:t>⚖️ Your Mission: Calculate Biomass and Energy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568"/>
                </a:solidFill>
                <a:latin typeface="Arial"/>
              </a:defRPr>
            </a:pPr>
            <a:r>
              <a:t>Use real Serengeti data to calculate biomass ratios and predict population changes.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331720"/>
            <a:ext cx="8595360" cy="256032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423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Arial"/>
              </a:defRPr>
            </a:pPr>
            <a:r>
              <a:t>📊 Serengeti Ecosystem Data: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3464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568"/>
                </a:solidFill>
                <a:latin typeface="Arial"/>
              </a:defRPr>
            </a:pPr>
            <a:r>
              <a:t>Trophic Level           |  Biomass (kg/km²)  |  Population/100 km²</a:t>
            </a:r>
            <a:br/>
            <a:r>
              <a:t>────────────────────────────────────────────────────────────────</a:t>
            </a:r>
            <a:br/>
            <a:r>
              <a:t>Producers (grasses)     |    4,000,000       |        N/A</a:t>
            </a:r>
            <a:br/>
            <a:r>
              <a:t>Primary (wildebeest)    |      400,000       |      1,500</a:t>
            </a:r>
            <a:br/>
            <a:r>
              <a:t>Secondary (lions)       |       40,000       |        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C3AED"/>
                </a:solidFill>
                <a:latin typeface="Arial"/>
              </a:defRPr>
            </a:pPr>
            <a:r>
              <a:t>Conversion: 1 kg biomass ≈ 5 kcal stored energy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6400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Georgia"/>
              </a:defRPr>
            </a:pPr>
            <a:r>
              <a:t>⚖️ Station 2 – Prediction Challenge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8595360" cy="1463040"/>
          </a:xfrm>
          <a:prstGeom prst="rect">
            <a:avLst/>
          </a:prstGeom>
          <a:solidFill>
            <a:srgbClr val="FED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53030"/>
                </a:solidFill>
                <a:latin typeface="Arial"/>
              </a:defRPr>
            </a:pPr>
            <a:r>
              <a:t>🌱 SCENARIO: What if grass decreases by 50%?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8229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Arial"/>
              </a:defRPr>
            </a:pPr>
            <a:r>
              <a:t>A drought reduces grass biomass from 4,000,000 kg to 2,000,000 kg.</a:t>
            </a:r>
            <a:br/>
            <a:r>
              <a:t>Using the 10% rule, predict what happens to herbivores and predators.</a:t>
            </a:r>
            <a:br/>
            <a:r>
              <a:t>Show your calculations!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514600"/>
            <a:ext cx="4114800" cy="18288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47857"/>
                </a:solidFill>
                <a:latin typeface="Arial"/>
              </a:defRPr>
            </a:pPr>
            <a:r>
              <a:t>🧮 Calculation Help: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71800"/>
            <a:ext cx="374903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568"/>
                </a:solidFill>
                <a:latin typeface="Arial"/>
              </a:defRPr>
            </a:pPr>
            <a:r>
              <a:t>• Ratio = larger ÷ smaller</a:t>
            </a:r>
            <a:br/>
            <a:r>
              <a:t>• Energy = biomass × 5 kcal/kg</a:t>
            </a:r>
            <a:br/>
            <a:r>
              <a:t>• Example: 40,000 kg × 5 = 200,000 kcal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2514600"/>
            <a:ext cx="4297680" cy="18288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6060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C3AED"/>
                </a:solidFill>
                <a:latin typeface="Arial"/>
              </a:defRPr>
            </a:pPr>
            <a:r>
              <a:t>💭 Think About: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971800"/>
            <a:ext cx="3931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568"/>
                </a:solidFill>
                <a:latin typeface="Arial"/>
              </a:defRPr>
            </a:pPr>
            <a:r>
              <a:t>• If grass ↓ 50%, herbivores ↓ ?</a:t>
            </a:r>
            <a:br/>
            <a:r>
              <a:t>• If herbivores ↓, predators ↓ ?</a:t>
            </a:r>
            <a:br/>
            <a:r>
              <a:t>• Does the 10% rule still apply?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4480560"/>
            <a:ext cx="8595360" cy="4572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53030"/>
                </a:solidFill>
                <a:latin typeface="Arial"/>
              </a:defRPr>
            </a:pPr>
            <a:r>
              <a:t>📝 Complete Station 2 form - Calculate biomass ratios and make predictions!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7772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Georgia"/>
              </a:defRPr>
            </a:pPr>
            <a:r>
              <a:t>🌾 Station 3 – Design a Sustainable Farm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25 Points | ~20 min (Highest Value!)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8595360" cy="109728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47857"/>
                </a:solidFill>
                <a:latin typeface="Arial"/>
              </a:defRPr>
            </a:pPr>
            <a:r>
              <a:t>🌾 Engineering Challenge: Design a Sustainable Food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568"/>
                </a:solidFill>
                <a:latin typeface="Arial"/>
              </a:defRPr>
            </a:pPr>
            <a:r>
              <a:t>Use the 10% rule to design the most efficient farm to feed 1,000 people.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331720"/>
            <a:ext cx="8595360" cy="256032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423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47857"/>
                </a:solidFill>
                <a:latin typeface="Arial"/>
              </a:defRPr>
            </a:pPr>
            <a:r>
              <a:t>📋 CONSTRAINTS: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34640"/>
            <a:ext cx="39319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Arial"/>
              </a:defRPr>
            </a:pPr>
            <a:r>
              <a:t>• Goal: Feed 1,000 people</a:t>
            </a:r>
            <a:br/>
            <a:r>
              <a:t>  (2,000,000 kcal/day total)</a:t>
            </a:r>
            <a:br/>
            <a:r>
              <a:t>• Land: 100 hectares available</a:t>
            </a:r>
            <a:br/>
            <a:r>
              <a:t>• Budget: $500,000 to set 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4231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47857"/>
                </a:solidFill>
                <a:latin typeface="Arial"/>
              </a:defRPr>
            </a:pPr>
            <a:r>
              <a:t>💡 10% Rule Insight: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834640"/>
            <a:ext cx="4114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5568"/>
                </a:solidFill>
                <a:latin typeface="Arial"/>
              </a:defRPr>
            </a:pPr>
            <a:r>
              <a:t>Vegetables are 10× more efficient</a:t>
            </a:r>
            <a:br/>
            <a:r>
              <a:t>than meat!</a:t>
            </a:r>
            <a:br/>
            <a:br/>
            <a:r>
              <a:t>Why? Eating plants = 1 step</a:t>
            </a:r>
            <a:br/>
            <a:r>
              <a:t>Eating meat = 2+ steps</a:t>
            </a:r>
            <a:br/>
            <a:r>
              <a:t>(more energy lost)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6400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Georgia"/>
              </a:defRPr>
            </a:pPr>
            <a:r>
              <a:t>🌾 Station 3 – Available Options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8595360" cy="73152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47857"/>
                </a:solidFill>
                <a:latin typeface="Arial"/>
              </a:defRPr>
            </a:pPr>
            <a:r>
              <a:t>A. Vegetables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10515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5568"/>
                </a:solidFill>
                <a:latin typeface="Arial"/>
              </a:defRPr>
            </a:pPr>
            <a:r>
              <a:t>50,000 kcal/ha/day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0515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5568"/>
                </a:solidFill>
                <a:latin typeface="Arial"/>
              </a:defRPr>
            </a:pPr>
            <a:r>
              <a:t>$2,000/ha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737360"/>
            <a:ext cx="8595360" cy="73152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87451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47857"/>
                </a:solidFill>
                <a:latin typeface="Arial"/>
              </a:defRPr>
            </a:pPr>
            <a:r>
              <a:t>B. Chicken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87451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5568"/>
                </a:solidFill>
                <a:latin typeface="Arial"/>
              </a:defRPr>
            </a:pPr>
            <a:r>
              <a:t>5,000 kcal/ha/day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87451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5568"/>
                </a:solidFill>
                <a:latin typeface="Arial"/>
              </a:defRPr>
            </a:pPr>
            <a:r>
              <a:t>$5,000/ha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560320"/>
            <a:ext cx="8595360" cy="73152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69747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47857"/>
                </a:solidFill>
                <a:latin typeface="Arial"/>
              </a:defRPr>
            </a:pPr>
            <a:r>
              <a:t>C. Cattle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69747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5568"/>
                </a:solidFill>
                <a:latin typeface="Arial"/>
              </a:defRPr>
            </a:pPr>
            <a:r>
              <a:t>2,500 kcal/ha/day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69747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5568"/>
                </a:solidFill>
                <a:latin typeface="Arial"/>
              </a:defRPr>
            </a:pPr>
            <a:r>
              <a:t>$8,000/ha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383279"/>
            <a:ext cx="8595360" cy="73152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52043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47857"/>
                </a:solidFill>
                <a:latin typeface="Arial"/>
              </a:defRPr>
            </a:pPr>
            <a:r>
              <a:t>D. Fish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352043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5568"/>
                </a:solidFill>
                <a:latin typeface="Arial"/>
              </a:defRPr>
            </a:pPr>
            <a:r>
              <a:t>7,500 kcal/ha/day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352043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5568"/>
                </a:solidFill>
                <a:latin typeface="Arial"/>
              </a:defRPr>
            </a:pPr>
            <a:r>
              <a:t>$10,000/ha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251960"/>
            <a:ext cx="8595360" cy="68580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568"/>
                </a:solidFill>
                <a:latin typeface="Arial"/>
              </a:defRPr>
            </a:pPr>
            <a:r>
              <a:t>💡 Strategy: 40 ha vegetables × 50,000 = 2,000,000 kcal ✓ | Cost: 40 × $2,000 = $80,000 (under budget!)</a:t>
            </a:r>
            <a:br/>
            <a:r>
              <a:t>📝 Complete Station 3 - Design your farm and explain your choices using the 10% rule!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77724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Georgia"/>
              </a:defRPr>
            </a:pPr>
            <a:r>
              <a:t>🎓 Exit Ticket – Energy Flow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23 Points | ~15 min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8595360" cy="2286000"/>
          </a:xfrm>
          <a:prstGeom prst="rect">
            <a:avLst/>
          </a:prstGeom>
          <a:solidFill>
            <a:srgbClr val="F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B2777"/>
                </a:solidFill>
                <a:latin typeface="Arial"/>
              </a:defRPr>
            </a:pPr>
            <a:r>
              <a:t>🎓 Show What You Learned - Question Types: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568"/>
                </a:solidFill>
                <a:latin typeface="Arial"/>
              </a:defRPr>
            </a:pPr>
            <a:r>
              <a:t>• 2 NEW – Energy pyramids and 10% rule (this week)</a:t>
            </a:r>
            <a:br/>
            <a:r>
              <a:t>• 2 SPIRAL – Cycle 3 review (natural selection, adaptation)</a:t>
            </a:r>
            <a:br/>
            <a:r>
              <a:t>• 1 INTEGRATION – Connect energy limits to selection pressure</a:t>
            </a:r>
            <a:br/>
            <a:r>
              <a:t>• 1 SEP-2 – Develop a model to explain the 10% rule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3520440"/>
            <a:ext cx="8595360" cy="13716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53030"/>
                </a:solidFill>
                <a:latin typeface="Arial"/>
              </a:defRPr>
            </a:pPr>
            <a:r>
              <a:t>📝 Complete the Exit Ticket on the student page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77639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Arial"/>
              </a:defRPr>
            </a:pPr>
            <a:r>
              <a:t>This is your final assessment for Week 1. Take your time!</a:t>
            </a:r>
            <a:br/>
            <a:r>
              <a:t>Use evidence from today's activities to support your answers.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6400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Georgia"/>
              </a:defRPr>
            </a:pPr>
            <a:r>
              <a:t>🎉 Week 1 Summary: What You Learned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8595360" cy="82296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91440" cy="8229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59669"/>
                </a:solidFill>
                <a:latin typeface="Arial"/>
              </a:defRPr>
            </a:pPr>
            <a:r>
              <a:t>10% Rule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Arial"/>
              </a:defRPr>
            </a:pPr>
            <a:r>
              <a:t>Only ~10% of energy transfers between trophic levels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828800"/>
            <a:ext cx="8595360" cy="82296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828800"/>
            <a:ext cx="91440" cy="822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920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Arial"/>
              </a:defRPr>
            </a:pPr>
            <a:r>
              <a:t>Energy Loss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240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Arial"/>
              </a:defRPr>
            </a:pPr>
            <a:r>
              <a:t>90% lost to heat, waste, movement, and uneaten parts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743200"/>
            <a:ext cx="8595360" cy="82296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743200"/>
            <a:ext cx="91440" cy="8229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8346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5CF6"/>
                </a:solidFill>
                <a:latin typeface="Arial"/>
              </a:defRPr>
            </a:pPr>
            <a:r>
              <a:t>Pyramid Shape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1546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Arial"/>
              </a:defRPr>
            </a:pPr>
            <a:r>
              <a:t>Wide at bottom (producers), narrow at top (apex predators)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657600"/>
            <a:ext cx="8595360" cy="82296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3657600"/>
            <a:ext cx="91440" cy="822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749039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Arial"/>
              </a:defRPr>
            </a:pPr>
            <a:r>
              <a:t>Efficiency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069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Arial"/>
              </a:defRPr>
            </a:pPr>
            <a:r>
              <a:t>Eating lower on the food chain uses less land and energy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617720"/>
            <a:ext cx="8595360" cy="41148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47857"/>
                </a:solidFill>
                <a:latin typeface="Arial"/>
              </a:defRPr>
            </a:pPr>
            <a:r>
              <a:t>Next Week: How do invasive species disrupt energy flow?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