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2286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Energy Pyramids &amp; Trophic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Grade 8 | Cycle 4 Week 1 | MS-LS2-3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Are There More Plants Than Animals?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Look around any ecosystem:</a:t>
            </a:r>
          </a:p>
          <a:p>
            <a:pPr>
              <a:spcAft>
                <a:spcPts val="1000"/>
              </a:spcAft>
              <a:defRPr sz="2200"/>
            </a:pPr>
            <a:r>
              <a:t>  • Lots of grass, few deer, even fewer wolves</a:t>
            </a:r>
          </a:p>
          <a:p>
            <a:pPr>
              <a:spcAft>
                <a:spcPts val="1000"/>
              </a:spcAft>
              <a:defRPr sz="2200"/>
            </a:pPr>
            <a:r>
              <a:t>  • Lots of algae, few fish, even fewer sharks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• DRIVING QUESTION:</a:t>
            </a:r>
          </a:p>
          <a:p>
            <a:pPr>
              <a:spcAft>
                <a:spcPts val="1000"/>
              </a:spcAft>
              <a:defRPr sz="2200"/>
            </a:pPr>
            <a:r>
              <a:t>  Why does this pattern exist everywhere?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Trace energy flow through trophic levels</a:t>
            </a:r>
          </a:p>
          <a:p>
            <a:pPr>
              <a:spcAft>
                <a:spcPts val="1000"/>
              </a:spcAft>
              <a:defRPr sz="2200"/>
            </a:pPr>
            <a:r>
              <a:t>• Apply the 10% rule to calculate energy transfer</a:t>
            </a:r>
          </a:p>
          <a:p>
            <a:pPr>
              <a:spcAft>
                <a:spcPts val="1000"/>
              </a:spcAft>
              <a:defRPr sz="2200"/>
            </a:pPr>
            <a:r>
              <a:t>• Calculate and compare biomass at different levels</a:t>
            </a:r>
          </a:p>
          <a:p>
            <a:pPr>
              <a:spcAft>
                <a:spcPts val="1000"/>
              </a:spcAft>
              <a:defRPr sz="2200"/>
            </a:pPr>
            <a:r>
              <a:t>• Design a sustainable food production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10%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Energy transfers are INEFFICIENT</a:t>
            </a:r>
          </a:p>
          <a:p>
            <a:pPr>
              <a:spcAft>
                <a:spcPts val="1000"/>
              </a:spcAft>
              <a:defRPr sz="2200"/>
            </a:pPr>
            <a:r>
              <a:t>• Only ~10% of energy moves to the next level</a:t>
            </a:r>
          </a:p>
          <a:p>
            <a:pPr>
              <a:spcAft>
                <a:spcPts val="1000"/>
              </a:spcAft>
              <a:defRPr sz="2200"/>
            </a:pPr>
            <a:r>
              <a:t>• 90% is lost as heat, waste, or life processes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• EXAMPLE:</a:t>
            </a:r>
          </a:p>
          <a:p>
            <a:pPr>
              <a:spcAft>
                <a:spcPts val="1000"/>
              </a:spcAft>
              <a:defRPr sz="2200"/>
            </a:pPr>
            <a:r>
              <a:t>  • 10,000 J in plants → 1,000 J in herbivores</a:t>
            </a:r>
          </a:p>
          <a:p>
            <a:pPr>
              <a:spcAft>
                <a:spcPts val="1000"/>
              </a:spcAft>
              <a:defRPr sz="2200"/>
            </a:pPr>
            <a:r>
              <a:t>  • 1,000 J in herbivores → 100 J in carnivores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Today's Stations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HOOK (12 pts): The Disappearing Energy Mystery</a:t>
            </a:r>
          </a:p>
          <a:p>
            <a:pPr>
              <a:spcAft>
                <a:spcPts val="1000"/>
              </a:spcAft>
              <a:defRPr sz="2200"/>
            </a:pPr>
            <a:r>
              <a:t>• STATION 1 (20 pts): Energy Pyramid Construction</a:t>
            </a:r>
          </a:p>
          <a:p>
            <a:pPr>
              <a:spcAft>
                <a:spcPts val="1000"/>
              </a:spcAft>
              <a:defRPr sz="2200"/>
            </a:pPr>
            <a:r>
              <a:t>• STATION 2 (20 pts): Biomass Calculations</a:t>
            </a:r>
          </a:p>
          <a:p>
            <a:pPr>
              <a:spcAft>
                <a:spcPts val="1000"/>
              </a:spcAft>
              <a:defRPr sz="2200"/>
            </a:pPr>
            <a:r>
              <a:t>• STATION 3 (25 pts): Design a Sustainable Farm</a:t>
            </a:r>
          </a:p>
          <a:p>
            <a:pPr>
              <a:spcAft>
                <a:spcPts val="1000"/>
              </a:spcAft>
              <a:defRPr sz="2200"/>
            </a:pPr>
            <a:r>
              <a:t>• EXIT TICKET (23 pts): Energy Flow 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Vocabulary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Trophic Level: Position in a food chain</a:t>
            </a:r>
          </a:p>
          <a:p>
            <a:pPr>
              <a:spcAft>
                <a:spcPts val="1000"/>
              </a:spcAft>
              <a:defRPr sz="2200"/>
            </a:pPr>
            <a:r>
              <a:t>• Producer: Organism that makes its own food</a:t>
            </a:r>
          </a:p>
          <a:p>
            <a:pPr>
              <a:spcAft>
                <a:spcPts val="1000"/>
              </a:spcAft>
              <a:defRPr sz="2200"/>
            </a:pPr>
            <a:r>
              <a:t>• Consumer: Organism that eats other organisms</a:t>
            </a:r>
          </a:p>
          <a:p>
            <a:pPr>
              <a:spcAft>
                <a:spcPts val="1000"/>
              </a:spcAft>
              <a:defRPr sz="2200"/>
            </a:pPr>
            <a:r>
              <a:t>• Biomass: Total mass of living organisms</a:t>
            </a:r>
          </a:p>
          <a:p>
            <a:pPr>
              <a:spcAft>
                <a:spcPts val="1000"/>
              </a:spcAft>
              <a:defRPr sz="2200"/>
            </a:pPr>
            <a:r>
              <a:t>• Energy Pyramid: Shows energy at each trophic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Spiral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• FROM CYCLE 3 (Evolution):</a:t>
            </a:r>
          </a:p>
          <a:p>
            <a:pPr>
              <a:spcAft>
                <a:spcPts val="1000"/>
              </a:spcAft>
              <a:defRPr sz="2200"/>
            </a:pPr>
            <a:r>
              <a:t>  • Natural selection favors efficient organisms</a:t>
            </a:r>
          </a:p>
          <a:p>
            <a:pPr>
              <a:spcAft>
                <a:spcPts val="1000"/>
              </a:spcAft>
              <a:defRPr sz="2200"/>
            </a:pPr>
            <a:r>
              <a:t>  • Adaptation to environmental conditions</a:t>
            </a:r>
          </a:p>
          <a:p>
            <a:pPr>
              <a:spcAft>
                <a:spcPts val="1000"/>
              </a:spcAft>
              <a:defRPr sz="2200"/>
            </a:pPr>
          </a:p>
          <a:p>
            <a:pPr>
              <a:spcAft>
                <a:spcPts val="1000"/>
              </a:spcAft>
              <a:defRPr sz="2200"/>
            </a:pPr>
            <a:r>
              <a:t>• TODAY'S CONNECTION:</a:t>
            </a:r>
          </a:p>
          <a:p>
            <a:pPr>
              <a:spcAft>
                <a:spcPts val="1000"/>
              </a:spcAft>
              <a:defRPr sz="2200"/>
            </a:pPr>
            <a:r>
              <a:t>  • Why organisms evolved different feeding strategies</a:t>
            </a:r>
          </a:p>
          <a:p>
            <a:pPr>
              <a:spcAft>
                <a:spcPts val="1000"/>
              </a:spcAft>
              <a:defRPr sz="2200"/>
            </a:pPr>
            <a:r>
              <a:t>  • Energy constraints shape ecosystems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