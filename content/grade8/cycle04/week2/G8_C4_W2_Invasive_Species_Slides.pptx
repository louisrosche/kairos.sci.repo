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9144000" cy="2286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Ecosystem Disruption &amp; Invasive Species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Grade 8 | Cycle 4 Week 2 | MS-LS2-3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Cane Toad Catastrophe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1935: 102 cane toads released in Australia</a:t>
            </a:r>
          </a:p>
          <a:p>
            <a:pPr>
              <a:spcAft>
                <a:spcPts val="1000"/>
              </a:spcAft>
              <a:defRPr sz="2200"/>
            </a:pPr>
            <a:r>
              <a:t>• Goal: Control beetles eating sugar cane</a:t>
            </a:r>
          </a:p>
          <a:p>
            <a:pPr>
              <a:spcAft>
                <a:spcPts val="1000"/>
              </a:spcAft>
              <a:defRPr sz="2200"/>
            </a:pPr>
            <a:r>
              <a:t>• Today: 200+ MILLION cane toads</a:t>
            </a:r>
          </a:p>
          <a:p>
            <a:pPr>
              <a:spcAft>
                <a:spcPts val="1000"/>
              </a:spcAft>
              <a:defRPr sz="2200"/>
            </a:pPr>
            <a:r>
              <a:t>• Result: Native predators dying from toad toxins</a:t>
            </a:r>
          </a:p>
          <a:p>
            <a:pPr>
              <a:spcAft>
                <a:spcPts val="1000"/>
              </a:spcAft>
              <a:defRPr sz="2200"/>
            </a:pPr>
          </a:p>
          <a:p>
            <a:pPr>
              <a:spcAft>
                <a:spcPts val="1000"/>
              </a:spcAft>
              <a:defRPr sz="2200"/>
            </a:pPr>
            <a:r>
              <a:t>• DRIVING QUESTION:</a:t>
            </a:r>
          </a:p>
          <a:p>
            <a:pPr>
              <a:spcAft>
                <a:spcPts val="1000"/>
              </a:spcAft>
              <a:defRPr sz="2200"/>
            </a:pPr>
            <a:r>
              <a:t>  How do invasive species disrupt energy flow?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Learning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Explain how invasive species disrupt energy flow</a:t>
            </a:r>
          </a:p>
          <a:p>
            <a:pPr>
              <a:spcAft>
                <a:spcPts val="1000"/>
              </a:spcAft>
              <a:defRPr sz="2200"/>
            </a:pPr>
            <a:r>
              <a:t>• Model cascade effects of species removal/addition</a:t>
            </a:r>
          </a:p>
          <a:p>
            <a:pPr>
              <a:spcAft>
                <a:spcPts val="1000"/>
              </a:spcAft>
              <a:defRPr sz="2200"/>
            </a:pPr>
            <a:r>
              <a:t>• Analyze real-world invasive species case studies</a:t>
            </a:r>
          </a:p>
          <a:p>
            <a:pPr>
              <a:spcAft>
                <a:spcPts val="1000"/>
              </a:spcAft>
              <a:defRPr sz="2200"/>
            </a:pPr>
            <a:r>
              <a:t>• Design and evaluate intervention strategies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Trophic Cascades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When one species changes, effects RIPPLE through</a:t>
            </a:r>
          </a:p>
          <a:p>
            <a:pPr>
              <a:spcAft>
                <a:spcPts val="1000"/>
              </a:spcAft>
              <a:defRPr sz="2200"/>
            </a:pPr>
          </a:p>
          <a:p>
            <a:pPr>
              <a:spcAft>
                <a:spcPts val="1000"/>
              </a:spcAft>
              <a:defRPr sz="2200"/>
            </a:pPr>
            <a:r>
              <a:t>• EXAMPLE: Remove wolves from Yellowstone</a:t>
            </a:r>
          </a:p>
          <a:p>
            <a:pPr>
              <a:spcAft>
                <a:spcPts val="1000"/>
              </a:spcAft>
              <a:defRPr sz="2200"/>
            </a:pPr>
            <a:r>
              <a:t>  → Elk population explodes</a:t>
            </a:r>
          </a:p>
          <a:p>
            <a:pPr>
              <a:spcAft>
                <a:spcPts val="1000"/>
              </a:spcAft>
              <a:defRPr sz="2200"/>
            </a:pPr>
            <a:r>
              <a:t>  → Elk overgraze plants</a:t>
            </a:r>
          </a:p>
          <a:p>
            <a:pPr>
              <a:spcAft>
                <a:spcPts val="1000"/>
              </a:spcAft>
              <a:defRPr sz="2200"/>
            </a:pPr>
            <a:r>
              <a:t>  → Riverbanks erode</a:t>
            </a:r>
          </a:p>
          <a:p>
            <a:pPr>
              <a:spcAft>
                <a:spcPts val="1000"/>
              </a:spcAft>
              <a:defRPr sz="2200"/>
            </a:pPr>
            <a:r>
              <a:t>  → Fish habitat destroyed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Today's Stations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HOOK (12 pts): The Cane Toad Mystery</a:t>
            </a:r>
          </a:p>
          <a:p>
            <a:pPr>
              <a:spcAft>
                <a:spcPts val="1000"/>
              </a:spcAft>
              <a:defRPr sz="2200"/>
            </a:pPr>
            <a:r>
              <a:t>• STATION 1 (20 pts): Cascade Effect Modeling</a:t>
            </a:r>
          </a:p>
          <a:p>
            <a:pPr>
              <a:spcAft>
                <a:spcPts val="1000"/>
              </a:spcAft>
              <a:defRPr sz="2200"/>
            </a:pPr>
            <a:r>
              <a:t>• STATION 2 (20 pts): Invasive Species Case Studies</a:t>
            </a:r>
          </a:p>
          <a:p>
            <a:pPr>
              <a:spcAft>
                <a:spcPts val="1000"/>
              </a:spcAft>
              <a:defRPr sz="2200"/>
            </a:pPr>
            <a:r>
              <a:t>• STATION 3 (25 pts): Design an Intervention</a:t>
            </a:r>
          </a:p>
          <a:p>
            <a:pPr>
              <a:spcAft>
                <a:spcPts val="1000"/>
              </a:spcAft>
              <a:defRPr sz="2200"/>
            </a:pPr>
            <a:r>
              <a:t>• EXIT TICKET (23 pts): Ecosystem Dynamics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Invasive Species: Non-native species that causes harm</a:t>
            </a:r>
          </a:p>
          <a:p>
            <a:pPr>
              <a:spcAft>
                <a:spcPts val="1000"/>
              </a:spcAft>
              <a:defRPr sz="2200"/>
            </a:pPr>
            <a:r>
              <a:t>• Trophic Cascade: Changes rippling through food web</a:t>
            </a:r>
          </a:p>
          <a:p>
            <a:pPr>
              <a:spcAft>
                <a:spcPts val="1000"/>
              </a:spcAft>
              <a:defRPr sz="2200"/>
            </a:pPr>
            <a:r>
              <a:t>• Keystone Species: Species with outsized ecosystem impact</a:t>
            </a:r>
          </a:p>
          <a:p>
            <a:pPr>
              <a:spcAft>
                <a:spcPts val="1000"/>
              </a:spcAft>
              <a:defRPr sz="2200"/>
            </a:pPr>
            <a:r>
              <a:t>• Ecosystem Resilience: Ability to recover from disruption</a:t>
            </a:r>
          </a:p>
          <a:p>
            <a:pPr>
              <a:spcAft>
                <a:spcPts val="1000"/>
              </a:spcAft>
              <a:defRPr sz="2200"/>
            </a:pPr>
            <a:r>
              <a:t>• Biodiversity: Variety of species in an ecosystem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Connecting to Prior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891B2"/>
                </a:solidFill>
              </a:defRPr>
            </a:pPr>
            <a:r>
              <a:t>Week 1: Energy Pyramids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Energy flows through trophic levels</a:t>
            </a:r>
          </a:p>
          <a:p>
            <a:pPr>
              <a:spcAft>
                <a:spcPts val="800"/>
              </a:spcAft>
              <a:defRPr sz="1800"/>
            </a:pPr>
            <a:r>
              <a:t>• 10% rule limits energy transfer</a:t>
            </a:r>
          </a:p>
          <a:p>
            <a:pPr>
              <a:spcAft>
                <a:spcPts val="800"/>
              </a:spcAft>
              <a:defRPr sz="1800"/>
            </a:pPr>
            <a:r>
              <a:t>• Biomass decreases up the pyramid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891B2"/>
                </a:solidFill>
              </a:defRPr>
            </a:pPr>
            <a:r>
              <a:t>Week 2: Disruption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What happens when levels change?</a:t>
            </a:r>
          </a:p>
          <a:p>
            <a:pPr>
              <a:spcAft>
                <a:spcPts val="800"/>
              </a:spcAft>
              <a:defRPr sz="1800"/>
            </a:pPr>
            <a:r>
              <a:t>• Cascade effects through system</a:t>
            </a:r>
          </a:p>
          <a:p>
            <a:pPr>
              <a:spcAft>
                <a:spcPts val="800"/>
              </a:spcAft>
              <a:defRPr sz="1800"/>
            </a:pPr>
            <a:r>
              <a:t>• Stability vs. change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