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  <a:latin typeface="Arial"/>
              </a:defRPr>
            </a:pPr>
            <a:r>
              <a:t>🐸 ⚠️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Georgia"/>
              </a:defRPr>
            </a:pPr>
            <a:r>
              <a:t>Week 2: Ecosystem Disruption &amp; Invasive Species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rial"/>
              </a:defRPr>
            </a:pPr>
            <a:r>
              <a:t>Grade 8 Science | Cycle 4 | Rosche | Kairos Academies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rial"/>
              </a:defRPr>
            </a:pPr>
            <a:r>
              <a:t>MS-LS2-3 &amp; MS-LS2-4 Ecosystem Disruption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rial"/>
              </a:defRPr>
            </a:pPr>
            <a:r>
              <a:t>100 Points Total | ~75 Minutes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6400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Georgia"/>
              </a:defRPr>
            </a:pPr>
            <a:r>
              <a:t>🐸 The Phenomenon: The Cane Toad Disaster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914400"/>
            <a:ext cx="8869680" cy="256032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3748"/>
                </a:solidFill>
                <a:latin typeface="Arial"/>
              </a:defRPr>
            </a:pPr>
            <a:r>
              <a:t>In 1935, Australia had a 'brilliant' idea: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A5568"/>
                </a:solidFill>
                <a:latin typeface="Arial"/>
              </a:defRPr>
            </a:pPr>
            <a:r>
              <a:t>• They introduced 102 cane toads from Hawaii to eat beetles</a:t>
            </a:r>
            <a:br/>
            <a:r>
              <a:t>• Today there are 200+ MILLION cane toads</a:t>
            </a:r>
            <a:br/>
            <a:r>
              <a:t>• Native predators that try to eat them DIE from their poison</a:t>
            </a:r>
            <a:br/>
            <a:r>
              <a:t>• The beetles? Still destroying crops - toads don't eat them!</a:t>
            </a:r>
            <a:br/>
            <a:br/>
            <a:r>
              <a:t>How did 102 toads become an ecological catastrophe?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" y="3611880"/>
            <a:ext cx="8869680" cy="128016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379476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🔬 KEY CONCEPT: Invasive species disrupt energy flow because they</a:t>
            </a:r>
            <a:br/>
            <a:r>
              <a:t>don't fit into existing food webs - no predators, no competition!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6400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Georgia"/>
              </a:defRPr>
            </a:pPr>
            <a:r>
              <a:t>🤔 Driving Question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7863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How do invasive species disrupt energy flow?</a:t>
            </a:r>
            <a:br/>
            <a:br/>
            <a:r>
              <a:t>Why is it so hard to stop them once they're established?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474720"/>
            <a:ext cx="8229600" cy="128016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7863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91C1C"/>
                </a:solidFill>
                <a:latin typeface="Arial"/>
              </a:defRPr>
            </a:pPr>
            <a:r>
              <a:t>🔗 Connection to Week 1:</a:t>
            </a:r>
            <a:br/>
            <a:r>
              <a:t>You learned about the 10% rule and energy pyramids.</a:t>
            </a:r>
            <a:br/>
            <a:r>
              <a:t>Invasive species break these patterns - they take energy without giving it back!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6400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Georgia"/>
              </a:defRPr>
            </a:pPr>
            <a:r>
              <a:t>💡 What You Already Know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2743200" cy="164592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0972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91C1C"/>
                </a:solidFill>
                <a:latin typeface="Arial"/>
              </a:defRPr>
            </a:pPr>
            <a:r>
              <a:t>Week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14630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5568"/>
                </a:solidFill>
                <a:latin typeface="Arial"/>
              </a:defRPr>
            </a:pPr>
            <a:r>
              <a:t>10% rule limits populations</a:t>
            </a:r>
            <a:br/>
            <a:r>
              <a:t>at each trophic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005840"/>
            <a:ext cx="2743200" cy="164592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10972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91C1C"/>
                </a:solidFill>
                <a:latin typeface="Arial"/>
              </a:defRPr>
            </a:pPr>
            <a:r>
              <a:t>Cycle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14630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5568"/>
                </a:solidFill>
                <a:latin typeface="Arial"/>
              </a:defRPr>
            </a:pPr>
            <a:r>
              <a:t>Natural selection shapes</a:t>
            </a:r>
            <a:br/>
            <a:r>
              <a:t>adaptations over time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005840"/>
            <a:ext cx="2743200" cy="164592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0972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91C1C"/>
                </a:solidFill>
                <a:latin typeface="Arial"/>
              </a:defRPr>
            </a:pPr>
            <a:r>
              <a:t>Cycle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4630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5568"/>
                </a:solidFill>
                <a:latin typeface="Arial"/>
              </a:defRPr>
            </a:pPr>
            <a:r>
              <a:t>Organisms without defenses</a:t>
            </a:r>
            <a:br/>
            <a:r>
              <a:t>are vulnerable to new threats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834640"/>
            <a:ext cx="8595360" cy="2011680"/>
          </a:xfrm>
          <a:prstGeom prst="rect">
            <a:avLst/>
          </a:prstGeom>
          <a:solidFill>
            <a:srgbClr val="FE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Arial"/>
              </a:defRPr>
            </a:pPr>
            <a:r>
              <a:t>⚠️ COMMON MISTAKE: 'Invasive = Bad Animal'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9184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91C1C"/>
                </a:solidFill>
                <a:latin typeface="Arial"/>
              </a:defRPr>
            </a:pPr>
            <a:r>
              <a:t>WRONG: 'Cane toads are invasive because they're ugly and poisonous.'</a:t>
            </a:r>
            <a:br/>
            <a:br/>
            <a:r>
              <a:t>RIGHT: 'Cane toads are invasive because they're NON-NATIVE and outcompete</a:t>
            </a:r>
            <a:br/>
            <a:r>
              <a:t>natives for resources. Native predators haven't evolved defenses against their poison.'</a:t>
            </a:r>
            <a:br/>
            <a:br/>
            <a:r>
              <a:t>KEY: 'Invasive' means non-native AND causing ecological harm - not just 'harmful'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6400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Georgia"/>
              </a:defRPr>
            </a:pPr>
            <a:r>
              <a:t>🎯 Learning Targets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8595360" cy="86868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91C1C"/>
                </a:solidFill>
                <a:latin typeface="Arial"/>
              </a:defRPr>
            </a:pPr>
            <a:r>
              <a:t>Target 1: Explain how invasive species disrupt energy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920240"/>
            <a:ext cx="8595360" cy="86868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91C1C"/>
                </a:solidFill>
                <a:latin typeface="Arial"/>
              </a:defRPr>
            </a:pPr>
            <a:r>
              <a:t>Target 2: Model the cascade effects of species removal/addition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926080"/>
            <a:ext cx="8595360" cy="86868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0632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91C1C"/>
                </a:solidFill>
                <a:latin typeface="Arial"/>
              </a:defRPr>
            </a:pPr>
            <a:r>
              <a:t>Target 3: Analyze real-world invasive species case studies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931920"/>
            <a:ext cx="8595360" cy="86868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91C1C"/>
                </a:solidFill>
                <a:latin typeface="Arial"/>
              </a:defRPr>
            </a:pPr>
            <a:r>
              <a:t>Target 4: Design and evaluate intervention strategies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6400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Georgia"/>
              </a:defRPr>
            </a:pPr>
            <a:r>
              <a:t>📚 Key Vocabulary This Week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68680"/>
            <a:ext cx="8595360" cy="6400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91C1C"/>
                </a:solidFill>
                <a:latin typeface="Arial"/>
              </a:defRPr>
            </a:pPr>
            <a:r>
              <a:t>Invasive Species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96012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Non-native species that outcompetes natives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54480"/>
            <a:ext cx="8595360" cy="6400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91C1C"/>
                </a:solidFill>
                <a:latin typeface="Arial"/>
              </a:defRPr>
            </a:pPr>
            <a:r>
              <a:t>Trophic Cascade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64592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Effects rippling through multiple food web levels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240280"/>
            <a:ext cx="8595360" cy="6400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91C1C"/>
                </a:solidFill>
                <a:latin typeface="Arial"/>
              </a:defRPr>
            </a:pPr>
            <a:r>
              <a:t>Keystone Species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33172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Species with outsized ecosystem effects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926080"/>
            <a:ext cx="8595360" cy="6400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017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91C1C"/>
                </a:solidFill>
                <a:latin typeface="Arial"/>
              </a:defRPr>
            </a:pPr>
            <a:r>
              <a:t>Ecological Niche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01752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A species' role (what it eats, where it lives)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611880"/>
            <a:ext cx="8595360" cy="6400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703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91C1C"/>
                </a:solidFill>
                <a:latin typeface="Arial"/>
              </a:defRPr>
            </a:pPr>
            <a:r>
              <a:t>Top-Down Cascade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70332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Predator changes affecting all levels below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297680"/>
            <a:ext cx="8595360" cy="6400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389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91C1C"/>
                </a:solidFill>
                <a:latin typeface="Arial"/>
              </a:defRPr>
            </a:pPr>
            <a:r>
              <a:t>Biocontrol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438912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Using living organisms to control pests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Georgia"/>
              </a:defRPr>
            </a:pPr>
            <a:r>
              <a:t>🐸 Hook – The Cane Toad Disaster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12 Points | ~10 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201168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Arial"/>
              </a:defRPr>
            </a:pPr>
            <a:r>
              <a:t>🐸 The Challenge: Why did the population explode?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Arial"/>
              </a:defRPr>
            </a:pPr>
            <a:r>
              <a:t>1. Watch the cane toad population explosion (2 min)</a:t>
            </a:r>
            <a:br/>
            <a:r>
              <a:t>2. Predict WHY using Week 1 concepts - 10% rule (3 min)</a:t>
            </a:r>
            <a:br/>
            <a:r>
              <a:t>3. Connect to Cycle 3: natural selection and adaptation (3 min)</a:t>
            </a:r>
            <a:br/>
            <a:r>
              <a:t>4. Answer diagnostic questions (2 min)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3246120"/>
            <a:ext cx="8595360" cy="164592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Arial"/>
              </a:defRPr>
            </a:pPr>
            <a:r>
              <a:t>💭 Think About This: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033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Arial"/>
              </a:defRPr>
            </a:pPr>
            <a:r>
              <a:t>• What normally limits a population? (predators, competition, disease)</a:t>
            </a:r>
            <a:br/>
            <a:r>
              <a:t>• What happens when none of those limits exist?</a:t>
            </a:r>
            <a:br/>
            <a:r>
              <a:t>• Why haven't Australian predators evolved to eat toads?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Georgia"/>
              </a:defRPr>
            </a:pPr>
            <a:r>
              <a:t>🐸 Hook – Cane Toad Population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4114800" cy="22860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Arial"/>
              </a:defRPr>
            </a:pPr>
            <a:r>
              <a:t>📊 Population Explosion: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74903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Arial"/>
              </a:defRPr>
            </a:pPr>
            <a:r>
              <a:t>Year     |  Population</a:t>
            </a:r>
            <a:br/>
            <a:r>
              <a:t>1935     |       102</a:t>
            </a:r>
            <a:br/>
            <a:r>
              <a:t>1950     |    ~10,000</a:t>
            </a:r>
            <a:br/>
            <a:r>
              <a:t>1980     |   ~1 million</a:t>
            </a:r>
            <a:br/>
            <a:r>
              <a:t>2010     |  ~100 million</a:t>
            </a:r>
            <a:br/>
            <a:r>
              <a:t>Today    |  200+ million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914400"/>
            <a:ext cx="4297680" cy="228600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Arial"/>
              </a:defRPr>
            </a:pPr>
            <a:r>
              <a:t>❓ Why No Control?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371600"/>
            <a:ext cx="3931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Arial"/>
              </a:defRPr>
            </a:pPr>
            <a:r>
              <a:t>• No natural predators in Australia</a:t>
            </a:r>
            <a:br/>
            <a:r>
              <a:t>• Native predators die eating them</a:t>
            </a:r>
            <a:br/>
            <a:r>
              <a:t>• Toads eat almost anything</a:t>
            </a:r>
            <a:br/>
            <a:r>
              <a:t>• Breed rapidly (30,000 eggs/year)</a:t>
            </a:r>
            <a:br/>
            <a:r>
              <a:t>• Evolution takes too long!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383280"/>
            <a:ext cx="8595360" cy="150876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Arial"/>
              </a:defRPr>
            </a:pPr>
            <a:r>
              <a:t>📝 Complete the Hook form on the student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Explain WHY the population doubled every 5-10 years using:</a:t>
            </a:r>
            <a:br/>
            <a:r>
              <a:t>• The 10% rule (Week 1) and • Natural selection (Cycle 3)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Georgia"/>
              </a:defRPr>
            </a:pPr>
            <a:r>
              <a:t>🔗 Station 1 – Modeling Trophic Cascades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20 Points | ~18 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11887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Arial"/>
              </a:defRPr>
            </a:pPr>
            <a:r>
              <a:t>🔗 Your Mission: Model Cascade Effects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Arial"/>
              </a:defRPr>
            </a:pPr>
            <a:r>
              <a:t>When one species changes, effects RIPPLE through ALL trophic levels -</a:t>
            </a:r>
            <a:br/>
            <a:r>
              <a:t>like dominoes falling!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423160"/>
            <a:ext cx="4114800" cy="246888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5146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59669"/>
                </a:solidFill>
                <a:latin typeface="Arial"/>
              </a:defRPr>
            </a:pPr>
            <a:r>
              <a:t>⬇️ Top-Down Cascade: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80360"/>
            <a:ext cx="374903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Predator → Prey → Plants</a:t>
            </a:r>
            <a:br/>
            <a:br/>
            <a:r>
              <a:t>Example: Wolves removed →</a:t>
            </a:r>
            <a:br/>
            <a:r>
              <a:t>Deer overpopulate →</a:t>
            </a:r>
            <a:br/>
            <a:r>
              <a:t>Trees die →</a:t>
            </a:r>
            <a:br/>
            <a:r>
              <a:t>Rivers change course!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2423160"/>
            <a:ext cx="4297680" cy="24688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5146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Arial"/>
              </a:defRPr>
            </a:pPr>
            <a:r>
              <a:t>⬆️ Bottom-Up Cascade: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880360"/>
            <a:ext cx="3931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Plants → Herbivores → Predators</a:t>
            </a:r>
            <a:br/>
            <a:br/>
            <a:r>
              <a:t>Example: Drought kills grass →</a:t>
            </a:r>
            <a:br/>
            <a:r>
              <a:t>Zebras starve →</a:t>
            </a:r>
            <a:br/>
            <a:r>
              <a:t>Lions decline →</a:t>
            </a:r>
            <a:br/>
            <a:r>
              <a:t>Ecosystem collapses!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Georgia"/>
              </a:defRPr>
            </a:pPr>
            <a:r>
              <a:t>🔗 Station 1 – Yellowstone Wolf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8595360" cy="228600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Arial"/>
              </a:defRPr>
            </a:pPr>
            <a:r>
              <a:t>🐺 Case Study: Yellowstone Wolves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Arial"/>
              </a:defRPr>
            </a:pPr>
            <a:r>
              <a:t>When wolves were REMOVED (1926):          When wolves RETURNED (1995):</a:t>
            </a:r>
            <a:br/>
            <a:r>
              <a:t>• Elk population exploded                    • Elk population decreased</a:t>
            </a:r>
            <a:br/>
            <a:r>
              <a:t>• Elk ate all the willows/aspens            • Trees grew back near rivers</a:t>
            </a:r>
            <a:br/>
            <a:r>
              <a:t>• Riverbanks eroded                          • Riverbanks stabilized</a:t>
            </a:r>
            <a:br/>
            <a:r>
              <a:t>• Beavers couldn't build dams               • Beavers returned</a:t>
            </a:r>
            <a:br/>
            <a:r>
              <a:t>• Fish populations crashed                   • Fish populations recovered</a:t>
            </a:r>
            <a:br/>
            <a:r>
              <a:t>• Songbirds left (no trees)                  • Songbirds returned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3337560"/>
            <a:ext cx="8595360" cy="15544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Arial"/>
              </a:defRPr>
            </a:pPr>
            <a:r>
              <a:t>📝 Complete Station 1 form - Model a cascade!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947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Draw a food web and predict what happens when one species is:</a:t>
            </a:r>
            <a:br/>
            <a:r>
              <a:t>• Removed (like wolves in Yellowstone) OR • Added (like cane toads in Australia)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7772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Georgia"/>
              </a:defRPr>
            </a:pPr>
            <a:r>
              <a:t>📊 Station 2 – Case Study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20 Points | ~15 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109728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Arial"/>
              </a:defRPr>
            </a:pPr>
            <a:r>
              <a:t>📊 Your Mission: Analyze Real Invasive Species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Arial"/>
              </a:defRPr>
            </a:pPr>
            <a:r>
              <a:t>Compare four famous invasive species and identify patterns.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331720"/>
            <a:ext cx="8595360" cy="256032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423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Arial"/>
              </a:defRPr>
            </a:pPr>
            <a:r>
              <a:t>📈 Case Study Comparison: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34640"/>
            <a:ext cx="8229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568"/>
                </a:solidFill>
                <a:latin typeface="Arial"/>
              </a:defRPr>
            </a:pPr>
            <a:r>
              <a:t>Species         |  Location      |  Why Invasive?             |  Impact</a:t>
            </a:r>
            <a:br/>
            <a:r>
              <a:t>───────────────────────────────────────────────────────────────────────</a:t>
            </a:r>
            <a:br/>
            <a:r>
              <a:t>Cane Toad       |  Australia     |  Poisonous, no predators   |  Kills native predators</a:t>
            </a:r>
            <a:br/>
            <a:r>
              <a:t>Zebra Mussel    |  Great Lakes   |  Reproduces fast           |  Clogs pipes, starves fish</a:t>
            </a:r>
            <a:br/>
            <a:r>
              <a:t>Kudzu           |  Southern US   |  Grows 1 ft/day            |  Smothers native trees</a:t>
            </a:r>
            <a:br/>
            <a:r>
              <a:t>Brown Tree Snake|  Guam          |  No native defenses        |  10/12 bird species EXTINCT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640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Georgia"/>
              </a:defRPr>
            </a:pPr>
            <a:r>
              <a:t>📊 Station 2 – Pattern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4114800" cy="21031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59669"/>
                </a:solidFill>
                <a:latin typeface="Arial"/>
              </a:defRPr>
            </a:pPr>
            <a:r>
              <a:t>✅ Common Patterns: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74903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Arial"/>
              </a:defRPr>
            </a:pPr>
            <a:r>
              <a:t>• Non-native (from elsewhere)</a:t>
            </a:r>
            <a:br/>
            <a:r>
              <a:t>• No natural predators</a:t>
            </a:r>
            <a:br/>
            <a:r>
              <a:t>• Reproduce rapidly</a:t>
            </a:r>
            <a:br/>
            <a:r>
              <a:t>• Outcompete natives</a:t>
            </a:r>
            <a:br/>
            <a:r>
              <a:t>• Natives lack defenses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914400"/>
            <a:ext cx="4297680" cy="210312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91C1C"/>
                </a:solidFill>
                <a:latin typeface="Arial"/>
              </a:defRPr>
            </a:pPr>
            <a:r>
              <a:t>🔗 Connection to Cycle 3: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371600"/>
            <a:ext cx="3931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Arial"/>
              </a:defRPr>
            </a:pPr>
            <a:r>
              <a:t>Why don't natives evolve?</a:t>
            </a:r>
            <a:br/>
            <a:br/>
            <a:r>
              <a:t>• Evolution takes THOUSANDS</a:t>
            </a:r>
            <a:br/>
            <a:r>
              <a:t>  of generations</a:t>
            </a:r>
            <a:br/>
            <a:r>
              <a:t>• Invasives spread in YEARS</a:t>
            </a:r>
            <a:br/>
            <a:r>
              <a:t>• Not enough time to adapt!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200400"/>
            <a:ext cx="8595360" cy="169164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Arial"/>
              </a:defRPr>
            </a:pPr>
            <a:r>
              <a:t>📝 Complete Station 2 form - Identify patterns across case studies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• What do ALL invasive species have in common?</a:t>
            </a:r>
            <a:br/>
            <a:r>
              <a:t>• Why are islands especially vulnerable?</a:t>
            </a:r>
            <a:br/>
            <a:r>
              <a:t>• How does this connect to the 10% rule and natural selection?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7772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Georgia"/>
              </a:defRPr>
            </a:pPr>
            <a:r>
              <a:t>🔧 Station 3 – Design Intervention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25 Points | ~20 min (Highest Value!)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109728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59669"/>
                </a:solidFill>
                <a:latin typeface="Arial"/>
              </a:defRPr>
            </a:pPr>
            <a:r>
              <a:t>🔧 Engineering Challenge: Design a Biocontrol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Arial"/>
              </a:defRPr>
            </a:pPr>
            <a:r>
              <a:t>Propose a strategy to control cane toads while minimizing unintended consequences.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331720"/>
            <a:ext cx="8595360" cy="25603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423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59669"/>
                </a:solidFill>
                <a:latin typeface="Arial"/>
              </a:defRPr>
            </a:pPr>
            <a:r>
              <a:t>📋 Available Intervention Options: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34640"/>
            <a:ext cx="3931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Arial"/>
              </a:defRPr>
            </a:pPr>
            <a:r>
              <a:t>Physical removal:</a:t>
            </a:r>
            <a:br/>
            <a:r>
              <a:t>• Trapping (labor-intensive)</a:t>
            </a:r>
            <a:br/>
            <a:r>
              <a:t>• Fencing (limited areas)</a:t>
            </a:r>
            <a:br/>
            <a:r>
              <a:t>• Community hunts ($$ prizes)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834640"/>
            <a:ext cx="4114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Arial"/>
              </a:defRPr>
            </a:pPr>
            <a:r>
              <a:t>Biological control:</a:t>
            </a:r>
            <a:br/>
            <a:r>
              <a:t>• Introduce predator (RISKY!)</a:t>
            </a:r>
            <a:br/>
            <a:r>
              <a:t>• Species-specific virus</a:t>
            </a:r>
            <a:br/>
            <a:r>
              <a:t>• Gene drive technology</a:t>
            </a:r>
            <a:br/>
            <a:r>
              <a:t>• Train natives to avoid toads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640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Georgia"/>
              </a:defRPr>
            </a:pPr>
            <a:r>
              <a:t>🔧 Station 3 – Risk Assessment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8595360" cy="7315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Arial"/>
              </a:defRPr>
            </a:pPr>
            <a:r>
              <a:t>Trapping/Removal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10058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5568"/>
                </a:solidFill>
                <a:latin typeface="Arial"/>
              </a:defRPr>
            </a:pPr>
            <a:r>
              <a:t>Low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0058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5568"/>
                </a:solidFill>
                <a:latin typeface="Arial"/>
              </a:defRPr>
            </a:pPr>
            <a:r>
              <a:t>High cost, slow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0058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568"/>
                </a:solidFill>
                <a:latin typeface="Arial"/>
              </a:defRPr>
            </a:pPr>
            <a:r>
              <a:t>Can't keep up with breeding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737360"/>
            <a:ext cx="8595360" cy="7315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Arial"/>
              </a:defRPr>
            </a:pPr>
            <a:r>
              <a:t>Introduce predator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8288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91C1C"/>
                </a:solidFill>
                <a:latin typeface="Arial"/>
              </a:defRPr>
            </a:pPr>
            <a:r>
              <a:t>HIGH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828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5568"/>
                </a:solidFill>
                <a:latin typeface="Arial"/>
              </a:defRPr>
            </a:pPr>
            <a:r>
              <a:t>Could backfire!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828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568"/>
                </a:solidFill>
                <a:latin typeface="Arial"/>
              </a:defRPr>
            </a:pPr>
            <a:r>
              <a:t>Might become next invasive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560320"/>
            <a:ext cx="8595360" cy="7315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517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Arial"/>
              </a:defRPr>
            </a:pPr>
            <a:r>
              <a:t>Species-specific virus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6517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5568"/>
                </a:solidFill>
                <a:latin typeface="Arial"/>
              </a:defRPr>
            </a:pPr>
            <a:r>
              <a:t>Medium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6517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5568"/>
                </a:solidFill>
                <a:latin typeface="Arial"/>
              </a:defRPr>
            </a:pPr>
            <a:r>
              <a:t>High effectiveness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6517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568"/>
                </a:solidFill>
                <a:latin typeface="Arial"/>
              </a:defRPr>
            </a:pPr>
            <a:r>
              <a:t>What if it mutates?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383279"/>
            <a:ext cx="8595360" cy="7315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4747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Arial"/>
              </a:defRPr>
            </a:pPr>
            <a:r>
              <a:t>Train native predators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4747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5568"/>
                </a:solidFill>
                <a:latin typeface="Arial"/>
              </a:defRPr>
            </a:pPr>
            <a:r>
              <a:t>Low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4747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5568"/>
                </a:solidFill>
                <a:latin typeface="Arial"/>
              </a:defRPr>
            </a:pPr>
            <a:r>
              <a:t>Moderate effect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4747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568"/>
                </a:solidFill>
                <a:latin typeface="Arial"/>
              </a:defRPr>
            </a:pPr>
            <a:r>
              <a:t>Takes time, limited reach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251960"/>
            <a:ext cx="8595360" cy="6858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Arial"/>
              </a:defRPr>
            </a:pPr>
            <a:r>
              <a:t>📝 Complete Station 3 - Design your intervention plan!</a:t>
            </a:r>
            <a:br/>
            <a:r>
              <a:t>Consider: What are the trade-offs? Could your solution cause NEW problems?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7772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Georgia"/>
              </a:defRPr>
            </a:pPr>
            <a:r>
              <a:t>🎓 Exit Ticket – Ecosystem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23 Points | ~15 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2286000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C4899"/>
                </a:solidFill>
                <a:latin typeface="Arial"/>
              </a:defRPr>
            </a:pPr>
            <a:r>
              <a:t>🎓 Show What You Learned - Question Types: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Arial"/>
              </a:defRPr>
            </a:pPr>
            <a:r>
              <a:t>• 2 NEW – Invasive species and trophic cascades (this week)</a:t>
            </a:r>
            <a:br/>
            <a:r>
              <a:t>• 2 SPIRAL – Week 1 review (10% rule, energy pyramids)</a:t>
            </a:r>
            <a:br/>
            <a:r>
              <a:t>• 1 INTEGRATION – Connect energy limits to cascade effects</a:t>
            </a:r>
            <a:br/>
            <a:r>
              <a:t>• 1 SEP-2 – Develop a model showing cascade effects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3520440"/>
            <a:ext cx="8595360" cy="13716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Arial"/>
              </a:defRPr>
            </a:pPr>
            <a:r>
              <a:t>📝 Complete the Exit Ticket on the student 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77639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Arial"/>
              </a:defRPr>
            </a:pPr>
            <a:r>
              <a:t>This is your final assessment for Week 2. Take your time!</a:t>
            </a:r>
            <a:br/>
            <a:r>
              <a:t>Use evidence from both Week 1 and Week 2 activities.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6400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Georgia"/>
              </a:defRPr>
            </a:pPr>
            <a:r>
              <a:t>🎉 Week 2 Summary: What You Learned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8595360" cy="82296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914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C2626"/>
                </a:solidFill>
                <a:latin typeface="Arial"/>
              </a:defRPr>
            </a:pPr>
            <a:r>
              <a:t>Invasive Species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Non-native + no predators + fast breeding = population explosion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828800"/>
            <a:ext cx="8595360" cy="82296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828800"/>
            <a:ext cx="91440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Arial"/>
              </a:defRPr>
            </a:pPr>
            <a:r>
              <a:t>Trophic Cascades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40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Effects ripple through ALL levels - up AND down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743200"/>
            <a:ext cx="8595360" cy="82296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743200"/>
            <a:ext cx="91440" cy="8229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8346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Arial"/>
              </a:defRPr>
            </a:pPr>
            <a:r>
              <a:t>Evolution Too Slow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154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Natural selection can't keep up with invasive spread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657600"/>
            <a:ext cx="8595360" cy="82296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657600"/>
            <a:ext cx="91440" cy="8229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749039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59669"/>
                </a:solidFill>
                <a:latin typeface="Arial"/>
              </a:defRPr>
            </a:pPr>
            <a:r>
              <a:t>Interventions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069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All solutions have trade-offs - some could backfire!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91C1C"/>
                </a:solidFill>
                <a:latin typeface="Arial"/>
              </a:defRPr>
            </a:pPr>
            <a:r>
              <a:t>Next Week: Assessment – Show what you've learned about ecosystems and energy!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