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Eutrophication &amp; Dead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Grade 7 | Cycle 4 Week 2 | MS-ESS3-3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Green Lake Mystery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2014: Lake Erie turned bright green</a:t>
            </a:r>
          </a:p>
          <a:p>
            <a:pPr>
              <a:spcAft>
                <a:spcPts val="1000"/>
              </a:spcAft>
              <a:defRPr sz="2200"/>
            </a:pPr>
            <a:r>
              <a:t>• 500,000 people couldn't drink their tap water</a:t>
            </a:r>
          </a:p>
          <a:p>
            <a:pPr>
              <a:spcAft>
                <a:spcPts val="1000"/>
              </a:spcAft>
              <a:defRPr sz="2200"/>
            </a:pPr>
            <a:r>
              <a:t>• Fish died by the thousands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• DRIVING QUESTION:</a:t>
            </a:r>
          </a:p>
          <a:p>
            <a:pPr>
              <a:spcAft>
                <a:spcPts val="1000"/>
              </a:spcAft>
              <a:defRPr sz="2200"/>
            </a:pPr>
            <a:r>
              <a:t>  How did fertilizer end up poisoning a lake?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Trace nitrogen and phosphorus through ecosystems</a:t>
            </a:r>
          </a:p>
          <a:p>
            <a:pPr>
              <a:spcAft>
                <a:spcPts val="1000"/>
              </a:spcAft>
              <a:defRPr sz="2200"/>
            </a:pPr>
            <a:r>
              <a:t>• Explain the eutrophication cascade</a:t>
            </a:r>
          </a:p>
          <a:p>
            <a:pPr>
              <a:spcAft>
                <a:spcPts val="1000"/>
              </a:spcAft>
              <a:defRPr sz="2200"/>
            </a:pPr>
            <a:r>
              <a:t>• Analyze Gulf of Mexico dead zone data</a:t>
            </a:r>
          </a:p>
          <a:p>
            <a:pPr>
              <a:spcAft>
                <a:spcPts val="1000"/>
              </a:spcAft>
              <a:defRPr sz="2200"/>
            </a:pPr>
            <a:r>
              <a:t>• Design a remediation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Eutrophication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1. Nutrients (N, P) run off into water</a:t>
            </a:r>
          </a:p>
          <a:p>
            <a:pPr>
              <a:spcAft>
                <a:spcPts val="1000"/>
              </a:spcAft>
              <a:defRPr sz="2200"/>
            </a:pPr>
            <a:r>
              <a:t>• 2. Algae grow explosively (bloom)</a:t>
            </a:r>
          </a:p>
          <a:p>
            <a:pPr>
              <a:spcAft>
                <a:spcPts val="1000"/>
              </a:spcAft>
              <a:defRPr sz="2200"/>
            </a:pPr>
            <a:r>
              <a:t>• 3. Algae die and sink to bottom</a:t>
            </a:r>
          </a:p>
          <a:p>
            <a:pPr>
              <a:spcAft>
                <a:spcPts val="1000"/>
              </a:spcAft>
              <a:defRPr sz="2200"/>
            </a:pPr>
            <a:r>
              <a:t>• 4. Bacteria decompose dead algae</a:t>
            </a:r>
          </a:p>
          <a:p>
            <a:pPr>
              <a:spcAft>
                <a:spcPts val="1000"/>
              </a:spcAft>
              <a:defRPr sz="2200"/>
            </a:pPr>
            <a:r>
              <a:t>• 5. Decomposition uses up oxygen</a:t>
            </a:r>
          </a:p>
          <a:p>
            <a:pPr>
              <a:spcAft>
                <a:spcPts val="1000"/>
              </a:spcAft>
              <a:defRPr sz="2200"/>
            </a:pPr>
            <a:r>
              <a:t>• 6. Low oxygen = DEAD ZONE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Today's Stations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HOOK (12 pts): The Green Lake Mystery</a:t>
            </a:r>
          </a:p>
          <a:p>
            <a:pPr>
              <a:spcAft>
                <a:spcPts val="1000"/>
              </a:spcAft>
              <a:defRPr sz="2200"/>
            </a:pPr>
            <a:r>
              <a:t>• STATION 1 (20 pts): Nutrient Cycle Modeling</a:t>
            </a:r>
          </a:p>
          <a:p>
            <a:pPr>
              <a:spcAft>
                <a:spcPts val="1000"/>
              </a:spcAft>
              <a:defRPr sz="2200"/>
            </a:pPr>
            <a:r>
              <a:t>• STATION 2 (20 pts): Dead Zone Data Analysis</a:t>
            </a:r>
          </a:p>
          <a:p>
            <a:pPr>
              <a:spcAft>
                <a:spcPts val="1000"/>
              </a:spcAft>
              <a:defRPr sz="2200"/>
            </a:pPr>
            <a:r>
              <a:t>• STATION 3 (25 pts): Design a Remediation Plan</a:t>
            </a:r>
          </a:p>
          <a:p>
            <a:pPr>
              <a:spcAft>
                <a:spcPts val="1000"/>
              </a:spcAft>
              <a:defRPr sz="2200"/>
            </a:pPr>
            <a:r>
              <a:t>• EXIT TICKET (23 pts): Biogeochemical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Eutrophication: Excess nutrients cause algae overgrowth</a:t>
            </a:r>
          </a:p>
          <a:p>
            <a:pPr>
              <a:spcAft>
                <a:spcPts val="1000"/>
              </a:spcAft>
              <a:defRPr sz="2200"/>
            </a:pPr>
            <a:r>
              <a:t>• Dead Zone: Area with oxygen too low for marine life</a:t>
            </a:r>
          </a:p>
          <a:p>
            <a:pPr>
              <a:spcAft>
                <a:spcPts val="1000"/>
              </a:spcAft>
              <a:defRPr sz="2200"/>
            </a:pPr>
            <a:r>
              <a:t>• Hypoxia: Low oxygen conditions</a:t>
            </a:r>
          </a:p>
          <a:p>
            <a:pPr>
              <a:spcAft>
                <a:spcPts val="1000"/>
              </a:spcAft>
              <a:defRPr sz="2200"/>
            </a:pPr>
            <a:r>
              <a:t>• Nutrient Runoff: Fertilizers washing into waterways</a:t>
            </a:r>
          </a:p>
          <a:p>
            <a:pPr>
              <a:spcAft>
                <a:spcPts val="1000"/>
              </a:spcAft>
              <a:defRPr sz="2200"/>
            </a:pPr>
            <a:r>
              <a:t>• Algae Bloom: Rapid algae growth from excess nutrients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Connecting to Prior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59669"/>
                </a:solidFill>
              </a:defRPr>
            </a:pPr>
            <a:r>
              <a:t>Week 1: Ocean Acidification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CO₂ input causes pH change</a:t>
            </a:r>
          </a:p>
          <a:p>
            <a:pPr>
              <a:spcAft>
                <a:spcPts val="800"/>
              </a:spcAft>
              <a:defRPr sz="1800"/>
            </a:pPr>
            <a:r>
              <a:t>• Cascade through marine ecosystems</a:t>
            </a:r>
          </a:p>
          <a:p>
            <a:pPr>
              <a:spcAft>
                <a:spcPts val="800"/>
              </a:spcAft>
              <a:defRPr sz="1800"/>
            </a:pPr>
            <a:r>
              <a:t>• Human activity is the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59669"/>
                </a:solidFill>
              </a:defRPr>
            </a:pPr>
            <a:r>
              <a:t>Week 2: Eutrophication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N/P input causes O₂ depletion</a:t>
            </a:r>
          </a:p>
          <a:p>
            <a:pPr>
              <a:spcAft>
                <a:spcPts val="800"/>
              </a:spcAft>
              <a:defRPr sz="1800"/>
            </a:pPr>
            <a:r>
              <a:t>• Cascade through water ecosystems</a:t>
            </a:r>
          </a:p>
          <a:p>
            <a:pPr>
              <a:spcAft>
                <a:spcPts val="800"/>
              </a:spcAft>
              <a:defRPr sz="1800"/>
            </a:pPr>
            <a:r>
              <a:t>• Human activity is the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