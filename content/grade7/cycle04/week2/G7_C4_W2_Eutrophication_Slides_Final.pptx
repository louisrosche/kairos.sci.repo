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🌊 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Week 2: Eutrophication &amp; Dead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Grade 7 Science | Cycle 4 | Rosche | Kairos Academies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MS-ESS3-3 Monitoring Human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100 Points Total | ~75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🌊 The Phenomenon: The Green Lake Mystery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8869680" cy="25603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48"/>
                </a:solidFill>
                <a:latin typeface="Arial"/>
              </a:defRPr>
            </a:pPr>
            <a:r>
              <a:t>In 2014, Lake Erie turned bright green: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Arial"/>
              </a:defRPr>
            </a:pPr>
            <a:r>
              <a:t>• 500,000 people couldn't drink their tap water</a:t>
            </a:r>
            <a:br/>
            <a:r>
              <a:t>• Fish died by the thousands</a:t>
            </a:r>
            <a:br/>
            <a:r>
              <a:t>• Massive algae bloom covered the lake surface</a:t>
            </a:r>
            <a:br/>
            <a:r>
              <a:t>• The culprit? Fertilizer meant to help crops</a:t>
            </a:r>
            <a:br/>
            <a:br/>
            <a:r>
              <a:t>How did nutrients meant to grow food end up poisoning a lake?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611880"/>
            <a:ext cx="8869680" cy="12801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🔬 KEY CONCEPT: Excess nutrients trigger a cascade:</a:t>
            </a:r>
            <a:br/>
            <a:r>
              <a:t>Nutrients → Algae Bloom → Death → Decomposition → Oxygen Depletion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🤔 Driving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happens when nutrients run off into waterways?</a:t>
            </a:r>
            <a:br/>
            <a:br/>
            <a:r>
              <a:t>How can too much of a 'good thing' (nutrients) become deadly?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47857"/>
                </a:solidFill>
                <a:latin typeface="Arial"/>
              </a:defRPr>
            </a:pPr>
            <a:r>
              <a:t>🔗 Connection to Week 1:</a:t>
            </a:r>
            <a:br/>
            <a:r>
              <a:t>You learned how CO₂ dissolves in the ocean to cause acidification.</a:t>
            </a:r>
            <a:br/>
            <a:r>
              <a:t>This week: A DIFFERENT chemical (N/P) causes a DIFFERENT problem (eutrophication)!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💡 What You Already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CO₂ causes ocean acidification</a:t>
            </a:r>
            <a:br/>
            <a:r>
              <a:t>through chemical reactions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Cycle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Feedback loops can make</a:t>
            </a:r>
            <a:br/>
            <a:r>
              <a:t>problems worse (positive feedback)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Carbon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Matter cycles through</a:t>
            </a:r>
            <a:br/>
            <a:r>
              <a:t>Earth's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🔄 NEW Connection: Eutrophication is POSITIVE FEEDBACK!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More nutrients → More algae → More dead algae → More decomposition →</a:t>
            </a:r>
            <a:br/>
            <a:r>
              <a:t>More oxygen used → More fish die → More dead matter → MORE decomposition!</a:t>
            </a:r>
            <a:br/>
            <a:br/>
            <a:r>
              <a:t>The problem makes itself WORSE - just like the feedback loops in Cycle 3!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1: Trace nitrogen and phosphorus through ecosystems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2: Explain the eutrophication cascade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3: Analyze real-world data from the Gulf of Mexico dead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4: Design a solution to minimize nutrient runoff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📚 Key Vocabulary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Eutrophication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960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Excess nutrients cause algae growth → oxygen depletion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Dead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Area where oxygen is too low for marine life (hypoxia)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Biogeochemical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Movement of elements (N, P, C) through living &amp; non-living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Nutrient Runoff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17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Fertilizers/waste washing into waterways from 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Algae Bloom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03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Rapid, explosive algae growth when nutrients abundant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Decomposition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389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Bacteria breaking down dead matter, consuming O₂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🌊 Hook – The Green Lake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01168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🌊 The Challenge: Why did Lake Erie turn toxic green?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1. Observe the phenomenon: Lake Erie algae bloom images (2 min)</a:t>
            </a:r>
            <a:br/>
            <a:r>
              <a:t>2. Predict what caused the bloom (3 min)</a:t>
            </a:r>
            <a:br/>
            <a:r>
              <a:t>3. Connect to Cycle 3: positive feedback (3 min)</a:t>
            </a:r>
            <a:br/>
            <a:r>
              <a:t>4. Answer diagnostic questions (2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💭 Think About This: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What do plants need to grow? (Nutrients: nitrogen, phosphorus)</a:t>
            </a:r>
            <a:br/>
            <a:r>
              <a:t>• Where do fertilizers go when it rains?</a:t>
            </a:r>
            <a:br/>
            <a:r>
              <a:t>• What happens when algae dies?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🌊 Hook – The Eutrophication Cascade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2286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748"/>
                </a:solidFill>
                <a:latin typeface="Arial"/>
              </a:defRPr>
            </a:pPr>
            <a:r>
              <a:t>🔄 The Cascade Process: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1️⃣ Nutrients (N, P) wash into water from farms, lawns, sewage</a:t>
            </a:r>
            <a:br/>
            <a:r>
              <a:t>2️⃣ Algae EXPLODE in growth (they love nutrients!)</a:t>
            </a:r>
            <a:br/>
            <a:r>
              <a:t>3️⃣ Algae block sunlight → underwater plants die</a:t>
            </a:r>
            <a:br/>
            <a:r>
              <a:t>4️⃣ Algae eventually die too (overpopulation)</a:t>
            </a:r>
            <a:br/>
            <a:r>
              <a:t>5️⃣ Bacteria decompose dead algae → USE UP OXYGEN</a:t>
            </a:r>
            <a:br/>
            <a:r>
              <a:t>6️⃣ Fish and other organisms SUFFOCATE → Dead Zone!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Hook form on the student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Predict what happens at each stage of the cascade.</a:t>
            </a:r>
            <a:br/>
            <a:r>
              <a:t>How is this similar to the positive feedback loops from Cycle 3?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🔄 Station 1 – Nutrient Cycle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🔄 Your Mission: Trace N and P Through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Model how nitrogen and phosphorus move from farms to waterways</a:t>
            </a:r>
            <a:br/>
            <a:r>
              <a:t>and what happens when they accumulate.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114800" cy="24688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🌿 Nitrogen (N) Sources: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Fertilizers (farms, lawns)</a:t>
            </a:r>
            <a:br/>
            <a:r>
              <a:t>• Animal waste</a:t>
            </a:r>
            <a:br/>
            <a:r>
              <a:t>• Sewage treatment plants</a:t>
            </a:r>
            <a:br/>
            <a:r>
              <a:t>• Air pollution → 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423160"/>
            <a:ext cx="4297680" cy="2468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💎 Phosphorus (P) Sources: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Fertilizers</a:t>
            </a:r>
            <a:br/>
            <a:r>
              <a:t>• Detergents (laundry soap)</a:t>
            </a:r>
            <a:br/>
            <a:r>
              <a:t>• Eroding soil</a:t>
            </a:r>
            <a:br/>
            <a:r>
              <a:t>• Animal/human waste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🔄 Station 1 – Biogeochemical Cycle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🔄 The Nutrient Journey: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FARM/LAWN → RAIN RUNOFF → STREAMS → RIVERS → LAKES/OCEAN</a:t>
            </a:r>
            <a:br/>
            <a:r>
              <a:t>     ↓              ↓              ↓           ↓           ↓</a:t>
            </a:r>
            <a:br/>
            <a:r>
              <a:t>Fertilizer    Carries       Nutrients     Algae      DEAD</a:t>
            </a:r>
            <a:br/>
            <a:r>
              <a:t>Applied       Nutrients     Accumulate    Bloom      ZONE</a:t>
            </a:r>
            <a:br/>
            <a:br/>
            <a:r>
              <a:t>KEY CONCEPT: Nutrients don't disappear - they just MOVE!</a:t>
            </a:r>
            <a:br/>
            <a:r>
              <a:t>What's good for crops becomes DEADLY for aquatic ecosystems.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77639"/>
            <a:ext cx="859536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Arial"/>
              </a:defRPr>
            </a:pPr>
            <a:r>
              <a:t>📝 Complete Station 1 form - Model the nutrient cycle and identify intervention points</a:t>
            </a:r>
            <a:br/>
            <a:r>
              <a:t>Where could we STOP nutrients from reaching waterways?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📊 Station 2 – Dead Zone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📊 Your Mission: Analyze Gulf of Mexico Dead Zone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Examine real data showing the relationship between fertilizer use and dead zone size.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📈 Gulf of Mexico Dead Zone Data: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Year    |  Dead Zone Size  |  Fertilizer Use</a:t>
            </a:r>
            <a:br/>
            <a:r>
              <a:t>1985    |    3,800 km²     |   10 million tons</a:t>
            </a:r>
            <a:br/>
            <a:r>
              <a:t>1995    |    6,200 km²     |   12 million tons</a:t>
            </a:r>
            <a:br/>
            <a:r>
              <a:t>2005    |    8,000 km²     |   14 million tons</a:t>
            </a:r>
            <a:br/>
            <a:r>
              <a:t>2015    |   16,800 km²     |   15 million tons</a:t>
            </a:r>
            <a:br/>
            <a:r>
              <a:t>2024    |   18,200 km²     |   16 million tons</a:t>
            </a:r>
            <a:br/>
            <a:br/>
            <a:r>
              <a:t>Dead zone is now the size of NEW JERSEY!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📊 Station 2 – Correlation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📈 What the Data Shows: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Strong POSITIVE correlation</a:t>
            </a:r>
            <a:br/>
            <a:r>
              <a:t>• More fertilizer → Bigger dead zone</a:t>
            </a:r>
            <a:br/>
            <a:r>
              <a:t>• Dead zone grew 5× in 40 years</a:t>
            </a:r>
            <a:br/>
            <a:r>
              <a:t>• Mississippi River carries nutrients</a:t>
            </a:r>
            <a:br/>
            <a:r>
              <a:t>  from 31 states to the Gulf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1031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🐟 Economic Impact: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Shrimp fishery: $2.8 billion/year</a:t>
            </a:r>
            <a:br/>
            <a:r>
              <a:t>• Fish kills hurt local economy</a:t>
            </a:r>
            <a:br/>
            <a:r>
              <a:t>• Tourism affected</a:t>
            </a:r>
            <a:br/>
            <a:r>
              <a:t>• Cleanup costs billions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Station 2 form - Analyze the data 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Calculate the rate of dead zone growth</a:t>
            </a:r>
            <a:br/>
            <a:r>
              <a:t>• Predict dead zone size in 2030 if trends continue</a:t>
            </a:r>
            <a:br/>
            <a:r>
              <a:t>• Is correlation = causation here? Explain your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🔧 Station 3 – Design a Remediation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 (Highest Value!)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C4899"/>
                </a:solidFill>
                <a:latin typeface="Arial"/>
              </a:defRPr>
            </a:pPr>
            <a:r>
              <a:t>🔧 Engineering Challenge: Reduce Nutrient Runoff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Design an intervention plan to reduce dead zone size by 50% within 10 years.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📋 Available Interventions: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Prevention (stop nutrients at source):</a:t>
            </a:r>
            <a:br/>
            <a:r>
              <a:t>• Precision fertilizer application</a:t>
            </a:r>
            <a:br/>
            <a:r>
              <a:t>• Buffer strips along waterways</a:t>
            </a:r>
            <a:br/>
            <a:r>
              <a:t>• Cover crops in off-season</a:t>
            </a:r>
            <a:br/>
            <a:r>
              <a:t>• Improved sewage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Remediation (treat the problem):</a:t>
            </a:r>
            <a:br/>
            <a:r>
              <a:t>• Constructed wetlands</a:t>
            </a:r>
            <a:br/>
            <a:r>
              <a:t>• Bioreactors in streams</a:t>
            </a:r>
            <a:br/>
            <a:r>
              <a:t>• Algae harvesting</a:t>
            </a:r>
            <a:br/>
            <a:r>
              <a:t>• Aeration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🔧 Station 3 – Cost-Benefit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Arial"/>
              </a:defRPr>
            </a:pPr>
            <a:r>
              <a:t>Buffer strips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05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$50/acre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05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30%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Low cost, land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Arial"/>
              </a:defRPr>
            </a:pPr>
            <a:r>
              <a:t>Precision fertilizer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$200/farm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25%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Tech training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Arial"/>
              </a:defRPr>
            </a:pPr>
            <a:r>
              <a:t>Wetland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$10,000/acre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60%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High effectiveness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79"/>
            <a:ext cx="8595360" cy="7315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Arial"/>
              </a:defRPr>
            </a:pPr>
            <a:r>
              <a:t>Cover crops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$30/acre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20%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Extra labor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3030"/>
                </a:solidFill>
                <a:latin typeface="Arial"/>
              </a:defRPr>
            </a:pPr>
            <a:r>
              <a:t>📝 Complete Station 3 - Design a multi-intervention plan within budget!</a:t>
            </a:r>
            <a:br/>
            <a:r>
              <a:t>Consider: What combination gives the best reduction for the lowest cost?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Biogeochemical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28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🎓 Show What You Learned - Question Types: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• 2 NEW – Eutrophication content (this week)</a:t>
            </a:r>
            <a:br/>
            <a:r>
              <a:t>• 2 SPIRAL – Week 1 review (ocean acidification, carbon budget)</a:t>
            </a:r>
            <a:br/>
            <a:r>
              <a:t>• 1 INTEGRATION – Compare ocean acidification vs eutrophication</a:t>
            </a:r>
            <a:br/>
            <a:r>
              <a:t>• 1 SEP-6 – Construct an explanation for dead zone 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Exit Ticket on the student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This is your final assessment for Week 2. Take your time!</a:t>
            </a:r>
            <a:br/>
            <a:r>
              <a:t>Use evidence from both Week 1 and Week 2 activities.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🎉 Week 2 Summary: What You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Eutrophication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Excess nutrients → algae bloom → decomposition → dead zone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Nutrient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Fertilizers, sewage, animal waste → runoff into waterways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Positive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The cascade makes itself worse (like Cycle 3!)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9144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Arial"/>
              </a:defRPr>
            </a:pPr>
            <a:r>
              <a:t>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Prevention (buffer strips) + Remediation (wetlands)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47857"/>
                </a:solidFill>
                <a:latin typeface="Arial"/>
              </a:defRPr>
            </a:pPr>
            <a:r>
              <a:t>Next Week: Assessment – Show what you've learned about human impacts on water systems!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