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✅ 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Week 3: Synthesis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Grade 7 Science | Cycle 4 | Rosche | Kairos Academies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MS-ESS3-3 Monitoring Human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100 Points Total | ~75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📋 Assessment Week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1371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Arial"/>
              </a:defRPr>
            </a:pPr>
            <a:r>
              <a:t>📋 Assessment Week: This is your chance to show what you learned about</a:t>
            </a:r>
            <a:br/>
            <a:r>
              <a:t>human impacts on water systems - both OCEAN ACIDIFICATION and EUTROPHICATION.</a:t>
            </a:r>
            <a:br/>
            <a:r>
              <a:t>Take your time on each section!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423160"/>
            <a:ext cx="8595360" cy="24688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📊 Points Breakdown: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Part            |  Points  |  Time    |  What It Tests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  <a:br/>
            <a:r>
              <a:t>Part 1: Synthesis   |   20    |  ~15 min |  Connect Week 1 + Week 2</a:t>
            </a:r>
            <a:br/>
            <a:r>
              <a:t>Part 2: Assessment  |   60    |  ~40 min |  Full cycle content</a:t>
            </a:r>
            <a:br/>
            <a:r>
              <a:t>Part 3: Misconception|  20    |  ~20 min |  Common mistakes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  <a:br/>
            <a:r>
              <a:t>TOTAL               |  100    |  ~75 min |  Complete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📚 What You'll Be Assessed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Week 1: Ocean Acidification</a:t>
            </a:r>
            <a:br/>
            <a:r>
              <a:t>• CO₂ dissolving in ocean → carbonic acid → lower pH</a:t>
            </a:r>
            <a:br/>
            <a:r>
              <a:t>• pH changes and effects on marine life (pteropods, coral, oysters)</a:t>
            </a:r>
            <a:br/>
            <a:r>
              <a:t>• Carbon budget calculations (sources vs sinks)</a:t>
            </a:r>
            <a:br/>
            <a:br/>
            <a:r>
              <a:t>Week 2: Eutrophication</a:t>
            </a:r>
            <a:br/>
            <a:r>
              <a:t>• Nutrient runoff → algae bloom → decomposition → dead zone</a:t>
            </a:r>
            <a:br/>
            <a:r>
              <a:t>• Gulf of Mexico data analysis</a:t>
            </a:r>
            <a:br/>
            <a:r>
              <a:t>• Remediation design (buffer strips, wetlands)</a:t>
            </a:r>
            <a:br/>
            <a:br/>
            <a:r>
              <a:t>Connections:</a:t>
            </a:r>
            <a:br/>
            <a:r>
              <a:t>• Both are human impacts on water systems</a:t>
            </a:r>
            <a:br/>
            <a:r>
              <a:t>• Both involve biogeochemical cycles (C, N, P)</a:t>
            </a:r>
            <a:br/>
            <a:r>
              <a:t>• Both show positive feedback loops (Cycle 3 spiral)</a:t>
            </a:r>
            <a:br/>
            <a:br/>
            <a:r>
              <a:t>Skills: Data analysis, engineering design, constructing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🐚 Review: Week 1 - Ocean Acidification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1031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Arial"/>
              </a:defRPr>
            </a:pPr>
            <a:r>
              <a:t>🔬 Key Concepts: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CO₂ + H₂O → H₂CO₃ (carbonic acid)</a:t>
            </a:r>
            <a:br/>
            <a:r>
              <a:t>• pH scale: lower = more acidic</a:t>
            </a:r>
            <a:br/>
            <a:r>
              <a:t>• 0.1 pH change = 26% acidity change</a:t>
            </a:r>
            <a:br/>
            <a:r>
              <a:t>• Ocean pH dropped from 8.25 → 8.10</a:t>
            </a:r>
            <a:br/>
            <a:r>
              <a:t>• Shells dissolve, coral 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103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rial"/>
              </a:defRPr>
            </a:pPr>
            <a:r>
              <a:t>📊 Carbon Budget: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Sources: 40 Gt/year (fossil fuels)</a:t>
            </a:r>
            <a:br/>
            <a:r>
              <a:t>• Land sinks: 12 Gt (30%)</a:t>
            </a:r>
            <a:br/>
            <a:r>
              <a:t>• Ocean sinks: 10 Gt (25%)</a:t>
            </a:r>
            <a:br/>
            <a:r>
              <a:t>• Atmosphere: 18 Gt (45%)</a:t>
            </a:r>
            <a:br/>
            <a:r>
              <a:t>• Trade-off: Slows climate, hurts ocean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Arial"/>
              </a:defRPr>
            </a:pPr>
            <a:r>
              <a:t>📝 Key Vocabulary: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Ocean Acidification | pH Scale | Carbonic Acid | Carbon Sink |</a:t>
            </a:r>
            <a:br/>
            <a:r>
              <a:t>Logarithmic Scale | Calcifying Organisms | Mass Balance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🌊 Review: Week 2 - Eutrophication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103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🔄 The Cascade: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1. Nutrient runoff (N, P)</a:t>
            </a:r>
            <a:br/>
            <a:r>
              <a:t>2. Algae bloom explosion</a:t>
            </a:r>
            <a:br/>
            <a:r>
              <a:t>3. Algae die, sink to bottom</a:t>
            </a:r>
            <a:br/>
            <a:r>
              <a:t>4. Bacteria decompose → use O₂</a:t>
            </a:r>
            <a:br/>
            <a:r>
              <a:t>5. Dead zone (hypoxia) 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1031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Arial"/>
              </a:defRPr>
            </a:pPr>
            <a:r>
              <a:t>📈 Gulf Dead Zone Data: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• 1985: 3,800 km²</a:t>
            </a:r>
            <a:br/>
            <a:r>
              <a:t>• 2024: 18,200 km²</a:t>
            </a:r>
            <a:br/>
            <a:r>
              <a:t>• Now = size of New Jersey!</a:t>
            </a:r>
            <a:br/>
            <a:r>
              <a:t>• Correlation with fertilizer use</a:t>
            </a:r>
            <a:br/>
            <a:r>
              <a:t>• 31 states drain to Gulf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📝 Key Vocabulary: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Eutrophication | Dead Zone | Biogeochemical Cycle | Nutrient Runoff |</a:t>
            </a:r>
            <a:br/>
            <a:r>
              <a:t>Algae Bloom | Decomposition | Positive Feedback | Buffer Strips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🔗 Part 1: Synthesis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 | Start Here!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91B2"/>
                </a:solidFill>
                <a:latin typeface="Arial"/>
              </a:defRPr>
            </a:pPr>
            <a:r>
              <a:t>🔗 The Big 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How are ocean acidification and eutrophication SIMILAR human impacts?</a:t>
            </a:r>
            <a:br/>
            <a:br/>
            <a:r>
              <a:t>Hint: Both involve biogeochemical cycles, both show positive feedback,</a:t>
            </a:r>
            <a:br/>
            <a:r>
              <a:t>both require monitoring and engineering solutions.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063240"/>
            <a:ext cx="8595360" cy="18288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91B2"/>
                </a:solidFill>
                <a:latin typeface="Arial"/>
              </a:defRPr>
            </a:pPr>
            <a:r>
              <a:t>📝 What You'll Do (5 questions):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Compare the cascade process in both problems</a:t>
            </a:r>
            <a:br/>
            <a:r>
              <a:t>• Identify the positive feedback in each</a:t>
            </a:r>
            <a:br/>
            <a:r>
              <a:t>• Connect to Cycle 3 (feedback loops)</a:t>
            </a:r>
            <a:br/>
            <a:r>
              <a:t>• Apply concepts to a new scenario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🔗 Part 1: Comparison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Aspect           |  Ocean Acidification      |  Eutrophication</a:t>
            </a:r>
            <a:br/>
            <a:r>
              <a:t>──────────────────────────────────────────────────────────────────</a:t>
            </a:r>
            <a:br/>
            <a:r>
              <a:t>Pollutant        |  CO₂                      |  N and P (nutrients)</a:t>
            </a:r>
            <a:br/>
            <a:r>
              <a:t>Source           |  Fossil fuels, industry   |  Fertilizers, sewage</a:t>
            </a:r>
            <a:br/>
            <a:r>
              <a:t>Chemical change  |  Forms carbonic acid      |  Feeds algae growth</a:t>
            </a:r>
            <a:br/>
            <a:r>
              <a:t>Primary effect   |  Lowers pH                |  Depletes oxygen</a:t>
            </a:r>
            <a:br/>
            <a:r>
              <a:t>Affected life    |  Shellfish, coral         |  Fish, bottom-dwellers</a:t>
            </a:r>
            <a:br/>
            <a:r>
              <a:t>Location         |  Global oceans            |  Coastal areas, lakes</a:t>
            </a:r>
            <a:br/>
            <a:r>
              <a:t>Feedback type    |  Positive (warming→more)  |  Positive (more→worse)</a:t>
            </a:r>
            <a:br/>
            <a:r>
              <a:t>Monitoring       |  pH sensors, buoys        |  Nutrient testing</a:t>
            </a:r>
            <a:br/>
            <a:r>
              <a:t>Solutions        |  Reduce CO₂ emissions     |  Buffer strips, wetlands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📝 Part 2: Cumulative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60 Points | ~40 min | Main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7432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Arial"/>
              </a:defRPr>
            </a:pPr>
            <a:r>
              <a:t>📊 Question Breakdown (12 questions):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Type                    |  Count  |  Topics</a:t>
            </a:r>
            <a:br/>
            <a:r>
              <a:t>─────────────────────────────────────────────────</a:t>
            </a:r>
            <a:br/>
            <a:r>
              <a:t>Ocean Acidification     |    3    |  pH, carbon budget</a:t>
            </a:r>
            <a:br/>
            <a:r>
              <a:t>Eutrophication          |    3    |  Dead zones, nutrients</a:t>
            </a:r>
            <a:br/>
            <a:r>
              <a:t>Data Analysis           |    2    |  Interpret graphs/tables</a:t>
            </a:r>
            <a:br/>
            <a:r>
              <a:t>Engineering Design      |    2    |  Monitoring, remediation</a:t>
            </a:r>
            <a:br/>
            <a:r>
              <a:t>Spiral (Cycle 3)        |    2    |  Feedback loops, carbon 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77639"/>
            <a:ext cx="8595360" cy="9144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05072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53030"/>
                </a:solidFill>
                <a:latin typeface="Arial"/>
              </a:defRPr>
            </a:pPr>
            <a:r>
              <a:t>⏰ Budget your time: About 3 minutes per question. Skip and return if stuck.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📝 Part 2: Key Formulas &amp;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01168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Arial"/>
              </a:defRPr>
            </a:pPr>
            <a:r>
              <a:t>🧮 Ocean Acidification: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CO₂ + H₂O → H₂CO₃</a:t>
            </a:r>
            <a:br/>
            <a:br/>
            <a:r>
              <a:t>pH change × 26% = acidity change</a:t>
            </a:r>
            <a:br/>
            <a:r>
              <a:t>Example: 0.15 drop ≈ 40% more acidic</a:t>
            </a:r>
            <a:br/>
            <a:br/>
            <a:r>
              <a:t>Ocean absorbs 25% of human CO₂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01168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📈 Eutrophication: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Nutrients → Algae → Death → O₂ loss</a:t>
            </a:r>
            <a:br/>
            <a:br/>
            <a:r>
              <a:t>Rate = (final - initial) / years</a:t>
            </a:r>
            <a:br/>
            <a:r>
              <a:t>Example: (18,000-4,000)/40 = 350 km²/yr</a:t>
            </a:r>
            <a:br/>
            <a:br/>
            <a:r>
              <a:t>Correlation ≠ causation (need evidence)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63240"/>
            <a:ext cx="8595360" cy="18288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363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Part 2 on the student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This is your main assessment - 60 of your 100 points!</a:t>
            </a:r>
            <a:br/>
            <a:r>
              <a:t>Use evidence from both Week 1 and Week 2 activities.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🔍 Part 3: Misconception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7607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~20 min | Final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374903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Arial"/>
              </a:defRPr>
            </a:pPr>
            <a:r>
              <a:t>🔍 Common Misconceptions to Avoid: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❌ 'Ocean acidification means the ocean becomes acidic (below pH 7)'</a:t>
            </a:r>
            <a:br/>
            <a:r>
              <a:t>✅ Ocean is still basic (pH 8.1), just becoming LESS basic (more acidic direction)</a:t>
            </a:r>
            <a:br/>
            <a:br/>
            <a:r>
              <a:t>❌ 'Fertilizer is always bad for the environment'</a:t>
            </a:r>
            <a:br/>
            <a:r>
              <a:t>✅ Fertilizer is helpful for crops - problems arise when it RUNS OFF into water</a:t>
            </a:r>
            <a:br/>
            <a:br/>
            <a:r>
              <a:t>❌ 'Dead zones are permanent'</a:t>
            </a:r>
            <a:br/>
            <a:r>
              <a:t>✅ Dead zones can shrink if nutrient inputs decrease (they're seasonal in Gulf)</a:t>
            </a:r>
            <a:br/>
            <a:br/>
            <a:r>
              <a:t>❌ 'Ocean acidification and eutrophication are the same thing'</a:t>
            </a:r>
            <a:br/>
            <a:r>
              <a:t>✅ Different causes (CO₂ vs nutrients), different effects (pH vs oxygen)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💡 Tips for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Complete parts in order - they build on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Take short breaks (5 min) between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For calculations, show your work step by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For explanations, use evidence from both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Think about cause and effect (cascade chains)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Connect to Cycle 3 feedback loops when relevant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Read Part 3 feedback carefully - learn from mistakes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59669"/>
                </a:solidFill>
                <a:latin typeface="Arial"/>
              </a:defRPr>
            </a:pPr>
            <a:r>
              <a:t>💡 Budget your time: ~15 + ~40 + ~20 = 75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🎉 Cycle 4 Summary: Human Impacts on Water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91440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Arial"/>
              </a:defRPr>
            </a:pPr>
            <a:r>
              <a:t>Ocean Acidification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CO₂ → carbonic acid → lower pH → shells dissolve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9144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Eutrophication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Nutrients → algae → decomposition → dead zones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Arial"/>
              </a:defRPr>
            </a:pPr>
            <a:r>
              <a:t>Biogeochemical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C, N, P cycle through living and non-living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9144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Arial"/>
              </a:defRPr>
            </a:pPr>
            <a:r>
              <a:t>Engineering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Monitoring + prevention + remediation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563EB"/>
                </a:solidFill>
                <a:latin typeface="Arial"/>
              </a:defRPr>
            </a:pPr>
            <a:r>
              <a:t>Good luck on your assessment! Take your time and show what you know!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