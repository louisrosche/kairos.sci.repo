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Arial"/>
              </a:defRPr>
            </a:pPr>
            <a:r>
              <a:t>🐚 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Georgia"/>
              </a:defRPr>
            </a:pPr>
            <a:r>
              <a:t>Week 1: Ocean Acidification Investigation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Grade 7 Science | Cycle 4 | Rosche | Kairos Academies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MS-ESS3-3 Monitoring Human Impact on the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100 Points Total | ~75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🐚 The Phenomenon: The Dissolving Shells Mystery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914400"/>
            <a:ext cx="8869680" cy="2560320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3748"/>
                </a:solidFill>
                <a:latin typeface="Arial"/>
              </a:defRPr>
            </a:pPr>
            <a:r>
              <a:t>Scientists studying pteropods ('sea butterflies') discovered something alarming: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A5568"/>
                </a:solidFill>
                <a:latin typeface="Arial"/>
              </a:defRPr>
            </a:pPr>
            <a:r>
              <a:t>• Shells collected TODAY are thinner and more fragile than 50 years ago</a:t>
            </a:r>
            <a:br/>
            <a:r>
              <a:t>• Some shells are literally dissolving while animals are still alive</a:t>
            </a:r>
            <a:br/>
            <a:r>
              <a:t>• This is happening in oceans around the world</a:t>
            </a:r>
            <a:br/>
            <a:br/>
            <a:r>
              <a:t>These tiny creatures haven't changed. The water has.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" y="3611880"/>
            <a:ext cx="8869680" cy="12801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379476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🔬 KEY INSIGHT: The ocean's chemistry is changing due to increased CO₂</a:t>
            </a:r>
            <a:br/>
            <a:r>
              <a:t>absorption from the atmosphere, making it more acidic.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🤔 Driving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t>Why is the ocean dissolving shells NOW when it didn't 50 years ago?</a:t>
            </a:r>
            <a:br/>
            <a:br/>
            <a:r>
              <a:t>What has changed in ocean chemistry?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8229600" cy="1280160"/>
          </a:xfrm>
          <a:prstGeom prst="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E7490"/>
                </a:solidFill>
                <a:latin typeface="Arial"/>
              </a:defRPr>
            </a:pPr>
            <a:r>
              <a:t>🔗 Connection to Cycle 3:</a:t>
            </a:r>
            <a:br/>
            <a:r>
              <a:t>You learned that CO₂ is increasing in the atmosphere and causing climate change.</a:t>
            </a:r>
            <a:br/>
            <a:r>
              <a:t>Now we'll explore what happens when CO₂ dissolves in the ocean!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Georgia"/>
              </a:defRPr>
            </a:pPr>
            <a:r>
              <a:t>💡 What You Already Know (Cycle 3 Connections)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2743200" cy="1645920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097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7490"/>
                </a:solidFill>
                <a:latin typeface="Arial"/>
              </a:defRPr>
            </a:pPr>
            <a:r>
              <a:t>CO₂ &amp; Climate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4630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5568"/>
                </a:solidFill>
                <a:latin typeface="Arial"/>
              </a:defRPr>
            </a:pPr>
            <a:r>
              <a:t>CO₂ is increasing in atmosphere</a:t>
            </a:r>
            <a:br/>
            <a:r>
              <a:t>due to human activities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005840"/>
            <a:ext cx="2743200" cy="1645920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097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7490"/>
                </a:solidFill>
                <a:latin typeface="Arial"/>
              </a:defRPr>
            </a:pPr>
            <a:r>
              <a:t>Carbon 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4630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5568"/>
                </a:solidFill>
                <a:latin typeface="Arial"/>
              </a:defRPr>
            </a:pPr>
            <a:r>
              <a:t>Carbon moves between</a:t>
            </a:r>
            <a:br/>
            <a:r>
              <a:t>atmosphere, land, and ocean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005840"/>
            <a:ext cx="2743200" cy="1645920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097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7490"/>
                </a:solidFill>
                <a:latin typeface="Arial"/>
              </a:defRPr>
            </a:pPr>
            <a:r>
              <a:t>Chemical Reactions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4630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5568"/>
                </a:solidFill>
                <a:latin typeface="Arial"/>
              </a:defRPr>
            </a:pPr>
            <a:r>
              <a:t>Atoms are conserved in</a:t>
            </a:r>
            <a:br/>
            <a:r>
              <a:t>reactions (MS-PS1-5)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34640"/>
            <a:ext cx="8595360" cy="20116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7490"/>
                </a:solidFill>
                <a:latin typeface="Arial"/>
              </a:defRPr>
            </a:pPr>
            <a:r>
              <a:t>🆕 NEW This Cycle: MS-ESS3-3 - Monitoring Human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9184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Arial"/>
              </a:defRPr>
            </a:pPr>
            <a:r>
              <a:t>• How does ocean chemistry change when it absorbs CO₂?</a:t>
            </a:r>
            <a:br/>
            <a:r>
              <a:t>• How do we measure and monitor these changes?</a:t>
            </a:r>
            <a:br/>
            <a:r>
              <a:t>• What are the impacts on marine ecosystems?</a:t>
            </a:r>
            <a:br/>
            <a:r>
              <a:t>• How can we design systems to track acidification?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🎯 Learning Targets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8595360" cy="868680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E7490"/>
                </a:solidFill>
                <a:latin typeface="Arial"/>
              </a:defRPr>
            </a:pPr>
            <a:r>
              <a:t>Target 1: Explain how atmospheric CO₂ affects ocean pH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920240"/>
            <a:ext cx="8595360" cy="868680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E7490"/>
                </a:solidFill>
                <a:latin typeface="Arial"/>
              </a:defRPr>
            </a:pPr>
            <a:r>
              <a:t>Target 2: Interpret pH data and predict effects on marine life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926080"/>
            <a:ext cx="8595360" cy="868680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E7490"/>
                </a:solidFill>
                <a:latin typeface="Arial"/>
              </a:defRPr>
            </a:pPr>
            <a:r>
              <a:t>Target 3: Apply mass balance to ocean-atmosphere carbon exchange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931920"/>
            <a:ext cx="8595360" cy="868680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E7490"/>
                </a:solidFill>
                <a:latin typeface="Arial"/>
              </a:defRPr>
            </a:pPr>
            <a:r>
              <a:t>Target 4: Design a monitoring system for ocean acidification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📚 Key Vocabulary This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8595360" cy="6400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E7490"/>
                </a:solidFill>
                <a:latin typeface="Arial"/>
              </a:defRPr>
            </a:pPr>
            <a:r>
              <a:t>Ocean Acidification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9601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Decrease in ocean pH caused by CO₂ absorption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8595360" cy="6400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E7490"/>
                </a:solidFill>
                <a:latin typeface="Arial"/>
              </a:defRPr>
            </a:pPr>
            <a:r>
              <a:t>pH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6459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Measures acidity: 0-6 acidic, 7 neutral, 8-14 basic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240280"/>
            <a:ext cx="8595360" cy="6400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E7490"/>
                </a:solidFill>
                <a:latin typeface="Arial"/>
              </a:defRPr>
            </a:pPr>
            <a:r>
              <a:t>Carbonic Acid (H₂CO₃)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3317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Formed when CO₂ dissolves: CO₂ + H₂O → H₂CO₃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926080"/>
            <a:ext cx="8595360" cy="6400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017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E7490"/>
                </a:solidFill>
                <a:latin typeface="Arial"/>
              </a:defRPr>
            </a:pPr>
            <a:r>
              <a:t>Carbon Sink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0175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Reservoir that absorbs more CO₂ than it releases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611880"/>
            <a:ext cx="8595360" cy="6400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703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E7490"/>
                </a:solidFill>
                <a:latin typeface="Arial"/>
              </a:defRPr>
            </a:pPr>
            <a:r>
              <a:t>Logarithmic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7033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0.1 pH change = 26% change in acidity!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297680"/>
            <a:ext cx="8595360" cy="64008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389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E7490"/>
                </a:solidFill>
                <a:latin typeface="Arial"/>
              </a:defRPr>
            </a:pPr>
            <a:r>
              <a:t>Calcifying Organisms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3891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Marine life building shells from calcium carbonate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777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🐚 Hook – The Dissolving Shells Mystery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12 Points | ~10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201168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46E5"/>
                </a:solidFill>
                <a:latin typeface="Arial"/>
              </a:defRPr>
            </a:pPr>
            <a:r>
              <a:t>🐚 The Challenge: What's happening to sea shells?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Arial"/>
              </a:defRPr>
            </a:pPr>
            <a:r>
              <a:t>1. Observe the phenomenon: shells dissolving in modern oceans (2 min)</a:t>
            </a:r>
            <a:br/>
            <a:r>
              <a:t>2. Connect to Cycle 3: What does CO₂ do in water? (3 min)</a:t>
            </a:r>
            <a:br/>
            <a:r>
              <a:t>3. Make predictions about ocean chemistry changes (3 min)</a:t>
            </a:r>
            <a:br/>
            <a:r>
              <a:t>4. Answer diagnostic questions (2 min)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246120"/>
            <a:ext cx="8595360" cy="1645920"/>
          </a:xfrm>
          <a:prstGeom prst="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7490"/>
                </a:solidFill>
                <a:latin typeface="Arial"/>
              </a:defRPr>
            </a:pPr>
            <a:r>
              <a:t>💭 Think About This: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033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Arial"/>
              </a:defRPr>
            </a:pPr>
            <a:r>
              <a:t>• What gas is increasing in the atmosphere? (Cycle 3)</a:t>
            </a:r>
            <a:br/>
            <a:r>
              <a:t>• What happens when gases dissolve in water?</a:t>
            </a:r>
            <a:br/>
            <a:r>
              <a:t>• What do acids do to calcium carbonate (shells)?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🐚 Hook – Support Information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4114800" cy="2286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46E5"/>
                </a:solidFill>
                <a:latin typeface="Arial"/>
              </a:defRPr>
            </a:pPr>
            <a:r>
              <a:t>🔬 Key Facts: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74903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• Pteropods are called 'sea butterflies'</a:t>
            </a:r>
            <a:br/>
            <a:r>
              <a:t>• Their shells are made of calcium carbonate (CaCO₃)</a:t>
            </a:r>
            <a:br/>
            <a:r>
              <a:t>• Same material as coral, oyster shells, and chalk</a:t>
            </a:r>
            <a:br/>
            <a:r>
              <a:t>• Acid dissolves calcium carbonate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914400"/>
            <a:ext cx="4297680" cy="2286000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7490"/>
                </a:solidFill>
                <a:latin typeface="Arial"/>
              </a:defRPr>
            </a:pPr>
            <a:r>
              <a:t>⚗️ The Chemistry: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371600"/>
            <a:ext cx="3931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A5568"/>
                </a:solidFill>
                <a:latin typeface="Arial"/>
              </a:defRPr>
            </a:pPr>
            <a:r>
              <a:t>CO₂ + H₂O → H₂CO₃</a:t>
            </a:r>
            <a:br/>
            <a:r>
              <a:t>(carbon dioxide + water → carbonic acid)</a:t>
            </a:r>
            <a:br/>
            <a:br/>
            <a:r>
              <a:t>More CO₂ in atmosphere →</a:t>
            </a:r>
            <a:br/>
            <a:r>
              <a:t>More CO₂ dissolves in ocean →</a:t>
            </a:r>
            <a:br/>
            <a:r>
              <a:t>More acidic ocean!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383280"/>
            <a:ext cx="8595360" cy="15087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53030"/>
                </a:solidFill>
                <a:latin typeface="Arial"/>
              </a:defRPr>
            </a:pPr>
            <a:r>
              <a:t>📝 Complete the Hook form on the student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Record your observations and predictions about:</a:t>
            </a:r>
            <a:br/>
            <a:r>
              <a:t>• Why shells might be dissolving now but not 50 years ago</a:t>
            </a:r>
            <a:br/>
            <a:r>
              <a:t>• What connection this might have to CO₂ levels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🧪 Station 1 – pH and Marine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20 Points | ~18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3716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Arial"/>
              </a:defRPr>
            </a:pPr>
            <a:r>
              <a:t>🧪 Your Mission: Investigate pH Changes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Arial"/>
              </a:defRPr>
            </a:pPr>
            <a:r>
              <a:t>Analyze historical ocean pH data and determine which marine organisms</a:t>
            </a:r>
            <a:br/>
            <a:r>
              <a:t>are most at risk from ocean acidification.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606040"/>
            <a:ext cx="8595360" cy="2286000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7490"/>
                </a:solidFill>
                <a:latin typeface="Arial"/>
              </a:defRPr>
            </a:pPr>
            <a:r>
              <a:t>📊 The pH Scale (CRITICAL: It's Logarithmic!)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3931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Arial"/>
              </a:defRPr>
            </a:pPr>
            <a:r>
              <a:t>• pH 7 = neutral (pure water)</a:t>
            </a:r>
            <a:br/>
            <a:r>
              <a:t>• Below 7 = acidic (more H⁺ ions)</a:t>
            </a:r>
            <a:br/>
            <a:r>
              <a:t>• Above 7 = basic (fewer H⁺ ions)</a:t>
            </a:r>
            <a:br/>
            <a:r>
              <a:t>• Ocean is normally ~8.1 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10896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53030"/>
                </a:solidFill>
                <a:latin typeface="Arial"/>
              </a:defRPr>
            </a:pPr>
            <a:r>
              <a:t>⚠️ KEY CONCEPT:</a:t>
            </a:r>
            <a:br/>
            <a:r>
              <a:t>0.1 pH change = 26% change in acidity!</a:t>
            </a:r>
            <a:br/>
            <a:br/>
            <a:r>
              <a:t>Small pH numbers = BIG chemical changes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🧪 Station 1 – Data 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4114800" cy="25603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Arial"/>
              </a:defRPr>
            </a:pPr>
            <a:r>
              <a:t>📈 Historical Ocean pH Data: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74903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Year     |  Ocean pH  |  Change</a:t>
            </a:r>
            <a:br/>
            <a:r>
              <a:t>1800     |    8.25    |  baseline</a:t>
            </a:r>
            <a:br/>
            <a:r>
              <a:t>1950     |    8.18    |   -0.07</a:t>
            </a:r>
            <a:br/>
            <a:r>
              <a:t>2000     |    8.12    |   -0.13</a:t>
            </a:r>
            <a:br/>
            <a:r>
              <a:t>2020     |    8.10    |   -0.15</a:t>
            </a:r>
            <a:br/>
            <a:r>
              <a:t>2100*    |    7.95    |   -0.30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914400"/>
            <a:ext cx="4297680" cy="256032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06"/>
                </a:solidFill>
                <a:latin typeface="Arial"/>
              </a:defRPr>
            </a:pPr>
            <a:r>
              <a:t>🐚 Organism pH Thresholds: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371600"/>
            <a:ext cx="3931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Coral:</a:t>
            </a:r>
            <a:br/>
            <a:r>
              <a:t>Calcification slows below pH 8.0</a:t>
            </a:r>
            <a:br/>
            <a:br/>
            <a:r>
              <a:t>Oysters:</a:t>
            </a:r>
            <a:br/>
            <a:r>
              <a:t>Larvae fail below pH 7.9</a:t>
            </a:r>
            <a:br/>
            <a:br/>
            <a:r>
              <a:t>Pteropods:</a:t>
            </a:r>
            <a:br/>
            <a:r>
              <a:t>Shells dissolve below pH 7.8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657600"/>
            <a:ext cx="8595360" cy="118872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53030"/>
                </a:solidFill>
                <a:latin typeface="Arial"/>
              </a:defRPr>
            </a:pPr>
            <a:r>
              <a:t>📝 Complete Station 1 on the student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Compare pH data to organism thresholds. Which organisms are already at risk? Which will be affected by 2100?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⚖️ Station 2 – Carbon Sources and Sinks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20 Points | ~15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09728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Arial"/>
              </a:defRPr>
            </a:pPr>
            <a:r>
              <a:t>⚖️ Your Mission: Track Carbon in the Ocean-Atmosphere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Arial"/>
              </a:defRPr>
            </a:pPr>
            <a:r>
              <a:t>Use mass balance to calculate how much CO₂ the ocean absorbs each year.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331720"/>
            <a:ext cx="8595360" cy="7315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KEY EQUATION: Sources - Sinks = Atmospheric Accumulation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200400"/>
            <a:ext cx="8595360" cy="169164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06"/>
                </a:solidFill>
                <a:latin typeface="Arial"/>
              </a:defRPr>
            </a:pPr>
            <a:r>
              <a:t>📊 Global Carbon Budget (billions of tons CO₂/year):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SOURCES (Release CO₂):</a:t>
            </a:r>
            <a:br/>
            <a:r>
              <a:t>• Fossil fuels + industry: +36 Gt</a:t>
            </a:r>
            <a:br/>
            <a:r>
              <a:t>• Deforestation: +4 Gt</a:t>
            </a:r>
            <a:br/>
            <a:r>
              <a:t>• Total Released: 40 Gt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6576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SINKS (Absorb CO₂):</a:t>
            </a:r>
            <a:br/>
            <a:r>
              <a:t>• Land plants/soil: -12 Gt (30%)</a:t>
            </a:r>
            <a:br/>
            <a:r>
              <a:t>• Ocean: -10 Gt (25%)</a:t>
            </a:r>
            <a:br/>
            <a:r>
              <a:t>• Atmosphere: +18 Gt (45%)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⚖️ Station 2 – Carbon Budget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4114800" cy="21031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  <a:latin typeface="Arial"/>
              </a:defRPr>
            </a:pPr>
            <a:r>
              <a:t>✅ BENEFIT of Ocean CO₂ Absorption: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74903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• Oceans absorb 25% of human CO₂</a:t>
            </a:r>
            <a:br/>
            <a:r>
              <a:t>• Slows climate change</a:t>
            </a:r>
            <a:br/>
            <a:r>
              <a:t>• Without oceans, atmosphere</a:t>
            </a:r>
            <a:br/>
            <a:r>
              <a:t>  would warm much faster</a:t>
            </a:r>
            <a:br/>
            <a:r>
              <a:t>• Ocean = Earth's 'carbon sink'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914400"/>
            <a:ext cx="4297680" cy="2103120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53030"/>
                </a:solidFill>
                <a:latin typeface="Arial"/>
              </a:defRPr>
            </a:pPr>
            <a:r>
              <a:t>❌ COST of Ocean CO₂ Absorption: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37160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• Ocean becomes more acidic</a:t>
            </a:r>
            <a:br/>
            <a:r>
              <a:t>• Shells and coral dissolve</a:t>
            </a:r>
            <a:br/>
            <a:r>
              <a:t>• Marine ecosystems disrupted</a:t>
            </a:r>
            <a:br/>
            <a:r>
              <a:t>• Food webs collapse</a:t>
            </a:r>
            <a:br/>
            <a:r>
              <a:t>• Fisheries threatened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200400"/>
            <a:ext cx="8595360" cy="169164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53030"/>
                </a:solidFill>
                <a:latin typeface="Arial"/>
              </a:defRPr>
            </a:pPr>
            <a:r>
              <a:t>📝 Complete Station 2 on the student page (Calculator needed!)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Use the carbon budget data to:</a:t>
            </a:r>
            <a:br/>
            <a:r>
              <a:t>• Calculate how much CO₂ the ocean absorbs annually</a:t>
            </a:r>
            <a:br/>
            <a:r>
              <a:t>• Explain the trade-off between climate benefits and ocean acidification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7772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🔧 Station 3 – Design a Monitoring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25 Points | ~20 min (Highest Value!)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18872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Arial"/>
              </a:defRPr>
            </a:pPr>
            <a:r>
              <a:t>🔧 Engineering Challenge: Design an Ocean Acidification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Arial"/>
              </a:defRPr>
            </a:pPr>
            <a:r>
              <a:t>Use your knowledge of ocean chemistry to design a network that can track</a:t>
            </a:r>
            <a:br/>
            <a:r>
              <a:t>acidification changes across multiple ocean regions.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23160"/>
            <a:ext cx="8595360" cy="2423160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7490"/>
                </a:solidFill>
                <a:latin typeface="Arial"/>
              </a:defRPr>
            </a:pPr>
            <a:r>
              <a:t>📋 CONSTRAINTS: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• Budget: $500,000 annual cost</a:t>
            </a:r>
            <a:br/>
            <a:r>
              <a:t>• Coverage: At least 3 ocean regions</a:t>
            </a:r>
            <a:br/>
            <a:r>
              <a:t>• Data: Must measure pH, temp, CO₂</a:t>
            </a:r>
            <a:br/>
            <a:r>
              <a:t>• Frequency: Data collected weekly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14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Arial"/>
              </a:defRPr>
            </a:pPr>
            <a:r>
              <a:t>💡 Design Tips: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8036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• Mix technologies to cover all needs</a:t>
            </a:r>
            <a:br/>
            <a:r>
              <a:t>• Consider trade-offs (cost vs coverage)</a:t>
            </a:r>
            <a:br/>
            <a:r>
              <a:t>• Justify your choices</a:t>
            </a:r>
            <a:br/>
            <a:r>
              <a:t>• Stay under budget!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🔧 Station 3 – Available Technologies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8595360" cy="77724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Arial"/>
              </a:defRPr>
            </a:pPr>
            <a:r>
              <a:t>A. Fixed Buoys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00584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Arial"/>
              </a:defRPr>
            </a:pPr>
            <a:r>
              <a:t>$50k/each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00584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pH, temp, CO₂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0058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Reliable, fixed location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783080"/>
            <a:ext cx="8595360" cy="77724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Arial"/>
              </a:defRPr>
            </a:pPr>
            <a:r>
              <a:t>B. Argo Floats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874519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Arial"/>
              </a:defRPr>
            </a:pPr>
            <a:r>
              <a:t>$30k/each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874519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pH, temp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874519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Large area, no CO₂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651760"/>
            <a:ext cx="8595360" cy="77724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74320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Arial"/>
              </a:defRPr>
            </a:pPr>
            <a:r>
              <a:t>C. Ship Surveys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74320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Arial"/>
              </a:defRPr>
            </a:pPr>
            <a:r>
              <a:t>$200k/each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7432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All + samples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74320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Most complete, infrequent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520439"/>
            <a:ext cx="8595360" cy="77724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611879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3AED"/>
                </a:solidFill>
                <a:latin typeface="Arial"/>
              </a:defRPr>
            </a:pPr>
            <a:r>
              <a:t>D. Satellite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611879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A5568"/>
                </a:solidFill>
                <a:latin typeface="Arial"/>
              </a:defRPr>
            </a:pPr>
            <a:r>
              <a:t>$100k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611879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Surface temp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611879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568"/>
                </a:solidFill>
                <a:latin typeface="Arial"/>
              </a:defRPr>
            </a:pPr>
            <a:r>
              <a:t>Global, surface only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53030"/>
                </a:solidFill>
                <a:latin typeface="Arial"/>
              </a:defRPr>
            </a:pPr>
            <a:r>
              <a:t>📝 Complete Station 3 on the student page - Design your network and justify your choices!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7772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Georgia"/>
              </a:defRPr>
            </a:pPr>
            <a:r>
              <a:t>🎓 Exit Ticket – Ocean Chemistry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rial"/>
              </a:defRPr>
            </a:pPr>
            <a:r>
              <a:t>23 Points | ~15 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2286000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B2777"/>
                </a:solidFill>
                <a:latin typeface="Arial"/>
              </a:defRPr>
            </a:pPr>
            <a:r>
              <a:t>🎓 Show What You Learned - Question Types: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Arial"/>
              </a:defRPr>
            </a:pPr>
            <a:r>
              <a:t>• 2 NEW – Ocean acidification content (this week)</a:t>
            </a:r>
            <a:br/>
            <a:r>
              <a:t>• 2 SPIRAL – Cycle 3 review (carbon cycle, greenhouse effect)</a:t>
            </a:r>
            <a:br/>
            <a:r>
              <a:t>• 1 INTEGRATION – Connect atmospheric + ocean effects of CO₂</a:t>
            </a:r>
            <a:br/>
            <a:r>
              <a:t>• 1 SEP-6 – Construct an explanation using evidence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520440"/>
            <a:ext cx="8595360" cy="13716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53030"/>
                </a:solidFill>
                <a:latin typeface="Arial"/>
              </a:defRPr>
            </a:pPr>
            <a:r>
              <a:t>📝 Complete the Exit Ticket on the student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77639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Arial"/>
              </a:defRPr>
            </a:pPr>
            <a:r>
              <a:t>This is your final assessment for Week 1. Take your time!</a:t>
            </a:r>
            <a:br/>
            <a:r>
              <a:t>Use evidence from today's activities to support your answers.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137160"/>
            <a:ext cx="8869680" cy="6400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28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🎉 Week 1 Summary: What You Learned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8595360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91440" cy="82296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91B2"/>
                </a:solidFill>
                <a:latin typeface="Arial"/>
              </a:defRPr>
            </a:pPr>
            <a:r>
              <a:t>Ocean Acidification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CO₂ + H₂O → H₂CO₃ (carbonic acid) → lowers pH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28800"/>
            <a:ext cx="8595360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828800"/>
            <a:ext cx="91440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Arial"/>
              </a:defRPr>
            </a:pPr>
            <a:r>
              <a:t>pH Changes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40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0.1 pH = 26% more acidic (logarithmic scale)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743200"/>
            <a:ext cx="8595360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743200"/>
            <a:ext cx="91440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834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Arial"/>
              </a:defRPr>
            </a:pPr>
            <a:r>
              <a:t>Carbon Budget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154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Ocean absorbs 25% of human CO₂ - a double-edged sword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657600"/>
            <a:ext cx="8595360" cy="82296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657600"/>
            <a:ext cx="91440" cy="8229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749039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Arial"/>
              </a:defRPr>
            </a:pPr>
            <a:r>
              <a:t>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069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568"/>
                </a:solidFill>
                <a:latin typeface="Arial"/>
              </a:defRPr>
            </a:pPr>
            <a:r>
              <a:t>Multiple technologies needed to track ocean chemistry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E7490"/>
                </a:solidFill>
                <a:latin typeface="Arial"/>
              </a:defRPr>
            </a:pPr>
            <a:r>
              <a:t>Next Week: What happens when nutrients run off into waterways? (Eutrophication)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