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9144000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Ocean Acidification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Grade 7 | Cycle 4 Week 1 | MS-ESS3-3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Dissolving Shells Mystery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Scientists found pteropod shells are thinner than 50 years ago</a:t>
            </a:r>
          </a:p>
          <a:p>
            <a:pPr>
              <a:spcAft>
                <a:spcPts val="1000"/>
              </a:spcAft>
              <a:defRPr sz="2200"/>
            </a:pPr>
            <a:r>
              <a:t>• Some shells are dissolving while animals are still alive</a:t>
            </a:r>
          </a:p>
          <a:p>
            <a:pPr>
              <a:spcAft>
                <a:spcPts val="1000"/>
              </a:spcAft>
              <a:defRPr sz="2200"/>
            </a:pPr>
            <a:r>
              <a:t>• The creatures haven't changed—the water has</a:t>
            </a:r>
          </a:p>
          <a:p>
            <a:pPr>
              <a:spcAft>
                <a:spcPts val="1000"/>
              </a:spcAft>
              <a:defRPr sz="2200"/>
            </a:pPr>
          </a:p>
          <a:p>
            <a:pPr>
              <a:spcAft>
                <a:spcPts val="1000"/>
              </a:spcAft>
              <a:defRPr sz="2200"/>
            </a:pPr>
            <a:r>
              <a:t>• DRIVING QUESTION:</a:t>
            </a:r>
          </a:p>
          <a:p>
            <a:pPr>
              <a:spcAft>
                <a:spcPts val="1000"/>
              </a:spcAft>
              <a:defRPr sz="2200"/>
            </a:pPr>
            <a:r>
              <a:t>  Why is the ocean dissolving shells now?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Learning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Explain how atmospheric CO₂ affects ocean pH</a:t>
            </a:r>
          </a:p>
          <a:p>
            <a:pPr>
              <a:spcAft>
                <a:spcPts val="1000"/>
              </a:spcAft>
              <a:defRPr sz="2200"/>
            </a:pPr>
            <a:r>
              <a:t>• Interpret pH data and predict effects on marine life</a:t>
            </a:r>
          </a:p>
          <a:p>
            <a:pPr>
              <a:spcAft>
                <a:spcPts val="1000"/>
              </a:spcAft>
              <a:defRPr sz="2200"/>
            </a:pPr>
            <a:r>
              <a:t>• Apply mass balance to ocean-atmosphere carbon exchange</a:t>
            </a:r>
          </a:p>
          <a:p>
            <a:pPr>
              <a:spcAft>
                <a:spcPts val="1000"/>
              </a:spcAft>
              <a:defRPr sz="2200"/>
            </a:pPr>
            <a:r>
              <a:t>• Design a monitoring system for ocean acidification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3-Dimensional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284C7"/>
                </a:solidFill>
              </a:defRPr>
            </a:pPr>
            <a:r>
              <a:t>Science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SEP-4: Analyzing Data</a:t>
            </a:r>
          </a:p>
          <a:p>
            <a:pPr>
              <a:spcAft>
                <a:spcPts val="800"/>
              </a:spcAft>
              <a:defRPr sz="1800"/>
            </a:pPr>
            <a:r>
              <a:t>• SEP-6: Constructing Explanations</a:t>
            </a:r>
          </a:p>
          <a:p>
            <a:pPr>
              <a:spcAft>
                <a:spcPts val="800"/>
              </a:spcAft>
              <a:defRPr sz="1800"/>
            </a:pPr>
            <a:r>
              <a:t>• SEP-8: Obtaining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284C7"/>
                </a:solidFill>
              </a:defRPr>
            </a:pPr>
            <a:r>
              <a:t>Core Ideas &amp; Crosscutting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ESS3.C: Human Impacts</a:t>
            </a:r>
          </a:p>
          <a:p>
            <a:pPr>
              <a:spcAft>
                <a:spcPts val="800"/>
              </a:spcAft>
              <a:defRPr sz="1800"/>
            </a:pPr>
            <a:r>
              <a:t>• CCC-2: Cause and Effect</a:t>
            </a:r>
          </a:p>
          <a:p>
            <a:pPr>
              <a:spcAft>
                <a:spcPts val="800"/>
              </a:spcAft>
              <a:defRPr sz="1800"/>
            </a:pPr>
            <a:r>
              <a:t>• CCC-4: Systems and Models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Today's Stations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HOOK (12 pts): The Dissolving Shell Mystery</a:t>
            </a:r>
          </a:p>
          <a:p>
            <a:pPr>
              <a:spcAft>
                <a:spcPts val="1000"/>
              </a:spcAft>
              <a:defRPr sz="2200"/>
            </a:pPr>
            <a:r>
              <a:t>• STATION 1 (20 pts): CO₂ Absorption Investigation</a:t>
            </a:r>
          </a:p>
          <a:p>
            <a:pPr>
              <a:spcAft>
                <a:spcPts val="1000"/>
              </a:spcAft>
              <a:defRPr sz="2200"/>
            </a:pPr>
            <a:r>
              <a:t>• STATION 2 (20 pts): pH Data Analysis</a:t>
            </a:r>
          </a:p>
          <a:p>
            <a:pPr>
              <a:spcAft>
                <a:spcPts val="1000"/>
              </a:spcAft>
              <a:defRPr sz="2200"/>
            </a:pPr>
            <a:r>
              <a:t>• STATION 3 (25 pts): Design a Monitoring System</a:t>
            </a:r>
          </a:p>
          <a:p>
            <a:pPr>
              <a:spcAft>
                <a:spcPts val="1000"/>
              </a:spcAft>
              <a:defRPr sz="2200"/>
            </a:pPr>
            <a:r>
              <a:t>• EXIT TICKET (23 pts): Ocean Systems Check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Ocean Acidification: pH decrease from CO₂ absorption</a:t>
            </a:r>
          </a:p>
          <a:p>
            <a:pPr>
              <a:spcAft>
                <a:spcPts val="1000"/>
              </a:spcAft>
              <a:defRPr sz="2200"/>
            </a:pPr>
            <a:r>
              <a:t>• pH Scale: Logarithmic measure of acidity (0-14)</a:t>
            </a:r>
          </a:p>
          <a:p>
            <a:pPr>
              <a:spcAft>
                <a:spcPts val="1000"/>
              </a:spcAft>
              <a:defRPr sz="2200"/>
            </a:pPr>
            <a:r>
              <a:t>• Carbonic Acid: H₂CO₃ formed when CO₂ dissolves</a:t>
            </a:r>
          </a:p>
          <a:p>
            <a:pPr>
              <a:spcAft>
                <a:spcPts val="1000"/>
              </a:spcAft>
              <a:defRPr sz="2200"/>
            </a:pPr>
            <a:r>
              <a:t>• Pteropod: Small marine snail (sea butterfly)</a:t>
            </a:r>
          </a:p>
          <a:p>
            <a:pPr>
              <a:spcAft>
                <a:spcPts val="1000"/>
              </a:spcAft>
              <a:defRPr sz="2200"/>
            </a:pPr>
            <a:r>
              <a:t>• Shell Dissolution: Shells breaking down in acidic water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Spiral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FROM CYCLE 3 (Climate Change):</a:t>
            </a:r>
          </a:p>
          <a:p>
            <a:pPr>
              <a:spcAft>
                <a:spcPts val="1000"/>
              </a:spcAft>
              <a:defRPr sz="2200"/>
            </a:pPr>
            <a:r>
              <a:t>  • CO₂ causes greenhouse effect in atmosphere</a:t>
            </a:r>
          </a:p>
          <a:p>
            <a:pPr>
              <a:spcAft>
                <a:spcPts val="1000"/>
              </a:spcAft>
              <a:defRPr sz="2200"/>
            </a:pPr>
            <a:r>
              <a:t>  • Positive feedback loops amplify changes</a:t>
            </a:r>
          </a:p>
          <a:p>
            <a:pPr>
              <a:spcAft>
                <a:spcPts val="1000"/>
              </a:spcAft>
              <a:defRPr sz="2200"/>
            </a:pPr>
          </a:p>
          <a:p>
            <a:pPr>
              <a:spcAft>
                <a:spcPts val="1000"/>
              </a:spcAft>
              <a:defRPr sz="2200"/>
            </a:pPr>
            <a:r>
              <a:t>• TODAY'S CONNECTION:</a:t>
            </a:r>
          </a:p>
          <a:p>
            <a:pPr>
              <a:spcAft>
                <a:spcPts val="1000"/>
              </a:spcAft>
              <a:defRPr sz="2200"/>
            </a:pPr>
            <a:r>
              <a:t>  • Same CO₂ also affects the ocean</a:t>
            </a:r>
          </a:p>
          <a:p>
            <a:pPr>
              <a:spcAft>
                <a:spcPts val="1000"/>
              </a:spcAft>
              <a:defRPr sz="2200"/>
            </a:pPr>
            <a:r>
              <a:t>  • Another human impact cascade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