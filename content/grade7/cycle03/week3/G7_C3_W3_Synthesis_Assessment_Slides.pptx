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Remind students: This is a FORMAL assessment. Different from weekly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this as helpful review, not stressful cramming.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rotate every 5 minutes. They should WRITE key concepts on sticky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to the molecular diagram. Have students trace the energy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Remind students: 24 lbs gasoline → ~6.5 lbs carbon released as CO₂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Demo: Touch a white vs black surface in sunlight.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Draw the feedback loop diagram on the board. Trace the arrows.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around and check understanding. Note common struggles for tomorrow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Write student questions on board. Address each one explicitly.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these aloud. Make eye contact. This sets expectations.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students finish Part 1, have them wait quietly for Part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Monitor conversations - redirect any content 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Announce when 10 minutes remain. 5-minute warning at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Have books/magazines ready for early finishers.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Remind: Same rules apply. No talking, no sharing.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Don't give away answers - just remind them these traps exist.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brief. Let students process.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Collect these. Use for remediation grouping.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encouraging. Focus on growth, not 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Group students by their most-missed concept, not overall score.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builds growth mindset. Learning &gt; grades.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Recognize effort, not just achievement.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 write - collect for future planning.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energy high. End on positive note.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Build curiosity for next cycle.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76749"/>
                </a:solidFill>
              </a:defRPr>
            </a:pPr>
            <a:r>
              <a:t>🌍 Week 3: Synthesis &amp;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B46C1"/>
                </a:solidFill>
              </a:defRPr>
            </a:pPr>
            <a:r>
              <a:t>Grade 7 Science | Cycle 3 | Climate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76749"/>
                </a:solidFill>
              </a:defRPr>
            </a:pPr>
            <a:r>
              <a:t>📅 This Week's Schedule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Monday: Review Day - Gallery Walk &amp; Practice</a:t>
            </a:r>
          </a:p>
          <a:p>
            <a:pPr>
              <a:spcAft>
                <a:spcPts val="1200"/>
              </a:spcAft>
              <a:defRPr sz="2000"/>
            </a:pPr>
            <a:r>
              <a:t>• Tuesday: Assessment Day 1 - Parts 1 &amp; 2 (80 pts)</a:t>
            </a:r>
          </a:p>
          <a:p>
            <a:pPr>
              <a:spcAft>
                <a:spcPts val="1200"/>
              </a:spcAft>
              <a:defRPr sz="2000"/>
            </a:pPr>
            <a:r>
              <a:t>• Wednesday: Assessment Day 2 - Part 3 (20 pts)</a:t>
            </a:r>
          </a:p>
          <a:p>
            <a:pPr>
              <a:spcAft>
                <a:spcPts val="1200"/>
              </a:spcAft>
              <a:defRPr sz="2000"/>
            </a:pPr>
            <a:r>
              <a:t>• Thursday: Remediation &amp; Second Chances</a:t>
            </a:r>
          </a:p>
          <a:p>
            <a:pPr>
              <a:spcAft>
                <a:spcPts val="1200"/>
              </a:spcAft>
              <a:defRPr sz="2000"/>
            </a:pPr>
            <a:r>
              <a:t>• Friday: Celebration &amp; Cycle 4 Preview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276749"/>
                </a:solidFill>
              </a:defRPr>
            </a:pPr>
            <a:r>
              <a:t>📚 MONDAY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718096"/>
                </a:solidFill>
              </a:defRPr>
            </a:pPr>
            <a:r>
              <a:t>Review Day - Gallery Walk &amp; Practice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76749"/>
                </a:solidFill>
              </a:defRPr>
            </a:pPr>
            <a:r>
              <a:t>🎯 Today's Goals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Review ALL learning targets from Weeks 1 &amp; 2</a:t>
            </a:r>
          </a:p>
          <a:p>
            <a:pPr>
              <a:spcAft>
                <a:spcPts val="1200"/>
              </a:spcAft>
              <a:defRPr sz="2000"/>
            </a:pPr>
            <a:r>
              <a:t>• Practice with assessment-style questions</a:t>
            </a:r>
          </a:p>
          <a:p>
            <a:pPr>
              <a:spcAft>
                <a:spcPts val="1200"/>
              </a:spcAft>
              <a:defRPr sz="2000"/>
            </a:pPr>
            <a:r>
              <a:t>• Ask clarifying questions (last chance before assessment!)</a:t>
            </a:r>
          </a:p>
          <a:p>
            <a:pPr>
              <a:spcAft>
                <a:spcPts val="1200"/>
              </a:spcAft>
              <a:defRPr sz="2000"/>
            </a:pPr>
            <a:r>
              <a:t>• Build confidence for tomorrow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76749"/>
                </a:solidFill>
              </a:defRPr>
            </a:pPr>
            <a:r>
              <a:t>🖼️ Gallery Walk Stations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Station 1: Greenhouse Effect - Why does CO₂ trap heat?</a:t>
            </a:r>
          </a:p>
          <a:p>
            <a:pPr>
              <a:spcAft>
                <a:spcPts val="1200"/>
              </a:spcAft>
              <a:defRPr sz="2000"/>
            </a:pPr>
            <a:r>
              <a:t>• Station 2: Carbon Cycle - Where does carbon go?</a:t>
            </a:r>
          </a:p>
          <a:p>
            <a:pPr>
              <a:spcAft>
                <a:spcPts val="1200"/>
              </a:spcAft>
              <a:defRPr sz="2000"/>
            </a:pPr>
            <a:r>
              <a:t>• Station 3: Albedo Effect - Why does ice stay cool?</a:t>
            </a:r>
          </a:p>
          <a:p>
            <a:pPr>
              <a:spcAft>
                <a:spcPts val="1200"/>
              </a:spcAft>
              <a:defRPr sz="2000"/>
            </a:pPr>
            <a:r>
              <a:t>• Station 4: Feedback Loops - Positive vs. Negative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76749"/>
                </a:solidFill>
              </a:defRPr>
            </a:pPr>
            <a:r>
              <a:t>Station 1: Greenhouse Effect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KEY QUESTION: How does CO₂ trap heat?</a:t>
            </a:r>
          </a:p>
          <a:p>
            <a:pPr>
              <a:spcAft>
                <a:spcPts val="1200"/>
              </a:spcAft>
              <a:defRPr sz="2000"/>
            </a:pPr>
            <a:r>
              <a:t>• ANSWER: CO₂ molecules VIBRATE when hit by infrared light</a:t>
            </a:r>
          </a:p>
          <a:p>
            <a:pPr>
              <a:spcAft>
                <a:spcPts val="1200"/>
              </a:spcAft>
              <a:defRPr sz="2000"/>
            </a:pPr>
            <a:r>
              <a:t>• The vibration = heat = warming atmosphere</a:t>
            </a:r>
          </a:p>
          <a:p>
            <a:pPr>
              <a:spcAft>
                <a:spcPts val="1200"/>
              </a:spcAft>
              <a:defRPr sz="2000"/>
            </a:pPr>
            <a:r>
              <a:t>• ⚠️ MISCONCEPTION: CO₂ doesn't 'break apart' - it vibrates!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76749"/>
                </a:solidFill>
              </a:defRPr>
            </a:pPr>
            <a:r>
              <a:t>Station 2: Carbon 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KEY QUESTION: Where does carbon go?</a:t>
            </a:r>
          </a:p>
          <a:p>
            <a:pPr>
              <a:spcAft>
                <a:spcPts val="1200"/>
              </a:spcAft>
              <a:defRPr sz="2000"/>
            </a:pPr>
            <a:r>
              <a:t>• ANSWER: Carbon cycles between atmosphere, ocean, life, and rocks</a:t>
            </a:r>
          </a:p>
          <a:p>
            <a:pPr>
              <a:spcAft>
                <a:spcPts val="1200"/>
              </a:spcAft>
              <a:defRPr sz="2000"/>
            </a:pPr>
            <a:r>
              <a:t>• Fossil fuels = STORED ancient carbon from plants</a:t>
            </a:r>
          </a:p>
          <a:p>
            <a:pPr>
              <a:spcAft>
                <a:spcPts val="1200"/>
              </a:spcAft>
              <a:defRPr sz="2000"/>
            </a:pPr>
            <a:r>
              <a:t>• ⚠️ MISCONCEPTION: Carbon doesn't 'disappear' - conservation of mass!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76749"/>
                </a:solidFill>
              </a:defRPr>
            </a:pPr>
            <a:r>
              <a:t>Station 3: Albedo Effect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KEY QUESTION: Why do light surfaces stay cool?</a:t>
            </a:r>
          </a:p>
          <a:p>
            <a:pPr>
              <a:spcAft>
                <a:spcPts val="1200"/>
              </a:spcAft>
              <a:defRPr sz="2000"/>
            </a:pPr>
            <a:r>
              <a:t>• ANSWER: High albedo = reflects more sunlight = less absorption</a:t>
            </a:r>
          </a:p>
          <a:p>
            <a:pPr>
              <a:spcAft>
                <a:spcPts val="1200"/>
              </a:spcAft>
              <a:defRPr sz="2000"/>
            </a:pPr>
            <a:r>
              <a:t>• Ice: ~0.85 albedo (reflects 85%)</a:t>
            </a:r>
          </a:p>
          <a:p>
            <a:pPr>
              <a:spcAft>
                <a:spcPts val="1200"/>
              </a:spcAft>
              <a:defRPr sz="2000"/>
            </a:pPr>
            <a:r>
              <a:t>• Ocean: ~0.06 albedo (absorbs 94%)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76749"/>
                </a:solidFill>
              </a:defRPr>
            </a:pPr>
            <a:r>
              <a:t>Station 4: Feedback Loops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POSITIVE feedback: Change → MORE change (amplifies)</a:t>
            </a:r>
          </a:p>
          <a:p>
            <a:pPr>
              <a:spcAft>
                <a:spcPts val="1200"/>
              </a:spcAft>
              <a:defRPr sz="2000"/>
            </a:pPr>
            <a:r>
              <a:t>• Example: Ice melts → exposes dark ocean → absorbs more heat → more ice melts</a:t>
            </a:r>
          </a:p>
          <a:p>
            <a:pPr>
              <a:spcAft>
                <a:spcPts val="1200"/>
              </a:spcAft>
              <a:defRPr sz="2000"/>
            </a:pPr>
            <a:r>
              <a:t>• NEGATIVE feedback: Change → LESS change (stabilizes)</a:t>
            </a:r>
          </a:p>
          <a:p>
            <a:pPr>
              <a:spcAft>
                <a:spcPts val="1200"/>
              </a:spcAft>
              <a:defRPr sz="2000"/>
            </a:pPr>
            <a:r>
              <a:t>• ⚠️ MISCONCEPTION: 'Positive' doesn't mean 'good'!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76749"/>
                </a:solidFill>
              </a:defRPr>
            </a:pPr>
            <a:r>
              <a:t>📝 Practice Problems (20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Complete the practice worksheet</a:t>
            </a:r>
          </a:p>
          <a:p>
            <a:pPr>
              <a:spcAft>
                <a:spcPts val="1200"/>
              </a:spcAft>
              <a:defRPr sz="2000"/>
            </a:pPr>
            <a:r>
              <a:t>• These questions are SIMILAR to tomorrow's assessment</a:t>
            </a:r>
          </a:p>
          <a:p>
            <a:pPr>
              <a:spcAft>
                <a:spcPts val="1200"/>
              </a:spcAft>
              <a:defRPr sz="2000"/>
            </a:pPr>
            <a:r>
              <a:t>• Work individually first, then check with partner</a:t>
            </a:r>
          </a:p>
          <a:p>
            <a:pPr>
              <a:spcAft>
                <a:spcPts val="1200"/>
              </a:spcAft>
              <a:defRPr sz="2000"/>
            </a:pPr>
            <a:r>
              <a:t>• Raise hand if stuck - I CAN help today!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76749"/>
                </a:solidFill>
              </a:defRPr>
            </a:pPr>
            <a:r>
              <a:t>❓ Q&amp;A Session (15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What questions do you have about CONTENT?</a:t>
            </a:r>
          </a:p>
          <a:p>
            <a:pPr>
              <a:spcAft>
                <a:spcPts val="1200"/>
              </a:spcAft>
              <a:defRPr sz="2000"/>
            </a:pPr>
            <a:r>
              <a:t>• What questions do you have about the ASSESSMENT FORMAT?</a:t>
            </a:r>
          </a:p>
          <a:p>
            <a:pPr>
              <a:spcAft>
                <a:spcPts val="1200"/>
              </a:spcAft>
              <a:defRPr sz="2000"/>
            </a:pPr>
            <a:r>
              <a:t>• What concepts feel shaky?</a:t>
            </a:r>
          </a:p>
          <a:p>
            <a:pPr>
              <a:spcAft>
                <a:spcPts val="1200"/>
              </a:spcAft>
              <a:defRPr sz="2000"/>
            </a:pPr>
            <a:r>
              <a:t>• Tomorrow I cannot help with answers - ask now!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2B6CB0"/>
                </a:solidFill>
              </a:defRPr>
            </a:pPr>
            <a:r>
              <a:t>📋 TUESDAY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718096"/>
                </a:solidFill>
              </a:defRPr>
            </a:pPr>
            <a:r>
              <a:t>Assessment Day 1 - Parts 1 &amp; 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53030"/>
                </a:solidFill>
              </a:defRPr>
            </a:pPr>
            <a:r>
              <a:t>⚠️ Assessment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This is a FORMAL assessment</a:t>
            </a:r>
          </a:p>
          <a:p>
            <a:pPr>
              <a:spcAft>
                <a:spcPts val="1200"/>
              </a:spcAft>
              <a:defRPr sz="2000"/>
            </a:pPr>
            <a:r>
              <a:t>• No talking to classmates</a:t>
            </a:r>
          </a:p>
          <a:p>
            <a:pPr>
              <a:spcAft>
                <a:spcPts val="1200"/>
              </a:spcAft>
              <a:defRPr sz="2000"/>
            </a:pPr>
            <a:r>
              <a:t>• No looking at other screens</a:t>
            </a:r>
          </a:p>
          <a:p>
            <a:pPr>
              <a:spcAft>
                <a:spcPts val="1200"/>
              </a:spcAft>
              <a:defRPr sz="2000"/>
            </a:pPr>
            <a:r>
              <a:t>• If question is CONFUSING, raise hand - I'll clarify the question</a:t>
            </a:r>
          </a:p>
          <a:p>
            <a:pPr>
              <a:spcAft>
                <a:spcPts val="1200"/>
              </a:spcAft>
              <a:defRPr sz="2000"/>
            </a:pPr>
            <a:r>
              <a:t>• I CANNOT help with answers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76749"/>
                </a:solidFill>
              </a:defRPr>
            </a:pPr>
            <a:r>
              <a:t>📱 Part 1: Synthesis (15 min, 20 pts)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4 questions connecting Week 1 + Week 2 concepts</a:t>
            </a:r>
          </a:p>
          <a:p>
            <a:pPr>
              <a:spcAft>
                <a:spcPts val="1200"/>
              </a:spcAft>
              <a:defRPr sz="2000"/>
            </a:pPr>
            <a:r>
              <a:t>• You must EXPLAIN connections, not just identify</a:t>
            </a:r>
          </a:p>
          <a:p>
            <a:pPr>
              <a:spcAft>
                <a:spcPts val="1200"/>
              </a:spcAft>
              <a:defRPr sz="2000"/>
            </a:pPr>
            <a:r>
              <a:t>• Use complete sentences</a:t>
            </a:r>
          </a:p>
          <a:p>
            <a:pPr>
              <a:spcAft>
                <a:spcPts val="1200"/>
              </a:spcAft>
              <a:defRPr sz="2000"/>
            </a:pPr>
            <a:r>
              <a:t>• Take your time - quality over speed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76749"/>
                </a:solidFill>
              </a:defRPr>
            </a:pPr>
            <a:r>
              <a:t>⏰ 5-Minute Break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Stand up and stretch</a:t>
            </a:r>
          </a:p>
          <a:p>
            <a:pPr>
              <a:spcAft>
                <a:spcPts val="1200"/>
              </a:spcAft>
              <a:defRPr sz="2000"/>
            </a:pPr>
            <a:r>
              <a:t>• Get water if needed</a:t>
            </a:r>
          </a:p>
          <a:p>
            <a:pPr>
              <a:spcAft>
                <a:spcPts val="1200"/>
              </a:spcAft>
              <a:defRPr sz="2000"/>
            </a:pPr>
            <a:r>
              <a:t>• NO talking about assessment content</a:t>
            </a:r>
          </a:p>
          <a:p>
            <a:pPr>
              <a:spcAft>
                <a:spcPts val="1200"/>
              </a:spcAft>
              <a:defRPr sz="2000"/>
            </a:pPr>
            <a:r>
              <a:t>• Return to seat in 5 minutes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76749"/>
                </a:solidFill>
              </a:defRPr>
            </a:pPr>
            <a:r>
              <a:t>📋 Part 2: Cumulative Assessment (40 min, 60 pts)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Section A: Greenhouse Effect (15 pts)</a:t>
            </a:r>
          </a:p>
          <a:p>
            <a:pPr>
              <a:spcAft>
                <a:spcPts val="1200"/>
              </a:spcAft>
              <a:defRPr sz="2000"/>
            </a:pPr>
            <a:r>
              <a:t>• Section B: Carbon Cycle (15 pts)</a:t>
            </a:r>
          </a:p>
          <a:p>
            <a:pPr>
              <a:spcAft>
                <a:spcPts val="1200"/>
              </a:spcAft>
              <a:defRPr sz="2000"/>
            </a:pPr>
            <a:r>
              <a:t>• Section C: Albedo &amp; Feedback (15 pts)</a:t>
            </a:r>
          </a:p>
          <a:p>
            <a:pPr>
              <a:spcAft>
                <a:spcPts val="1200"/>
              </a:spcAft>
              <a:defRPr sz="2000"/>
            </a:pPr>
            <a:r>
              <a:t>• Section D: Integration (15 pts)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76749"/>
                </a:solidFill>
              </a:defRPr>
            </a:pPr>
            <a:r>
              <a:t>✅ When You Finish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Review your answers before submitting</a:t>
            </a:r>
          </a:p>
          <a:p>
            <a:pPr>
              <a:spcAft>
                <a:spcPts val="1200"/>
              </a:spcAft>
              <a:defRPr sz="2000"/>
            </a:pPr>
            <a:r>
              <a:t>• Check: Did you explain your reasoning?</a:t>
            </a:r>
          </a:p>
          <a:p>
            <a:pPr>
              <a:spcAft>
                <a:spcPts val="1200"/>
              </a:spcAft>
              <a:defRPr sz="2000"/>
            </a:pPr>
            <a:r>
              <a:t>• Click SUBMIT when ready</a:t>
            </a:r>
          </a:p>
          <a:p>
            <a:pPr>
              <a:spcAft>
                <a:spcPts val="1200"/>
              </a:spcAft>
              <a:defRPr sz="2000"/>
            </a:pPr>
            <a:r>
              <a:t>• Silent reading only - no devices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DD6B20"/>
                </a:solidFill>
              </a:defRPr>
            </a:pPr>
            <a:r>
              <a:t>📋 WEDNESDAY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718096"/>
                </a:solidFill>
              </a:defRPr>
            </a:pPr>
            <a:r>
              <a:t>Assessment Day 2 - Part 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76749"/>
                </a:solidFill>
              </a:defRPr>
            </a:pPr>
            <a:r>
              <a:t>📱 Part 3: Misconception Check (20 min, 20 pts)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4 questions targeting common mistakes</a:t>
            </a:r>
          </a:p>
          <a:p>
            <a:pPr>
              <a:spcAft>
                <a:spcPts val="1200"/>
              </a:spcAft>
              <a:defRPr sz="2000"/>
            </a:pPr>
            <a:r>
              <a:t>• These check if misconceptions were corrected</a:t>
            </a:r>
          </a:p>
          <a:p>
            <a:pPr>
              <a:spcAft>
                <a:spcPts val="1200"/>
              </a:spcAft>
              <a:defRPr sz="2000"/>
            </a:pPr>
            <a:r>
              <a:t>• Think carefully - wrong patterns are tempting!</a:t>
            </a:r>
          </a:p>
          <a:p>
            <a:pPr>
              <a:spcAft>
                <a:spcPts val="1200"/>
              </a:spcAft>
              <a:defRPr sz="2000"/>
            </a:pPr>
            <a:r>
              <a:t>• Last assessment piece!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76749"/>
                </a:solidFill>
              </a:defRPr>
            </a:pPr>
            <a:r>
              <a:t>🔍 Key Misconceptions to Avoid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❌ 'Breaking bonds releases energy' → ✅ Breaking bonds REQUIRES energy</a:t>
            </a:r>
          </a:p>
          <a:p>
            <a:pPr>
              <a:spcAft>
                <a:spcPts val="1200"/>
              </a:spcAft>
              <a:defRPr sz="2000"/>
            </a:pPr>
            <a:r>
              <a:t>• ❌ 'Mass disappears' → ✅ Mass is conserved, changes form</a:t>
            </a:r>
          </a:p>
          <a:p>
            <a:pPr>
              <a:spcAft>
                <a:spcPts val="1200"/>
              </a:spcAft>
              <a:defRPr sz="2000"/>
            </a:pPr>
            <a:r>
              <a:t>• ❌ 'Positive feedback is good' → ✅ Positive = amplifies change</a:t>
            </a:r>
          </a:p>
          <a:p>
            <a:pPr>
              <a:spcAft>
                <a:spcPts val="1200"/>
              </a:spcAft>
              <a:defRPr sz="2000"/>
            </a:pPr>
            <a:r>
              <a:t>• Think before answering!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76749"/>
                </a:solidFill>
              </a:defRPr>
            </a:pPr>
            <a:r>
              <a:t>🗣️ Immediate Debrief (5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How did it feel?</a:t>
            </a:r>
          </a:p>
          <a:p>
            <a:pPr>
              <a:spcAft>
                <a:spcPts val="1200"/>
              </a:spcAft>
              <a:defRPr sz="2000"/>
            </a:pPr>
            <a:r>
              <a:t>• Any questions that surprised you?</a:t>
            </a:r>
          </a:p>
          <a:p>
            <a:pPr>
              <a:spcAft>
                <a:spcPts val="1200"/>
              </a:spcAft>
              <a:defRPr sz="2000"/>
            </a:pPr>
            <a:r>
              <a:t>• What would you study more if you could?</a:t>
            </a:r>
          </a:p>
          <a:p>
            <a:pPr>
              <a:spcAft>
                <a:spcPts val="1200"/>
              </a:spcAft>
              <a:defRPr sz="2000"/>
            </a:pPr>
            <a:r>
              <a:t>• Self-reflection: Rate your confidence 1-5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76749"/>
                </a:solidFill>
              </a:defRPr>
            </a:pPr>
            <a:r>
              <a:t>📝 Self-Reflection Activity (15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Write: 3 things I learned in Cycle 3</a:t>
            </a:r>
          </a:p>
          <a:p>
            <a:pPr>
              <a:spcAft>
                <a:spcPts val="1200"/>
              </a:spcAft>
              <a:defRPr sz="2000"/>
            </a:pPr>
            <a:r>
              <a:t>• Write: 2 questions I still have</a:t>
            </a:r>
          </a:p>
          <a:p>
            <a:pPr>
              <a:spcAft>
                <a:spcPts val="1200"/>
              </a:spcAft>
              <a:defRPr sz="2000"/>
            </a:pPr>
            <a:r>
              <a:t>• Write: 1 concept I want to explore more</a:t>
            </a:r>
          </a:p>
          <a:p>
            <a:pPr>
              <a:spcAft>
                <a:spcPts val="1200"/>
              </a:spcAft>
              <a:defRPr sz="2000"/>
            </a:pPr>
            <a:r>
              <a:t>• Be honest - this helps YOU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6B46C1"/>
                </a:solidFill>
              </a:defRPr>
            </a:pPr>
            <a:r>
              <a:t>🔧 THURSDAY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718096"/>
                </a:solidFill>
              </a:defRPr>
            </a:pPr>
            <a:r>
              <a:t>Remediation &amp; Second Chances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76749"/>
                </a:solidFill>
              </a:defRPr>
            </a:pPr>
            <a:r>
              <a:t>📊 Score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Part 1 scores returned today</a:t>
            </a:r>
          </a:p>
          <a:p>
            <a:pPr>
              <a:spcAft>
                <a:spcPts val="1200"/>
              </a:spcAft>
              <a:defRPr sz="2000"/>
            </a:pPr>
            <a:r>
              <a:t>• Part 2 scores returned today</a:t>
            </a:r>
          </a:p>
          <a:p>
            <a:pPr>
              <a:spcAft>
                <a:spcPts val="1200"/>
              </a:spcAft>
              <a:defRPr sz="2000"/>
            </a:pPr>
            <a:r>
              <a:t>• Part 3 scores coming Friday</a:t>
            </a:r>
          </a:p>
          <a:p>
            <a:pPr>
              <a:spcAft>
                <a:spcPts val="1200"/>
              </a:spcAft>
              <a:defRPr sz="2000"/>
            </a:pPr>
            <a:r>
              <a:t>• Overall: Add Parts 1 + 2 + 3 = Total out of 100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76749"/>
                </a:solidFill>
              </a:defRPr>
            </a:pPr>
            <a:r>
              <a:t>👥 Remediation Groups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Group A: Bond Energy - with Mr. Rosche</a:t>
            </a:r>
          </a:p>
          <a:p>
            <a:pPr>
              <a:spcAft>
                <a:spcPts val="1200"/>
              </a:spcAft>
              <a:defRPr sz="2000"/>
            </a:pPr>
            <a:r>
              <a:t>• Group B: Conservation of Mass - independent practice</a:t>
            </a:r>
          </a:p>
          <a:p>
            <a:pPr>
              <a:spcAft>
                <a:spcPts val="1200"/>
              </a:spcAft>
              <a:defRPr sz="2000"/>
            </a:pPr>
            <a:r>
              <a:t>• Group C: Feedback Loops - peer teaching pairs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76749"/>
                </a:solidFill>
              </a:defRPr>
            </a:pPr>
            <a:r>
              <a:t>🔄 Second Chance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You may REDO one question for partial credit</a:t>
            </a:r>
          </a:p>
          <a:p>
            <a:pPr>
              <a:spcAft>
                <a:spcPts val="1200"/>
              </a:spcAft>
              <a:defRPr sz="2000"/>
            </a:pPr>
            <a:r>
              <a:t>• Choose your WEAKEST section</a:t>
            </a:r>
          </a:p>
          <a:p>
            <a:pPr>
              <a:spcAft>
                <a:spcPts val="1200"/>
              </a:spcAft>
              <a:defRPr sz="2000"/>
            </a:pPr>
            <a:r>
              <a:t>• Show your work and explain your thinking</a:t>
            </a:r>
          </a:p>
          <a:p>
            <a:pPr>
              <a:spcAft>
                <a:spcPts val="1200"/>
              </a:spcAft>
              <a:defRPr sz="2000"/>
            </a:pPr>
            <a:r>
              <a:t>• New answer replaces old (can only go up!)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276749"/>
                </a:solidFill>
              </a:defRPr>
            </a:pPr>
            <a:r>
              <a:t>🎉 FRIDAY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718096"/>
                </a:solidFill>
              </a:defRPr>
            </a:pPr>
            <a:r>
              <a:t>Celebration &amp; Cycle 4 Preview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76749"/>
                </a:solidFill>
              </a:defRPr>
            </a:pPr>
            <a:r>
              <a:t>🏆 Final Scores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All assessment scores returned</a:t>
            </a:r>
          </a:p>
          <a:p>
            <a:pPr>
              <a:spcAft>
                <a:spcPts val="1200"/>
              </a:spcAft>
              <a:defRPr sz="2000"/>
            </a:pPr>
            <a:r>
              <a:t>• Celebrate growth from Week 1 → Week 3</a:t>
            </a:r>
          </a:p>
          <a:p>
            <a:pPr>
              <a:spcAft>
                <a:spcPts val="1200"/>
              </a:spcAft>
              <a:defRPr sz="2000"/>
            </a:pPr>
            <a:r>
              <a:t>• Mastery badges for top performers</a:t>
            </a:r>
          </a:p>
          <a:p>
            <a:pPr>
              <a:spcAft>
                <a:spcPts val="1200"/>
              </a:spcAft>
              <a:defRPr sz="2000"/>
            </a:pPr>
            <a:r>
              <a:t>• Growth awards for most improvement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76749"/>
                </a:solidFill>
              </a:defRPr>
            </a:pPr>
            <a:r>
              <a:t>📝 3-2-1 Reflection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3 things I learned in Cycle 3</a:t>
            </a:r>
          </a:p>
          <a:p>
            <a:pPr>
              <a:spcAft>
                <a:spcPts val="1200"/>
              </a:spcAft>
              <a:defRPr sz="2000"/>
            </a:pPr>
            <a:r>
              <a:t>• 2 questions I still have</a:t>
            </a:r>
          </a:p>
          <a:p>
            <a:pPr>
              <a:spcAft>
                <a:spcPts val="1200"/>
              </a:spcAft>
              <a:defRPr sz="2000"/>
            </a:pPr>
            <a:r>
              <a:t>• 1 goal for Cycle 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76749"/>
                </a:solidFill>
              </a:defRPr>
            </a:pPr>
            <a:r>
              <a:t>🎮 Celebration Activity: Climate Kahoot!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Fun review of Cycle 3 concepts</a:t>
            </a:r>
          </a:p>
          <a:p>
            <a:pPr>
              <a:spcAft>
                <a:spcPts val="1200"/>
              </a:spcAft>
              <a:defRPr sz="2000"/>
            </a:pPr>
            <a:r>
              <a:t>• Team competition</a:t>
            </a:r>
          </a:p>
          <a:p>
            <a:pPr>
              <a:spcAft>
                <a:spcPts val="1200"/>
              </a:spcAft>
              <a:defRPr sz="2000"/>
            </a:pPr>
            <a:r>
              <a:t>• Prizes for winners!</a:t>
            </a:r>
          </a:p>
          <a:p>
            <a:pPr>
              <a:spcAft>
                <a:spcPts val="1200"/>
              </a:spcAft>
              <a:defRPr sz="2000"/>
            </a:pPr>
            <a:r>
              <a:t>• No pressure - just fun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76749"/>
                </a:solidFill>
              </a:defRPr>
            </a:pPr>
            <a:r>
              <a:t>🔮 Coming in January: Cycle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Topic: Ecosystems &amp; Energy Flow</a:t>
            </a:r>
          </a:p>
          <a:p>
            <a:pPr>
              <a:spcAft>
                <a:spcPts val="1200"/>
              </a:spcAft>
              <a:defRPr sz="2000"/>
            </a:pPr>
            <a:r>
              <a:t>• Where does energy come from?</a:t>
            </a:r>
          </a:p>
          <a:p>
            <a:pPr>
              <a:spcAft>
                <a:spcPts val="1200"/>
              </a:spcAft>
              <a:defRPr sz="2000"/>
            </a:pPr>
            <a:r>
              <a:t>• How does energy move through food webs?</a:t>
            </a:r>
          </a:p>
          <a:p>
            <a:pPr>
              <a:spcAft>
                <a:spcPts val="1200"/>
              </a:spcAft>
              <a:defRPr sz="2000"/>
            </a:pPr>
            <a:r>
              <a:t>• What happens when ecosystems are disrupted?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76749"/>
                </a:solidFill>
              </a:defRPr>
            </a:pPr>
            <a:r>
              <a:t>🎉 Cycle 3 Complete!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B46C1"/>
                </a:solidFill>
              </a:defRPr>
            </a:pPr>
            <a:r>
              <a:t>Great work! Enjoy winter break!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