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Georgia"/>
              </a:defRPr>
            </a:pPr>
            <a:r>
              <a:t>📋 Week 3: Synthesis &amp; Assessment 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Arial"/>
              </a:defRPr>
            </a:pPr>
            <a:r>
              <a:t>Grade 7 Science | Rosche | Kairos Academies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Cycle 3 Cumulative Assessment | 100 Points Total | ~75 Minutes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3840480"/>
            <a:ext cx="5486400" cy="731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B2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20240" y="39776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B2C2C"/>
                </a:solidFill>
                <a:latin typeface="Arial"/>
              </a:defRPr>
            </a:pPr>
            <a:r>
              <a:t>⚠️ Assessment Week - Show What You Know!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8778240" cy="54864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⚠️ Assessment Week - Important Information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914400"/>
            <a:ext cx="8778240" cy="2011680"/>
          </a:xfrm>
          <a:prstGeom prst="round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2880" y="914400"/>
            <a:ext cx="73152" cy="201168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B2C2C"/>
                </a:solidFill>
                <a:latin typeface="Arial"/>
              </a:defRPr>
            </a:pPr>
            <a:r>
              <a:t>• This is your cumulative assessment for Cycle 3 Climate Change unit</a:t>
            </a:r>
            <a:br/>
            <a:r>
              <a:t>• You may NOT go back once you submit each part</a:t>
            </a:r>
            <a:br/>
            <a:r>
              <a:t>• Complete all 3 parts in order: Synthesis → Assessment → Misconception Check</a:t>
            </a:r>
            <a:br/>
            <a:r>
              <a:t>• Take breaks between parts - your brain works better with rest!</a:t>
            </a:r>
            <a:br/>
            <a:r>
              <a:t>• Ask Mr. Rosche if you need clarification on any question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" y="3108960"/>
            <a:ext cx="2743200" cy="9144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32004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🔗 Part 1: Synthesis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5204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20 pts | ~15 min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3108960"/>
            <a:ext cx="2743200" cy="91440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32004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Part 2: Assessment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5204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60 pts | ~40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108960"/>
            <a:ext cx="2743200" cy="91440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2004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🎯 Part 3: Misconceptions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5204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20 pts | ~20 min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4206240"/>
            <a:ext cx="8778240" cy="54864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427939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💡 Take 5-minute breaks between parts for best performance!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37160"/>
            <a:ext cx="8778240" cy="45720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📚 What You Need to Know (Review Guide)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31520"/>
            <a:ext cx="4297680" cy="13716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2880" y="731520"/>
            <a:ext cx="73152" cy="13716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67EEA"/>
                </a:solidFill>
                <a:latin typeface="Arial"/>
              </a:defRPr>
            </a:pPr>
            <a:r>
              <a:t>Week 1: Greenhouse Effect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4023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CO₂ absorbs IR and vibrates (doesn't break)</a:t>
            </a:r>
            <a:br/>
            <a:r>
              <a:t>• 3+ atom molecules absorb IR</a:t>
            </a:r>
            <a:br/>
            <a:r>
              <a:t>• Carbon cycle - atoms conserved</a:t>
            </a:r>
            <a:br/>
            <a:r>
              <a:t>• 6CO₂ + 6H₂O → C₆H₁₂O₆ + 6O₂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731520"/>
            <a:ext cx="4297680" cy="13716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731520"/>
            <a:ext cx="73152" cy="137160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8229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34E52"/>
                </a:solidFill>
                <a:latin typeface="Arial"/>
              </a:defRPr>
            </a:pPr>
            <a:r>
              <a:t>Week 2: Feedback Loops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143000"/>
            <a:ext cx="4023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Albedo = fraction of light reflected</a:t>
            </a:r>
            <a:br/>
            <a:r>
              <a:t>• Positive feedback = change amplifies itself</a:t>
            </a:r>
            <a:br/>
            <a:r>
              <a:t>• Ice-albedo: melting → dark ocean → more heat</a:t>
            </a:r>
            <a:br/>
            <a:r>
              <a:t>• Carbon sink saturation: warm ocean absorbs less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" y="2240280"/>
            <a:ext cx="8778240" cy="100584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2880" y="2240280"/>
            <a:ext cx="73152" cy="100584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33172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6749"/>
                </a:solidFill>
                <a:latin typeface="Arial"/>
              </a:defRPr>
            </a:pPr>
            <a:r>
              <a:t>Cycle 2 Spiral Review: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651760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• Breaking bonds REQUIRES energy (not releases!)  •  Forming bonds RELEASES energy  •  Conservation of mass: atoms rearranged, never created/destroyed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3383280"/>
            <a:ext cx="8778240" cy="9144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474720"/>
            <a:ext cx="8412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rial"/>
              </a:defRPr>
            </a:pPr>
            <a:r>
              <a:t>🔑 KEY EQUATIONS TO KNOW: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749039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Photosynthesis: 6CO₂ + 6H₂O + light → C₆H₁₂O₆ + 6O₂   |   Combustion: C₆H₁₂O₆ + 6O₂ → 6CO₂ + 6H₂O + energy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" y="4434840"/>
            <a:ext cx="8778240" cy="50292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Use your notecard from W1 &amp; W2 during the assessment!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37160"/>
            <a:ext cx="8778240" cy="45720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⚠️ Common Mistakes to Avoid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31520"/>
            <a:ext cx="4297680" cy="914400"/>
          </a:xfrm>
          <a:prstGeom prst="round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3030"/>
                </a:solidFill>
                <a:latin typeface="Arial"/>
              </a:defRPr>
            </a:pPr>
            <a:r>
              <a:t>❌ WRONG: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4023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"Breaking bonds releases energy"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731520"/>
            <a:ext cx="4297680" cy="9144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82296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76749"/>
                </a:solidFill>
                <a:latin typeface="Arial"/>
              </a:defRPr>
            </a:pPr>
            <a:r>
              <a:t>✅ CORRECT: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051560"/>
            <a:ext cx="4023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Breaking bonds REQUIRES energy; forming bonds releases energy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1783080"/>
            <a:ext cx="4297680" cy="914400"/>
          </a:xfrm>
          <a:prstGeom prst="round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874519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3030"/>
                </a:solidFill>
                <a:latin typeface="Arial"/>
              </a:defRPr>
            </a:pPr>
            <a:r>
              <a:t>❌ WRONG: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103120"/>
            <a:ext cx="4023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"Mass disappears in reactions"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783080"/>
            <a:ext cx="4297680" cy="9144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1874519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76749"/>
                </a:solidFill>
                <a:latin typeface="Arial"/>
              </a:defRPr>
            </a:pPr>
            <a:r>
              <a:t>✅ CORRECT: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103120"/>
            <a:ext cx="4023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Mass is conserved; atoms rearrange but are never destroyed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2834639"/>
            <a:ext cx="4297680" cy="914400"/>
          </a:xfrm>
          <a:prstGeom prst="round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926079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3030"/>
                </a:solidFill>
                <a:latin typeface="Arial"/>
              </a:defRPr>
            </a:pPr>
            <a:r>
              <a:t>❌ WRONG: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154679"/>
            <a:ext cx="4023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"Positive feedback is good"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3440" y="2834639"/>
            <a:ext cx="4297680" cy="9144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2926079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76749"/>
                </a:solidFill>
                <a:latin typeface="Arial"/>
              </a:defRPr>
            </a:pPr>
            <a:r>
              <a:t>✅ CORRECT: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3154679"/>
            <a:ext cx="4023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Positive means AMPLIFYING (same direction), not beneficial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880" y="3931920"/>
            <a:ext cx="8778240" cy="82296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402336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Arial"/>
              </a:defRPr>
            </a:pPr>
            <a:r>
              <a:t>💡 REMEMBER: CO₂ molecules VIBRATE when they absorb infrared light - they don't break apart!</a:t>
            </a:r>
            <a:br/>
            <a:r>
              <a:t>This vibration is what traps heat in the atmosphere.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🔗 Part 1: Synthesis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~15 min | Connects Week 1 + Week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7EEA"/>
                </a:solidFill>
                <a:latin typeface="Arial"/>
              </a:defRPr>
            </a:pPr>
            <a:r>
              <a:t>WHAT YOU'LL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1. Create a diagram connecting:</a:t>
            </a:r>
            <a:br/>
            <a:r>
              <a:t>   • Greenhouse effect</a:t>
            </a:r>
            <a:br/>
            <a:r>
              <a:t>   • Feedback loops</a:t>
            </a:r>
            <a:br/>
            <a:r>
              <a:t>   • Human emissions</a:t>
            </a:r>
            <a:br/>
            <a:r>
              <a:t>2. Identify the primary driver of climate change</a:t>
            </a:r>
            <a:br/>
            <a:r>
              <a:t>3. Explain how the complete system works</a:t>
            </a:r>
            <a:br/>
            <a:r>
              <a:t>4. Connect to Cycle 2 conservation concepts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2194560"/>
          </a:xfrm>
          <a:prstGeom prst="round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🎯 KEY CONNECTION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Arial"/>
              </a:defRPr>
            </a:pPr>
            <a:r>
              <a:t>How does the greenhouse effect (W1) connect to feedback loops (W2)?</a:t>
            </a:r>
            <a:br/>
            <a:br/>
            <a:r>
              <a:t>CO₂ traps heat →</a:t>
            </a:r>
            <a:br/>
            <a:r>
              <a:t>Ice melts →</a:t>
            </a:r>
            <a:br/>
            <a:r>
              <a:t>Albedo decreases →</a:t>
            </a:r>
            <a:br/>
            <a:r>
              <a:t>More heat absorbed →</a:t>
            </a:r>
            <a:br/>
            <a:r>
              <a:t>More ice melts...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3383280"/>
            <a:ext cx="8869680" cy="4572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3456432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34E52"/>
                </a:solidFill>
                <a:latin typeface="Arial"/>
              </a:defRPr>
            </a:pPr>
            <a:r>
              <a:t>💡 This is about CONNECTING concepts, not just remembering them!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" y="3977639"/>
            <a:ext cx="8869680" cy="5029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402336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Complete Part 1 Form, then take a 5-minute break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🔗 Part 1 – Synthesis Diagram Guide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8778240" cy="22860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6868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67EEA"/>
                </a:solidFill>
                <a:latin typeface="Arial"/>
              </a:defRPr>
            </a:pPr>
            <a:r>
              <a:t>🔄 The Complete Climate System (Use this for your diagram):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8412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3748"/>
                </a:solidFill>
                <a:latin typeface="Arial"/>
              </a:defRPr>
            </a:pPr>
            <a:r>
              <a:t>Human activities (burning fossil fuels, deforestation)</a:t>
            </a:r>
            <a:br/>
            <a:r>
              <a:t>                    ↓</a:t>
            </a:r>
            <a:br/>
            <a:r>
              <a:t>           Release CO₂ into atmosphere</a:t>
            </a:r>
            <a:br/>
            <a:r>
              <a:t>                    ↓</a:t>
            </a:r>
            <a:br/>
            <a:r>
              <a:t>    CO₂ absorbs infrared radiation (VIBRATES, doesn't break)</a:t>
            </a:r>
            <a:br/>
            <a:r>
              <a:t>                    ↓</a:t>
            </a:r>
            <a:br/>
            <a:r>
              <a:t>           Heat is trapped → Global warming</a:t>
            </a:r>
            <a:br/>
            <a:r>
              <a:t>                    ↓</a:t>
            </a:r>
            <a:br/>
            <a:r>
              <a:t>    POSITIVE FEEDBACK #1: Ice melts → Dark ocean exposed → More absorption → More melting</a:t>
            </a:r>
            <a:br/>
            <a:r>
              <a:t>                    ↓</a:t>
            </a:r>
            <a:br/>
            <a:r>
              <a:t>    POSITIVE FEEDBACK #2: Warm oceans absorb LESS CO₂ → More stays in atmosphere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" y="3200400"/>
            <a:ext cx="8778240" cy="54864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327355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🔑 KEY: Atoms are CONSERVED. Carbon cycles through atmosphere, oceans, plants, and fossil fuels!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" y="3886200"/>
            <a:ext cx="8869680" cy="50292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39319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⏸️ After Part 1: Take a 5-minute break before Part 2!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📝 Part 2: Cumulative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60 Points | ~40 min | All Learning Targets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1051560"/>
            <a:ext cx="2103120" cy="13716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2880" y="1051560"/>
            <a:ext cx="2103120" cy="457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4300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67EEA"/>
                </a:solidFill>
                <a:latin typeface="Arial"/>
              </a:defRPr>
            </a:pPr>
            <a:r>
              <a:t>Section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3716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3748"/>
                </a:solidFill>
                <a:latin typeface="Arial"/>
              </a:defRPr>
            </a:pPr>
            <a:r>
              <a:t>Greenhouse Effect (15 pts)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6916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Arial"/>
              </a:defRPr>
            </a:pPr>
            <a:r>
              <a:t>Molecular mechanisms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77440" y="1051560"/>
            <a:ext cx="2103120" cy="13716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77440" y="1051560"/>
            <a:ext cx="2103120" cy="4572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80" y="114300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B2AC"/>
                </a:solidFill>
                <a:latin typeface="Arial"/>
              </a:defRPr>
            </a:pPr>
            <a:r>
              <a:t>Section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13716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3748"/>
                </a:solidFill>
                <a:latin typeface="Arial"/>
              </a:defRPr>
            </a:pPr>
            <a:r>
              <a:t>Carbon Cycle (15 pts)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16916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Arial"/>
              </a:defRPr>
            </a:pPr>
            <a:r>
              <a:t>Calculations + concepts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1051560"/>
            <a:ext cx="2103120" cy="13716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051560"/>
            <a:ext cx="2103120" cy="457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114300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76749"/>
                </a:solidFill>
                <a:latin typeface="Arial"/>
              </a:defRPr>
            </a:pPr>
            <a:r>
              <a:t>Section 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3716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3748"/>
                </a:solidFill>
                <a:latin typeface="Arial"/>
              </a:defRPr>
            </a:pPr>
            <a:r>
              <a:t>Albedo &amp; Feedback (15 pts)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16916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Arial"/>
              </a:defRPr>
            </a:pPr>
            <a:r>
              <a:t>System thinking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1051560"/>
            <a:ext cx="2103120" cy="1371600"/>
          </a:xfrm>
          <a:prstGeom prst="round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66560" y="1051560"/>
            <a:ext cx="2103120" cy="4572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114300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53030"/>
                </a:solidFill>
                <a:latin typeface="Arial"/>
              </a:defRPr>
            </a:pPr>
            <a:r>
              <a:t>Section 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13716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3748"/>
                </a:solidFill>
                <a:latin typeface="Arial"/>
              </a:defRPr>
            </a:pPr>
            <a:r>
              <a:t>Integration (15 pts)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16916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Arial"/>
              </a:defRPr>
            </a:pPr>
            <a:r>
              <a:t>Connecting everything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" y="2560320"/>
            <a:ext cx="8778240" cy="731520"/>
          </a:xfrm>
          <a:prstGeom prst="round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82880" y="2560320"/>
            <a:ext cx="73152" cy="73152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65176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B2C2C"/>
                </a:solidFill>
                <a:latin typeface="Arial"/>
              </a:defRPr>
            </a:pPr>
            <a:r>
              <a:t>⚠️ WARNING: You cannot go back once you submit. Read each question carefully!</a:t>
            </a:r>
            <a:br/>
            <a:r>
              <a:t>Make sure to answer EVERY question before moving to the next section.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7160" y="3429000"/>
            <a:ext cx="8869680" cy="50292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3474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Complete Part 2 Form - Take your time!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9B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📝 Part 2 – Key Formulas &amp; Quick Reference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4297680" cy="18288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6868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67EEA"/>
                </a:solidFill>
                <a:latin typeface="Arial"/>
              </a:defRPr>
            </a:pPr>
            <a:r>
              <a:t>🧪 KEY EQUATIONS: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Photosynthesis:</a:t>
            </a:r>
            <a:br/>
            <a:r>
              <a:t>6CO₂ + 6H₂O + light → C₆H₁₂O₆ + 6O₂</a:t>
            </a:r>
            <a:br/>
            <a:br/>
            <a:r>
              <a:t>Combustion/Respiration:</a:t>
            </a:r>
            <a:br/>
            <a:r>
              <a:t>C₆H₁₂O₆ + 6O₂ → 6CO₂ + 6H₂O + energy</a:t>
            </a:r>
            <a:br/>
            <a:br/>
            <a:r>
              <a:t>Albedo:</a:t>
            </a:r>
            <a:br/>
            <a:r>
              <a:t>0 = absorbs all | 1 = reflects all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777240"/>
            <a:ext cx="4297680" cy="18288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86868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34E52"/>
                </a:solidFill>
                <a:latin typeface="Arial"/>
              </a:defRPr>
            </a:pPr>
            <a:r>
              <a:t>💡 KEY CONCEPTS: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14300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CO₂ VIBRATES when absorbing IR (doesn't break)</a:t>
            </a:r>
            <a:br/>
            <a:r>
              <a:t>• Breaking bonds = REQUIRES energy</a:t>
            </a:r>
            <a:br/>
            <a:r>
              <a:t>• Forming bonds = RELEASES energy</a:t>
            </a:r>
            <a:br/>
            <a:r>
              <a:t>• Positive feedback = AMPLIFIES change</a:t>
            </a:r>
            <a:br/>
            <a:r>
              <a:t>• High albedo = reflects light = stays cool</a:t>
            </a:r>
            <a:br/>
            <a:r>
              <a:t>• Low albedo = absorbs light = heats 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2743200"/>
            <a:ext cx="8778240" cy="54864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81635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🔢 For calculations: Count atoms on BOTH sides - they must be EQUAL (conservation of mass)!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3429000"/>
            <a:ext cx="8869680" cy="50292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3474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⏸️ After Part 2: Take a 5-minute break before Part 3!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🎯 Part 3: Misconception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~20 min | Final Chance!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6749"/>
                </a:solidFill>
                <a:latin typeface="Arial"/>
              </a:defRPr>
            </a:pPr>
            <a:r>
              <a:t>WHAT THIS TESTS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64592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645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• Bond Energy: Breaking bonds requires energy</a:t>
            </a:r>
            <a:br/>
            <a:r>
              <a:t>  (most common mistake!)</a:t>
            </a:r>
            <a:br/>
            <a:br/>
            <a:r>
              <a:t>• Conservation of Mass: Atoms are never</a:t>
            </a:r>
            <a:br/>
            <a:r>
              <a:t>  created or destroyed</a:t>
            </a:r>
            <a:br/>
            <a:br/>
            <a:r>
              <a:t>• These questions catch common errors -</a:t>
            </a:r>
            <a:br/>
            <a:r>
              <a:t>  think VERY carefully!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201168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⚠️ BIGGEST MISTAKE: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Arial"/>
              </a:defRPr>
            </a:pPr>
            <a:r>
              <a:t>"Breaking bonds releases energy"</a:t>
            </a:r>
            <a:br/>
            <a:br/>
            <a:r>
              <a:t>❌ WRONG!</a:t>
            </a:r>
            <a:br/>
            <a:br/>
            <a:r>
              <a:t>✅ Breaking bonds REQUIRES energy</a:t>
            </a:r>
            <a:br/>
            <a:r>
              <a:t>✅ Forming bonds RELEASES energy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3200400"/>
            <a:ext cx="8869680" cy="502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32461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Complete Part 3 Form - Last section! You've got this!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48B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🎯 Part 3 – Misconception Traps to Avoid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4297680" cy="1371600"/>
          </a:xfrm>
          <a:prstGeom prst="round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6868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53030"/>
                </a:solidFill>
                <a:latin typeface="Arial"/>
              </a:defRPr>
            </a:pPr>
            <a:r>
              <a:t>❌ TRAP ANSWERS (DON'T PICK):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"Energy is released when bonds break"</a:t>
            </a:r>
            <a:br/>
            <a:r>
              <a:t>• "Mass is lost in combustion reactions"</a:t>
            </a:r>
            <a:br/>
            <a:r>
              <a:t>• "Positive feedback means good outcomes"</a:t>
            </a:r>
            <a:br/>
            <a:r>
              <a:t>• "CO₂ molecules break when heated" 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777240"/>
            <a:ext cx="4297680" cy="13716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86868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76749"/>
                </a:solidFill>
                <a:latin typeface="Arial"/>
              </a:defRPr>
            </a:pPr>
            <a:r>
              <a:t>✅ CORRECT ANSWERS (LOOK FOR):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14300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"Energy is required to break bonds"</a:t>
            </a:r>
            <a:br/>
            <a:r>
              <a:t>• "Mass is conserved in all reactions"</a:t>
            </a:r>
            <a:br/>
            <a:r>
              <a:t>• "Positive feedback amplifies change"</a:t>
            </a:r>
            <a:br/>
            <a:r>
              <a:t>• "CO₂ molecules vibrate when absorbing IR" 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2286000"/>
            <a:ext cx="8778240" cy="64008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37744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💡 TIP: If an answer seems too simple or matches what you'd "expect," be careful!</a:t>
            </a:r>
            <a:br/>
            <a:r>
              <a:t>The correct answer in science is often counter-intuitive.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Georgia"/>
              </a:defRPr>
            </a:pPr>
            <a:r>
              <a:t>🎉 Cycle 3 Complete!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Arial"/>
              </a:defRPr>
            </a:pPr>
            <a:r>
              <a:t>Congratulations on finishing the Climate Change unit!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2194560"/>
            <a:ext cx="548640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2860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6749"/>
                </a:solidFill>
                <a:latin typeface="Arial"/>
              </a:defRPr>
            </a:pPr>
            <a:r>
              <a:t>Key Takeaways: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26060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3748"/>
                </a:solidFill>
                <a:latin typeface="Arial"/>
              </a:defRPr>
            </a:pPr>
            <a:r>
              <a:t>• CO₂ absorbs IR → molecules vibrate → heat trapped</a:t>
            </a:r>
            <a:br/>
            <a:r>
              <a:t>• Carbon is conserved through all Earth systems</a:t>
            </a:r>
            <a:br/>
            <a:r>
              <a:t>• Positive feedback loops accelerate climate change</a:t>
            </a:r>
            <a:br/>
            <a:r>
              <a:t>• Multiple feedbacks interact and amplify each other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Arial"/>
              </a:defRPr>
            </a:pPr>
            <a:r>
              <a:t>Great work this cycle! 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