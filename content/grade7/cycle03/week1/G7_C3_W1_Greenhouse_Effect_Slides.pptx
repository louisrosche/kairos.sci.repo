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Today we investigate why cars get hot inside - and connect this to global climate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WRITE: 30 seconds silent. Then TURN &amp; TALK with partner. Cold call 2-3 students for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driving question for the week. Everything connects back to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NOTECARD: Which Cycle 2 concept do you remember best? Write concept + example. This activates prior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what students will learn. Reference throughout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HOOK: Quick write first, then cold call. Students complete Hook form (~10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STATION 1: Prediction on notecard first. Students open PhET in second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after Station 1. TURN &amp; TALK: Why does Earth need SOME greenhouse gases? Answer: Without them, Earth would be frozen!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STATION 2: Notecard check - where does gasoline carbon come from? (Ancient plants → fossil fuels)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DEBRIEF after Station 2. TURN &amp; TALK: If atoms are conserved, why is CO2 increasing? Answer: We're moving carbon from underground storage to atmosphere faster than it can be absorbed.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STATION 3: Have students sketch design on notecard BEFORE writing explanation in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BEFORE Station 3 OR as debrief. Emphasize: strong justification = molecular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EXIT TICKET: Remind students to review notecards - they wrote key ideas all class!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CELEBRATION + PREVIEW. Notecard exit: One thing learned + one question. Collect notecards as formative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4085" y="685800"/>
            <a:ext cx="337568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Greenhouse Effect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74904" y="1447800"/>
            <a:ext cx="839419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15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Mystery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74904" y="2194471"/>
            <a:ext cx="83941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900"/>
              </a:spcBef>
              <a:buNone/>
            </a:pPr>
            <a:r>
              <a:rPr lang="en-US" sz="2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  |  MS-ESS3-5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3101132"/>
            <a:ext cx="8229600" cy="937171"/>
          </a:xfrm>
          <a:prstGeom prst="roundRect">
            <a:avLst>
              <a:gd name="adj" fmla="val 1219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3524" y="3329732"/>
            <a:ext cx="76169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car get hot inside?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74904" y="4252020"/>
            <a:ext cx="83941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83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Rosche  |  Kairos Academies  |  100 Points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43622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285E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Car Mystery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04800" y="838200"/>
            <a:ext cx="5257800" cy="704850"/>
          </a:xfrm>
          <a:prstGeom prst="roundRect">
            <a:avLst>
              <a:gd name="adj" fmla="val 13514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8613" y="838200"/>
            <a:ext cx="0" cy="704850"/>
          </a:xfrm>
          <a:prstGeom prst="line">
            <a:avLst/>
          </a:prstGeom>
          <a:noFill/>
          <a:ln w="47625">
            <a:solidFill>
              <a:srgbClr val="319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990600"/>
            <a:ext cx="4925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 </a:t>
            </a:r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75°F</a:t>
            </a:r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day. Park for 30 min.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04800" y="1657350"/>
            <a:ext cx="5257800" cy="2312789"/>
          </a:xfrm>
          <a:prstGeom prst="roundRect">
            <a:avLst>
              <a:gd name="adj" fmla="val 4118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847850"/>
            <a:ext cx="49743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150°F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5300" y="2495550"/>
            <a:ext cx="497433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wheel burns hands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5300" y="2945011"/>
            <a:ext cx="497433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still just 75°F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4800" y="4084439"/>
            <a:ext cx="5257800" cy="678061"/>
          </a:xfrm>
          <a:prstGeom prst="roundRect">
            <a:avLst>
              <a:gd name="adj" fmla="val 14047"/>
            </a:avLst>
          </a:prstGeom>
          <a:solidFill>
            <a:srgbClr val="285E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6532" y="4236839"/>
            <a:ext cx="497433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heat come from?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791200" y="838200"/>
            <a:ext cx="3048000" cy="3924300"/>
          </a:xfrm>
          <a:prstGeom prst="roundRect">
            <a:avLst>
              <a:gd name="adj" fmla="val 3125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81700" y="1028700"/>
            <a:ext cx="27203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WRITE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981700" y="1398240"/>
            <a:ext cx="272034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 – silent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81700" y="1939230"/>
            <a:ext cx="2720340" cy="181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heat?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981700" y="3756720"/>
            <a:ext cx="2667000" cy="815280"/>
          </a:xfrm>
          <a:prstGeom prst="roundRect">
            <a:avLst>
              <a:gd name="adj" fmla="val 9346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1616" y="3871020"/>
            <a:ext cx="248716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&amp; TALK:</a:t>
            </a:r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with partner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04" y="457200"/>
            <a:ext cx="839419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285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DRIVING QUESTION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57200" y="1261021"/>
            <a:ext cx="8229600" cy="2042368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36599" y="2053530"/>
            <a:ext cx="4870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85E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gases trap heat?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10027" y="3760589"/>
            <a:ext cx="184655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MS-ESS3-5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410027" y="4316760"/>
            <a:ext cx="184655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Science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29400" y="3760589"/>
            <a:ext cx="19049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MS-PS1-5/6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829400" y="4316760"/>
            <a:ext cx="190499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Spiral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9259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4299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2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945059"/>
            <a:ext cx="4114800" cy="1363861"/>
          </a:xfrm>
          <a:prstGeom prst="roundRect">
            <a:avLst>
              <a:gd name="adj" fmla="val 8381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945059"/>
            <a:ext cx="0" cy="1363861"/>
          </a:xfrm>
          <a:prstGeom prst="line">
            <a:avLst/>
          </a:prstGeom>
          <a:noFill/>
          <a:ln w="57150">
            <a:solidFill>
              <a:srgbClr val="429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135559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bonds...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6750" y="1585020"/>
            <a:ext cx="36724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energy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648200" y="945059"/>
            <a:ext cx="4114800" cy="1363861"/>
          </a:xfrm>
          <a:prstGeom prst="roundRect">
            <a:avLst>
              <a:gd name="adj" fmla="val 838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76775" y="945059"/>
            <a:ext cx="0" cy="1363861"/>
          </a:xfrm>
          <a:prstGeom prst="line">
            <a:avLst/>
          </a:prstGeom>
          <a:noFill/>
          <a:ln w="5715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3950" y="1135559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Forming bonds...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33950" y="1585020"/>
            <a:ext cx="36724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energy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1000" y="2461320"/>
            <a:ext cx="4114800" cy="1363861"/>
          </a:xfrm>
          <a:prstGeom prst="roundRect">
            <a:avLst>
              <a:gd name="adj" fmla="val 8381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9575" y="2461320"/>
            <a:ext cx="0" cy="1363861"/>
          </a:xfrm>
          <a:prstGeom prst="line">
            <a:avLst/>
          </a:prstGeom>
          <a:noFill/>
          <a:ln w="5715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2651820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Atoms are...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6750" y="3101280"/>
            <a:ext cx="36724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48200" y="2461320"/>
            <a:ext cx="4114800" cy="1363861"/>
          </a:xfrm>
          <a:prstGeom prst="roundRect">
            <a:avLst>
              <a:gd name="adj" fmla="val 8381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6775" y="2461320"/>
            <a:ext cx="0" cy="1363861"/>
          </a:xfrm>
          <a:prstGeom prst="line">
            <a:avLst/>
          </a:prstGeom>
          <a:noFill/>
          <a:ln w="57150">
            <a:solidFill>
              <a:srgbClr val="805A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3950" y="2651820"/>
            <a:ext cx="3672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Endothermic...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33950" y="3101280"/>
            <a:ext cx="36724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443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ABSORBS heat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1000" y="4129980"/>
            <a:ext cx="8382000" cy="678061"/>
          </a:xfrm>
          <a:prstGeom prst="roundRect">
            <a:avLst>
              <a:gd name="adj" fmla="val 1404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8076" y="4282380"/>
            <a:ext cx="792784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NOTECARD: Which do you remember BEST?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43622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rgbClr val="319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Targets</a:t>
            </a:r>
            <a:endParaRPr lang="en-US" sz="3300" dirty="0"/>
          </a:p>
        </p:txBody>
      </p:sp>
      <p:pic>
        <p:nvPicPr>
          <p:cNvPr id="3" name="Image 0" descr="/tmp/rasterized-gradient-19ea57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876300"/>
            <a:ext cx="4191000" cy="1478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400" y="1253579"/>
            <a:ext cx="269058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33400" y="1604070"/>
            <a:ext cx="269058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CO2 absorbs IR</a:t>
            </a:r>
            <a:endParaRPr lang="en-US" sz="2100" dirty="0"/>
          </a:p>
        </p:txBody>
      </p:sp>
      <p:pic>
        <p:nvPicPr>
          <p:cNvPr id="6" name="Image 1" descr="/tmp/rasterized-gradient-66b05bd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876300"/>
            <a:ext cx="4191000" cy="1478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6800" y="1253579"/>
            <a:ext cx="257035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876800" y="1604070"/>
            <a:ext cx="257035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carbon atoms</a:t>
            </a:r>
            <a:endParaRPr lang="en-US" sz="2100" dirty="0"/>
          </a:p>
        </p:txBody>
      </p:sp>
      <p:pic>
        <p:nvPicPr>
          <p:cNvPr id="9" name="Image 2" descr="/tmp/rasterized-gradient-651c16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07010"/>
            <a:ext cx="4191000" cy="14783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400" y="2884289"/>
            <a:ext cx="364300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3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33400" y="3234779"/>
            <a:ext cx="364300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heat-trapping device</a:t>
            </a:r>
            <a:endParaRPr lang="en-US" sz="2100" dirty="0"/>
          </a:p>
        </p:txBody>
      </p:sp>
      <p:pic>
        <p:nvPicPr>
          <p:cNvPr id="12" name="Image 3" descr="/tmp/rasterized-gradient-db7062e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507010"/>
            <a:ext cx="4191000" cy="14783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6800" y="2884289"/>
            <a:ext cx="379451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45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4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876800" y="3234779"/>
            <a:ext cx="379451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chemistry to climate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87003" y="4137720"/>
            <a:ext cx="2219176" cy="586680"/>
          </a:xfrm>
          <a:prstGeom prst="roundRect">
            <a:avLst>
              <a:gd name="adj" fmla="val 1298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1053703" y="4271070"/>
            <a:ext cx="17194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Points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3234779" y="4137720"/>
            <a:ext cx="2350889" cy="586680"/>
          </a:xfrm>
          <a:prstGeom prst="roundRect">
            <a:avLst>
              <a:gd name="adj" fmla="val 1298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3501479" y="4271070"/>
            <a:ext cx="18538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Auto-Graded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814268" y="4137720"/>
            <a:ext cx="2542729" cy="586680"/>
          </a:xfrm>
          <a:prstGeom prst="roundRect">
            <a:avLst>
              <a:gd name="adj" fmla="val 1298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080968" y="4271070"/>
            <a:ext cx="20495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min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 Time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f031e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228600"/>
            <a:ext cx="86106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 |  15 POINTS  |  ~10 MINUTES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33400" y="685800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Car Mystery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66700" y="1333500"/>
            <a:ext cx="528523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66700" y="1741140"/>
            <a:ext cx="5181600" cy="2983260"/>
          </a:xfrm>
          <a:prstGeom prst="roundRect">
            <a:avLst>
              <a:gd name="adj" fmla="val 2554"/>
            </a:avLst>
          </a:prstGeom>
          <a:solidFill>
            <a:srgbClr val="F7F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85750" y="1741140"/>
            <a:ext cx="0" cy="298326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93540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 about heat and energy (2 min)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289721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WHY cars get hot (3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685901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to Cycle 2 chemistry (3 min)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3082082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Submit in Google Form (2 min)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638800" y="1333500"/>
            <a:ext cx="3238500" cy="1943249"/>
          </a:xfrm>
          <a:prstGeom prst="roundRect">
            <a:avLst>
              <a:gd name="adj" fmla="val 49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29300" y="1760339"/>
            <a:ext cx="291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WRITE FIRST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29300" y="2103239"/>
            <a:ext cx="291465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think cars get hot because..."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638800" y="3391049"/>
            <a:ext cx="3238500" cy="1333351"/>
          </a:xfrm>
          <a:prstGeom prst="roundRect">
            <a:avLst>
              <a:gd name="adj" fmla="val 7144"/>
            </a:avLst>
          </a:prstGeom>
          <a:solidFill>
            <a:srgbClr val="F7FAFC"/>
          </a:solidFill>
          <a:ln w="28575">
            <a:solidFill>
              <a:srgbClr val="667E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819775" y="3572024"/>
            <a:ext cx="2934081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 COMING!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5819775" y="3956745"/>
            <a:ext cx="293408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ready to share your prediction.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ec97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228600"/>
            <a:ext cx="86106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810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 |  20 POINTS  |  ~18 MIN  |  PhET SIM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33400" y="685800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Molecular Vibrations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66700" y="1333500"/>
            <a:ext cx="5181600" cy="2689920"/>
          </a:xfrm>
          <a:prstGeom prst="roundRect">
            <a:avLst>
              <a:gd name="adj" fmla="val 2833"/>
            </a:avLst>
          </a:prstGeom>
          <a:solidFill>
            <a:srgbClr val="FF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85750" y="1333500"/>
            <a:ext cx="0" cy="2689920"/>
          </a:xfrm>
          <a:prstGeom prst="line">
            <a:avLst/>
          </a:prstGeom>
          <a:noFill/>
          <a:ln w="38100">
            <a:solidFill>
              <a:srgbClr val="D53F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85900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PhET: Molecules and Light (5 min)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1882080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CO2, H2O, N2, O2 with infrared (8 min)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278261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 observations in form (3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674441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 analysis questions (2 min)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6700" y="4137720"/>
            <a:ext cx="5181600" cy="586680"/>
          </a:xfrm>
          <a:prstGeom prst="roundRect">
            <a:avLst>
              <a:gd name="adj" fmla="val 12988"/>
            </a:avLst>
          </a:prstGeom>
          <a:solidFill>
            <a:srgbClr val="234E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9194" y="4271070"/>
            <a:ext cx="489661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phet.colorado.edu</a:t>
            </a:r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"Molecules and Light"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38800" y="1333500"/>
            <a:ext cx="3238500" cy="1969889"/>
          </a:xfrm>
          <a:prstGeom prst="roundRect">
            <a:avLst>
              <a:gd name="adj" fmla="val 4835"/>
            </a:avLst>
          </a:prstGeom>
          <a:solidFill>
            <a:srgbClr val="D53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29300" y="1524000"/>
            <a:ext cx="291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GOAL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29300" y="1866900"/>
            <a:ext cx="2914650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molecules absorb IR? What happens to them?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638800" y="3417689"/>
            <a:ext cx="3238500" cy="1306711"/>
          </a:xfrm>
          <a:prstGeom prst="roundRect">
            <a:avLst>
              <a:gd name="adj" fmla="val 7289"/>
            </a:avLst>
          </a:prstGeom>
          <a:solidFill>
            <a:srgbClr val="FFF5F7"/>
          </a:solidFill>
          <a:ln w="28575">
            <a:solidFill>
              <a:srgbClr val="D53F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819775" y="3598664"/>
            <a:ext cx="29340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5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FIRST: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819775" y="3956745"/>
            <a:ext cx="293408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think _____ will absorb IR because..."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43622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rgbClr val="D5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Trapping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04800" y="876300"/>
            <a:ext cx="4686300" cy="1868537"/>
          </a:xfrm>
          <a:prstGeom prst="roundRect">
            <a:avLst>
              <a:gd name="adj" fmla="val 6117"/>
            </a:avLst>
          </a:prstGeom>
          <a:solidFill>
            <a:srgbClr val="F0FFF4"/>
          </a:solidFill>
          <a:ln w="28575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1057275"/>
            <a:ext cx="441083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GREENHOUSE: CO2, H2O, CH4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85775" y="1480096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 infrared radiation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5775" y="1857226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VIBRATE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5775" y="2234357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Re-emit heat in all directions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" y="2859137"/>
            <a:ext cx="4686300" cy="1868537"/>
          </a:xfrm>
          <a:prstGeom prst="roundRect">
            <a:avLst>
              <a:gd name="adj" fmla="val 6117"/>
            </a:avLst>
          </a:prstGeom>
          <a:solidFill>
            <a:srgbClr val="FFF5F5"/>
          </a:solidFill>
          <a:ln w="28575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" y="3040112"/>
            <a:ext cx="441083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GREENHOUSE: N2, O2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85775" y="3462933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passes straight through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5775" y="3840063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don't vibrate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5775" y="4217194"/>
            <a:ext cx="44108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escapes to space</a:t>
            </a:r>
            <a:endParaRPr lang="en-US" sz="1800" dirty="0"/>
          </a:p>
        </p:txBody>
      </p:sp>
      <p:pic>
        <p:nvPicPr>
          <p:cNvPr id="13" name="Image 0" descr="/tmp/rasterized-gradient-e98d47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876300"/>
            <a:ext cx="3619500" cy="23578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48300" y="1104900"/>
            <a:ext cx="322554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448300" y="1512540"/>
            <a:ext cx="3225546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Molecules with 3+ atoms can vibrate to absorb IR. This is why CO2 traps heat!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219700" y="3386584"/>
            <a:ext cx="3619500" cy="1340941"/>
          </a:xfrm>
          <a:prstGeom prst="roundRect">
            <a:avLst>
              <a:gd name="adj" fmla="val 8524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10200" y="3577084"/>
            <a:ext cx="330327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&amp; TALK: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does Earth need SOME greenhouse gases?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0d44ac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228600"/>
            <a:ext cx="8610600" cy="8876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61950"/>
            <a:ext cx="823874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 |  20 POINTS  |  ~15 MIN  |  CALCULATIONS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533400" y="639961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Cycle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66700" y="1249561"/>
            <a:ext cx="5181600" cy="2769989"/>
          </a:xfrm>
          <a:prstGeom prst="roundRect">
            <a:avLst>
              <a:gd name="adj" fmla="val 2751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85750" y="1249561"/>
            <a:ext cx="0" cy="2769989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150" y="1382911"/>
            <a:ext cx="497433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Trace carbon through diagram (4 min)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38150" y="1805732"/>
            <a:ext cx="497433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 atoms in equations (4 min)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38150" y="2228552"/>
            <a:ext cx="497433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730"/>
              </a:lnSpc>
              <a:spcAft>
                <a:spcPts val="600"/>
              </a:spcAft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carbon in gasoline (5 min)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38150" y="2651373"/>
            <a:ext cx="497433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analysis questions (2 min)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266700" y="4114800"/>
            <a:ext cx="5181600" cy="533400"/>
          </a:xfrm>
          <a:prstGeom prst="roundRect">
            <a:avLst>
              <a:gd name="adj" fmla="val 14286"/>
            </a:avLst>
          </a:prstGeom>
          <a:solidFill>
            <a:srgbClr val="FFFAF0"/>
          </a:solidFill>
          <a:ln w="19050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8150" y="4248150"/>
            <a:ext cx="49354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CALC: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48 lbs gas × 27% = ~13 lbs carbon → CO2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38800" y="1249561"/>
            <a:ext cx="3238500" cy="2114699"/>
          </a:xfrm>
          <a:prstGeom prst="roundRect">
            <a:avLst>
              <a:gd name="adj" fmla="val 450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810250" y="1421011"/>
            <a:ext cx="29535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810250" y="1718072"/>
            <a:ext cx="2953512" cy="103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atoms are NEVER created or destroyed – just moved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638800" y="3459510"/>
            <a:ext cx="3238500" cy="1188690"/>
          </a:xfrm>
          <a:prstGeom prst="roundRect">
            <a:avLst>
              <a:gd name="adj" fmla="val 8013"/>
            </a:avLst>
          </a:prstGeom>
          <a:solidFill>
            <a:srgbClr val="F0FFF4"/>
          </a:solidFill>
          <a:ln w="28575">
            <a:solidFill>
              <a:srgbClr val="48BB7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800725" y="3621435"/>
            <a:ext cx="297294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NOTECARD CHECK: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5800725" y="3952875"/>
            <a:ext cx="297294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carbon atoms in gasoline come from?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40112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2767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66700" y="800100"/>
            <a:ext cx="2768650" cy="1436191"/>
          </a:xfrm>
          <a:prstGeom prst="roundRect">
            <a:avLst>
              <a:gd name="adj" fmla="val 6632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5031" y="933450"/>
            <a:ext cx="2551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5031" y="1238250"/>
            <a:ext cx="255198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1C453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6CO2 + 6H2O → C6H12O6 + 6O2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75031" y="1863030"/>
            <a:ext cx="25519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carbons in → 6 carbons out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87750" y="800100"/>
            <a:ext cx="2768650" cy="1436191"/>
          </a:xfrm>
          <a:prstGeom prst="roundRect">
            <a:avLst>
              <a:gd name="adj" fmla="val 6632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6080" y="933450"/>
            <a:ext cx="2551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6080" y="1238250"/>
            <a:ext cx="255198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7B341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CH4 + 2O2 → CO2 + 2H2O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296080" y="1863030"/>
            <a:ext cx="25519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carbon in → 1 carbon out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08799" y="800100"/>
            <a:ext cx="2768650" cy="1436191"/>
          </a:xfrm>
          <a:prstGeom prst="roundRect">
            <a:avLst>
              <a:gd name="adj" fmla="val 6632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7130" y="933450"/>
            <a:ext cx="2551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130" y="1238250"/>
            <a:ext cx="2551989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dirty="0">
                <a:solidFill>
                  <a:srgbClr val="1A36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C6H12O6 + 6O2 → 6CO2 + 6H2O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17130" y="1863030"/>
            <a:ext cx="25519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carbons in → 6 carbons out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6700" y="2388691"/>
            <a:ext cx="8610600" cy="998041"/>
          </a:xfrm>
          <a:prstGeom prst="roundRect">
            <a:avLst>
              <a:gd name="adj" fmla="val 9544"/>
            </a:avLst>
          </a:prstGeom>
          <a:solidFill>
            <a:srgbClr val="48BB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3766" y="2541091"/>
            <a:ext cx="831646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</a:t>
            </a:r>
            <a:pPr algn="ctr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don't CREATE new carbon. We RELEASE carbon stored underground for millions of years.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66700" y="3501033"/>
            <a:ext cx="4727377" cy="45720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5750" y="3501033"/>
            <a:ext cx="0" cy="457200"/>
          </a:xfrm>
          <a:prstGeom prst="line">
            <a:avLst/>
          </a:prstGeom>
          <a:noFill/>
          <a:ln w="38100">
            <a:solidFill>
              <a:srgbClr val="48BB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150" y="3596283"/>
            <a:ext cx="4511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tank = ~100 lbs CO2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6477" y="3501033"/>
            <a:ext cx="3730823" cy="457200"/>
          </a:xfrm>
          <a:prstGeom prst="roundRect">
            <a:avLst>
              <a:gd name="adj" fmla="val 16667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98877" y="3596283"/>
            <a:ext cx="3494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&amp; TALK: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Why is CO2 increasing?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2d51e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228600"/>
            <a:ext cx="8610600" cy="8876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361950"/>
            <a:ext cx="823874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 |  25 POINTS  |  ~20 MIN  |  DESIGN TASK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533400" y="639961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Challenge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66700" y="1249561"/>
            <a:ext cx="4991100" cy="1104900"/>
          </a:xfrm>
          <a:prstGeom prst="roundRect">
            <a:avLst>
              <a:gd name="adj" fmla="val 6897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85750" y="1249561"/>
            <a:ext cx="0" cy="1104900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01961"/>
            <a:ext cx="47411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"Thermal Trap"</a:t>
            </a:r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maximize heat capture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66700" y="2449711"/>
            <a:ext cx="4991100" cy="2198489"/>
          </a:xfrm>
          <a:prstGeom prst="roundRect">
            <a:avLst>
              <a:gd name="adj" fmla="val 3466"/>
            </a:avLst>
          </a:prstGeom>
          <a:solidFill>
            <a:srgbClr val="FFF5F0"/>
          </a:solidFill>
          <a:ln w="19050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9100" y="2602111"/>
            <a:ext cx="47800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MATERIALS: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9100" y="2998291"/>
            <a:ext cx="47800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plastic, Black paper, Cardboard, Foil, Bubble wrap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48300" y="1249561"/>
            <a:ext cx="3429000" cy="2339578"/>
          </a:xfrm>
          <a:prstGeom prst="roundRect">
            <a:avLst>
              <a:gd name="adj" fmla="val 4071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00700" y="1401961"/>
            <a:ext cx="31866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00700" y="1744861"/>
            <a:ext cx="3124200" cy="158948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567"/>
              </a:lnSpc>
              <a:spcAft>
                <a:spcPts val="45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materials go</a:t>
            </a:r>
            <a:endParaRPr lang="en-US" sz="1650" dirty="0"/>
          </a:p>
          <a:p>
            <a:pPr algn="l" marL="95250" indent="-95250">
              <a:lnSpc>
                <a:spcPts val="2567"/>
              </a:lnSpc>
              <a:spcAft>
                <a:spcPts val="45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choice</a:t>
            </a:r>
            <a:endParaRPr lang="en-US" sz="1650" dirty="0"/>
          </a:p>
          <a:p>
            <a:pPr algn="l" marL="95250" indent="-95250">
              <a:lnSpc>
                <a:spcPts val="2567"/>
              </a:lnSpc>
              <a:spcAft>
                <a:spcPts val="45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greenhouse</a:t>
            </a:r>
            <a:endParaRPr lang="en-US" sz="1650" dirty="0"/>
          </a:p>
          <a:p>
            <a:pPr algn="l" marL="95250" indent="-95250">
              <a:lnSpc>
                <a:spcPts val="2567"/>
              </a:lnSpc>
              <a:spcAft>
                <a:spcPts val="450"/>
              </a:spcAft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"particles faster"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48300" y="3684389"/>
            <a:ext cx="3429000" cy="963811"/>
          </a:xfrm>
          <a:prstGeom prst="roundRect">
            <a:avLst>
              <a:gd name="adj" fmla="val 9883"/>
            </a:avLst>
          </a:prstGeom>
          <a:solidFill>
            <a:srgbClr val="FFFAF0"/>
          </a:solidFill>
          <a:ln w="2857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10225" y="3846314"/>
            <a:ext cx="316725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FIRST on notecard!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440112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Justify Your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66700" y="762000"/>
            <a:ext cx="4210050" cy="2956620"/>
          </a:xfrm>
          <a:prstGeom prst="roundRect">
            <a:avLst>
              <a:gd name="adj" fmla="val 3222"/>
            </a:avLst>
          </a:prstGeom>
          <a:solidFill>
            <a:srgbClr val="FFF5F5"/>
          </a:solidFill>
          <a:ln w="28575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5775" y="981075"/>
            <a:ext cx="384733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85775" y="1441996"/>
            <a:ext cx="3771900" cy="906661"/>
          </a:xfrm>
          <a:prstGeom prst="roundRect">
            <a:avLst>
              <a:gd name="adj" fmla="val 63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575346"/>
            <a:ext cx="357530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"Black paper on bottom because black absorbs heat."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5775" y="2462957"/>
            <a:ext cx="38473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particle-level WHY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67250" y="762000"/>
            <a:ext cx="4210050" cy="2956620"/>
          </a:xfrm>
          <a:prstGeom prst="roundRect">
            <a:avLst>
              <a:gd name="adj" fmla="val 3222"/>
            </a:avLst>
          </a:prstGeom>
          <a:solidFill>
            <a:srgbClr val="F0FFF4"/>
          </a:solidFill>
          <a:ln w="28575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6325" y="981075"/>
            <a:ext cx="384733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886325" y="1441996"/>
            <a:ext cx="3771900" cy="1226641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19675" y="1575346"/>
            <a:ext cx="357530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"Black absorbs light → particles vibrate faster. Clear plastic traps IR."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86325" y="2782937"/>
            <a:ext cx="384733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1C4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Particles + greenhouse!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66700" y="3871020"/>
            <a:ext cx="4431804" cy="853380"/>
          </a:xfrm>
          <a:prstGeom prst="roundRect">
            <a:avLst>
              <a:gd name="adj" fmla="val 11161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6692" y="4004370"/>
            <a:ext cx="413182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WORDS:</a:t>
            </a:r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"particles vibrate faster" | "absorbs infrared" | "like CO2"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850904" y="3871020"/>
            <a:ext cx="4026396" cy="853380"/>
          </a:xfrm>
          <a:prstGeom prst="roundRect">
            <a:avLst>
              <a:gd name="adj" fmla="val 11161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1404" y="4004370"/>
            <a:ext cx="37183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CALL:</a:t>
            </a:r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one design choice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bfafc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28600"/>
            <a:ext cx="8534400" cy="10590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00050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 |  20 POINTS  |  ~15 MIN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09600" y="697111"/>
            <a:ext cx="40513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04800" y="1478161"/>
            <a:ext cx="4876800" cy="3239542"/>
          </a:xfrm>
          <a:prstGeom prst="roundRect">
            <a:avLst>
              <a:gd name="adj" fmla="val 294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28613" y="1478161"/>
            <a:ext cx="0" cy="3239542"/>
          </a:xfrm>
          <a:prstGeom prst="line">
            <a:avLst/>
          </a:prstGeom>
          <a:noFill/>
          <a:ln w="47625">
            <a:solidFill>
              <a:srgbClr val="8E2D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1025" y="1668661"/>
            <a:ext cx="44594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why CO2 traps heat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81025" y="2156222"/>
            <a:ext cx="44594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Trace carbon through scenario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81025" y="2643783"/>
            <a:ext cx="44594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molecules to climate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81025" y="3131344"/>
            <a:ext cx="445941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Apply Cycle 2 chemistry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410200" y="1478161"/>
            <a:ext cx="3429000" cy="2603302"/>
          </a:xfrm>
          <a:prstGeom prst="roundRect">
            <a:avLst>
              <a:gd name="adj" fmla="val 4391"/>
            </a:avLst>
          </a:prstGeom>
          <a:solidFill>
            <a:srgbClr val="8E2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638800" y="1706761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ALL 4 TARGETS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638800" y="2087761"/>
            <a:ext cx="2971800" cy="17651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absorbs IR</a:t>
            </a:r>
            <a:endParaRPr lang="en-US" sz="1800" dirty="0"/>
          </a:p>
          <a:p>
            <a:pPr algn="l" marL="114300" indent="-1143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cycle</a:t>
            </a:r>
            <a:endParaRPr lang="en-US" sz="1800" dirty="0"/>
          </a:p>
          <a:p>
            <a:pPr algn="l" marL="114300" indent="-1143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 dirty="0"/>
          </a:p>
          <a:p>
            <a:pPr algn="l" marL="114300" indent="-114300">
              <a:lnSpc>
                <a:spcPts val="28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energy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10200" y="4233863"/>
            <a:ext cx="3429000" cy="483840"/>
          </a:xfrm>
          <a:prstGeom prst="roundRect">
            <a:avLst>
              <a:gd name="adj" fmla="val 15749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550789" y="4329113"/>
            <a:ext cx="314782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Submit!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81000" y="1104900"/>
            <a:ext cx="1540669" cy="1321891"/>
          </a:xfrm>
          <a:prstGeom prst="roundRect">
            <a:avLst>
              <a:gd name="adj" fmla="val 720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8765" y="1257300"/>
            <a:ext cx="1105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8765" y="1581150"/>
            <a:ext cx="110513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trapped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074069" y="1104900"/>
            <a:ext cx="1979116" cy="1321891"/>
          </a:xfrm>
          <a:prstGeom prst="roundRect">
            <a:avLst>
              <a:gd name="adj" fmla="val 720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7450" y="1257300"/>
            <a:ext cx="1552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Vibration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7450" y="1581150"/>
            <a:ext cx="1552355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absorbed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05585" y="1104900"/>
            <a:ext cx="2162026" cy="1321891"/>
          </a:xfrm>
          <a:prstGeom prst="roundRect">
            <a:avLst>
              <a:gd name="adj" fmla="val 720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17137" y="1257300"/>
            <a:ext cx="1738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Cycle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17137" y="1581150"/>
            <a:ext cx="1738923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conserved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20011" y="1104900"/>
            <a:ext cx="2242989" cy="1321891"/>
          </a:xfrm>
          <a:prstGeom prst="roundRect">
            <a:avLst>
              <a:gd name="adj" fmla="val 720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30753" y="1257300"/>
            <a:ext cx="182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Energy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0753" y="1581150"/>
            <a:ext cx="1821504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Vibrate not break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81000" y="2655391"/>
            <a:ext cx="8382000" cy="727621"/>
          </a:xfrm>
          <a:prstGeom prst="roundRect">
            <a:avLst>
              <a:gd name="adj" fmla="val 157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2845891"/>
            <a:ext cx="777240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85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</a:t>
            </a:r>
            <a:pPr algn="ctr"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285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 scientists know CO2 is rising?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81000" y="3573512"/>
            <a:ext cx="8382000" cy="586680"/>
          </a:xfrm>
          <a:prstGeom prst="roundRect">
            <a:avLst>
              <a:gd name="adj" fmla="val 1298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9214" y="3706862"/>
            <a:ext cx="80055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NOTECARD:</a:t>
            </a:r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thing learned + one question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The Greenhouse Effect Mystery</dc:title>
  <dc:subject>Grade 7 Science - MS-ESS3-5</dc:subject>
  <dc:creator>Rosche - Kairos Academies</dc:creator>
  <cp:lastModifiedBy>Rosche - Kairos Academies</cp:lastModifiedBy>
  <cp:revision>1</cp:revision>
  <dcterms:created xsi:type="dcterms:W3CDTF">2025-12-01T21:46:00Z</dcterms:created>
  <dcterms:modified xsi:type="dcterms:W3CDTF">2025-12-01T21:46:00Z</dcterms:modified>
</cp:coreProperties>
</file>