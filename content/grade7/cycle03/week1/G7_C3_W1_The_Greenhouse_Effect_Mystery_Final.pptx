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ac60bb74cc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ac60bb74cc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 students. Today we investigate why cars get hot inside - and connect this to global climate change.</a:t>
            </a:r>
            <a:endParaRPr/>
          </a:p>
        </p:txBody>
      </p:sp>
      <p:sp>
        <p:nvSpPr>
          <p:cNvPr id="55" name="Google Shape;55;g3ac60bb74cc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c60bb74cc_2_1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ac60bb74cc_2_1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WRITE: 30 seconds silent. Then TURN &amp; TALK with partner. Cold call 2-3 students for predictions.</a:t>
            </a:r>
            <a:endParaRPr/>
          </a:p>
        </p:txBody>
      </p:sp>
      <p:sp>
        <p:nvSpPr>
          <p:cNvPr id="66" name="Google Shape;66;g3ac60bb74cc_2_1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c60bb74cc_2_3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ac60bb74cc_2_3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our driving question for the week. Everything connects back to this.</a:t>
            </a:r>
            <a:endParaRPr/>
          </a:p>
        </p:txBody>
      </p:sp>
      <p:sp>
        <p:nvSpPr>
          <p:cNvPr id="85" name="Google Shape;85;g3ac60bb74cc_2_3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c60bb74cc_2_4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ac60bb74cc_2_4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NOTECARD: Which Cycle 2 concept do you remember best? Write concept + example. This activates prior knowledge.</a:t>
            </a:r>
            <a:endParaRPr/>
          </a:p>
        </p:txBody>
      </p:sp>
      <p:sp>
        <p:nvSpPr>
          <p:cNvPr id="96" name="Google Shape;96;g3ac60bb74cc_2_4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c60bb74cc_2_6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ac60bb74cc_2_6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overview of what students will learn. Reference throughout lesson.</a:t>
            </a:r>
            <a:endParaRPr/>
          </a:p>
        </p:txBody>
      </p:sp>
      <p:sp>
        <p:nvSpPr>
          <p:cNvPr id="124" name="Google Shape;124;g3ac60bb74cc_2_6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c60bb74cc_2_9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ac60bb74cc_2_9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LAUNCH HOOK: Quick write first, then cold call. Students complete Hook form (~10 min).</a:t>
            </a:r>
            <a:endParaRPr/>
          </a:p>
        </p:txBody>
      </p:sp>
      <p:sp>
        <p:nvSpPr>
          <p:cNvPr id="149" name="Google Shape;149;g3ac60bb74cc_2_9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c60bb74cc_2_11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ac60bb74cc_2_11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LAUNCH STATION 1: Prediction on notecard first. Students open PhET in second tab.</a:t>
            </a:r>
            <a:endParaRPr/>
          </a:p>
        </p:txBody>
      </p:sp>
      <p:sp>
        <p:nvSpPr>
          <p:cNvPr id="170" name="Google Shape;170;g3ac60bb74cc_2_11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c60bb74cc_2_14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ac60bb74cc_2_14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DEBRIEF after Station 1. TURN &amp; TALK: Why does Earth need SOME greenhouse gases? Answer: Without them, Earth would be frozen!</a:t>
            </a:r>
            <a:endParaRPr/>
          </a:p>
        </p:txBody>
      </p:sp>
      <p:sp>
        <p:nvSpPr>
          <p:cNvPr id="193" name="Google Shape;193;g3ac60bb74cc_2_14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c60bb74cc_2_16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ac60bb74cc_2_16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LAUNCH STATION 2: Notecard check - where does gasoline carbon come from? (Ancient plants → fossil fuels)</a:t>
            </a:r>
            <a:endParaRPr/>
          </a:p>
        </p:txBody>
      </p:sp>
      <p:sp>
        <p:nvSpPr>
          <p:cNvPr id="216" name="Google Shape;216;g3ac60bb74cc_2_16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c60bb74cc_2_18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ac60bb74cc_2_18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DEBRIEF after Station 2. TURN &amp; TALK: If atoms are conserved, why is CO2 increasing? Answer: We're moving carbon from underground storage to atmosphere faster than it can be absorbed.</a:t>
            </a:r>
            <a:endParaRPr/>
          </a:p>
        </p:txBody>
      </p:sp>
      <p:sp>
        <p:nvSpPr>
          <p:cNvPr id="241" name="Google Shape;241;g3ac60bb74cc_2_18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c60bb74cc_2_21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ac60bb74cc_2_21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LAUNCH STATION 3: Have students sketch design on notecard BEFORE writing explanation in form.</a:t>
            </a:r>
            <a:endParaRPr/>
          </a:p>
        </p:txBody>
      </p:sp>
      <p:sp>
        <p:nvSpPr>
          <p:cNvPr id="267" name="Google Shape;267;g3ac60bb74cc_2_21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ac60bb74cc_2_23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3ac60bb74cc_2_23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 BEFORE Station 3 OR as debrief. Emphasize: strong justification = molecular explanation.</a:t>
            </a:r>
            <a:endParaRPr/>
          </a:p>
        </p:txBody>
      </p:sp>
      <p:sp>
        <p:nvSpPr>
          <p:cNvPr id="289" name="Google Shape;289;g3ac60bb74cc_2_23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ac60bb74cc_2_25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g3ac60bb74cc_2_25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LAUNCH EXIT TICKET: Remind students to review notecards - they wrote key ideas all class!</a:t>
            </a:r>
            <a:endParaRPr/>
          </a:p>
        </p:txBody>
      </p:sp>
      <p:sp>
        <p:nvSpPr>
          <p:cNvPr id="313" name="Google Shape;313;g3ac60bb74cc_2_25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ac60bb74cc_2_28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g3ac60bb74cc_2_28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CELEBRATION + PREVIEW. Notecard exit: One thing learned + one question. Collect notecards as formative data.</a:t>
            </a:r>
            <a:endParaRPr/>
          </a:p>
        </p:txBody>
      </p:sp>
      <p:sp>
        <p:nvSpPr>
          <p:cNvPr id="338" name="Google Shape;338;g3ac60bb74cc_2_28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3557456" y="981904"/>
            <a:ext cx="20289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4200"/>
              <a:buFont typeface="Arial"/>
              <a:buNone/>
            </a:pPr>
            <a:r>
              <a:t/>
            </a:r>
            <a:endParaRPr b="0" i="0" sz="4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222750" y="715700"/>
            <a:ext cx="8698500" cy="16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Georgia"/>
              <a:buNone/>
            </a:pPr>
            <a:r>
              <a:rPr b="1" lang="en" sz="3800">
                <a:solidFill>
                  <a:srgbClr val="FFF2CC"/>
                </a:solidFill>
                <a:latin typeface="Georgia"/>
                <a:ea typeface="Georgia"/>
                <a:cs typeface="Georgia"/>
                <a:sym typeface="Georgia"/>
              </a:rPr>
              <a:t>🌍 Week 1: The Greenhouse Effect Mystery 🔬</a:t>
            </a:r>
            <a:endParaRPr b="0" i="0" sz="3800" u="none" cap="none" strike="noStrike">
              <a:solidFill>
                <a:srgbClr val="FFF2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1971426" y="2642975"/>
            <a:ext cx="5200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Week 1 • Grade 7 Science • MS-ESS3-5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2034644" y="3252575"/>
            <a:ext cx="5074500" cy="428700"/>
          </a:xfrm>
          <a:prstGeom prst="roundRect">
            <a:avLst>
              <a:gd fmla="val 17778" name="adj"/>
            </a:avLst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2332318" y="3366875"/>
            <a:ext cx="4479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b="0" i="0" lang="en" sz="16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does a car get hot inside but not outside?</a:t>
            </a:r>
            <a:endParaRPr b="0" i="0" sz="16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2950672" y="4062200"/>
            <a:ext cx="32424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0" i="0" lang="en" sz="1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Rosche • Kairos Academies • 100 Points Total</a:t>
            </a:r>
            <a:endParaRPr b="0" i="0" sz="1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/>
          <p:nvPr/>
        </p:nvSpPr>
        <p:spPr>
          <a:xfrm>
            <a:off x="228600" y="228600"/>
            <a:ext cx="86640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4E52"/>
              </a:buClr>
              <a:buSzPts val="2400"/>
              <a:buFont typeface="Georgia"/>
              <a:buNone/>
            </a:pPr>
            <a:r>
              <a:rPr b="1" i="0" lang="en" sz="2400" u="none" cap="none" strike="noStrike">
                <a:solidFill>
                  <a:srgbClr val="234E52"/>
                </a:solidFill>
                <a:latin typeface="Georgia"/>
                <a:ea typeface="Georgia"/>
                <a:cs typeface="Georgia"/>
                <a:sym typeface="Georgia"/>
              </a:rPr>
              <a:t>🌡️ The Phenomenon: Hot Car Mystery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189275" y="800105"/>
            <a:ext cx="4693800" cy="860700"/>
          </a:xfrm>
          <a:prstGeom prst="roundRect">
            <a:avLst>
              <a:gd fmla="val 13333" name="adj"/>
            </a:avLst>
          </a:prstGeom>
          <a:solidFill>
            <a:srgbClr val="E6FF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303575" y="1029583"/>
            <a:ext cx="45546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4E52"/>
              </a:buClr>
              <a:buSzPts val="1050"/>
              <a:buFont typeface="Arial"/>
              <a:buNone/>
            </a:pPr>
            <a:r>
              <a:rPr b="0" i="0" lang="en" sz="1550" u="none" cap="none" strike="noStrike">
                <a:solidFill>
                  <a:srgbClr val="234E52"/>
                </a:solidFill>
                <a:latin typeface="Arial"/>
                <a:ea typeface="Arial"/>
                <a:cs typeface="Arial"/>
                <a:sym typeface="Arial"/>
              </a:rPr>
              <a:t>Sunny </a:t>
            </a:r>
            <a:r>
              <a:rPr b="1" i="0" lang="en" sz="1550" u="none" cap="none" strike="noStrike">
                <a:solidFill>
                  <a:srgbClr val="234E52"/>
                </a:solidFill>
                <a:latin typeface="Arial"/>
                <a:ea typeface="Arial"/>
                <a:cs typeface="Arial"/>
                <a:sym typeface="Arial"/>
              </a:rPr>
              <a:t>75°F</a:t>
            </a:r>
            <a:r>
              <a:rPr b="0" i="0" lang="en" sz="1550" u="none" cap="none" strike="noStrike">
                <a:solidFill>
                  <a:srgbClr val="234E52"/>
                </a:solidFill>
                <a:latin typeface="Arial"/>
                <a:ea typeface="Arial"/>
                <a:cs typeface="Arial"/>
                <a:sym typeface="Arial"/>
              </a:rPr>
              <a:t> day. Park for 30 min. When you return: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189275" y="1813634"/>
            <a:ext cx="4693800" cy="2218200"/>
          </a:xfrm>
          <a:prstGeom prst="roundRect">
            <a:avLst>
              <a:gd fmla="val 5172" name="adj"/>
            </a:avLst>
          </a:prstGeom>
          <a:solidFill>
            <a:srgbClr val="FFFFFF"/>
          </a:solidFill>
          <a:ln cap="flat" cmpd="sng" w="19050">
            <a:solidFill>
              <a:srgbClr val="38B2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303575" y="2043113"/>
            <a:ext cx="4465200" cy="1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50"/>
              <a:buFont typeface="Arial"/>
              <a:buNone/>
            </a:pPr>
            <a:r>
              <a:rPr b="0" i="0" lang="en" sz="225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Dashboard: </a:t>
            </a:r>
            <a:r>
              <a:rPr b="1" i="0" lang="en" sz="2250" u="none" cap="none" strike="noStrike">
                <a:solidFill>
                  <a:srgbClr val="C53030"/>
                </a:solidFill>
                <a:latin typeface="Arial"/>
                <a:ea typeface="Arial"/>
                <a:cs typeface="Arial"/>
                <a:sym typeface="Arial"/>
              </a:rPr>
              <a:t>150°F</a:t>
            </a:r>
            <a:r>
              <a:rPr b="0" i="0" lang="en" sz="225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 – too hot to touch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0" marL="8572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2250"/>
              <a:buFont typeface="Arial"/>
              <a:buChar char="•"/>
            </a:pPr>
            <a:r>
              <a:rPr b="0" i="0" lang="en" sz="225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Steering wheel burns your hands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0" marL="8572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2250"/>
              <a:buFont typeface="Arial"/>
              <a:buChar char="•"/>
            </a:pPr>
            <a:r>
              <a:rPr b="0" i="0" lang="en" sz="225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Air outside still just 75°F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189275" y="4184911"/>
            <a:ext cx="4693800" cy="729900"/>
          </a:xfrm>
          <a:prstGeom prst="roundRect">
            <a:avLst>
              <a:gd fmla="val 15712" name="adj"/>
            </a:avLst>
          </a:prstGeom>
          <a:solidFill>
            <a:srgbClr val="234E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239491" y="4376143"/>
            <a:ext cx="4593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i="0" lang="en" sz="14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car isn't generating heat. Where does it come from?</a:t>
            </a:r>
            <a:endParaRPr b="0" i="0" sz="1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5074890" y="800100"/>
            <a:ext cx="3840510" cy="3688110"/>
          </a:xfrm>
          <a:prstGeom prst="roundRect">
            <a:avLst>
              <a:gd fmla="val 1550" name="adj"/>
            </a:avLst>
          </a:prstGeom>
          <a:solidFill>
            <a:srgbClr val="667E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5208250" y="933450"/>
            <a:ext cx="3645300" cy="7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0" i="0" lang="en" sz="27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📝 QUICK WRITE</a:t>
            </a:r>
            <a:endParaRPr b="0" i="0" sz="2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5208250" y="1882251"/>
            <a:ext cx="3645300" cy="102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b="1" i="0" lang="en" sz="3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30 sec – silent writing</a:t>
            </a:r>
            <a:endParaRPr b="0" i="0" sz="3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5208250" y="3301245"/>
            <a:ext cx="36453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0" i="0" lang="en" sz="2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Write: What causes the heat?</a:t>
            </a:r>
            <a:endParaRPr b="0" i="0" sz="2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5074890" y="4564410"/>
            <a:ext cx="3840510" cy="35049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" name="Google Shape;80;p16"/>
          <p:cNvCxnSpPr/>
          <p:nvPr/>
        </p:nvCxnSpPr>
        <p:spPr>
          <a:xfrm>
            <a:off x="5089178" y="4564410"/>
            <a:ext cx="0" cy="350490"/>
          </a:xfrm>
          <a:prstGeom prst="straightConnector1">
            <a:avLst/>
          </a:prstGeom>
          <a:noFill/>
          <a:ln cap="flat" cmpd="sng" w="28575">
            <a:solidFill>
              <a:srgbClr val="667E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p16"/>
          <p:cNvSpPr/>
          <p:nvPr/>
        </p:nvSpPr>
        <p:spPr>
          <a:xfrm>
            <a:off x="5198715" y="4659660"/>
            <a:ext cx="3693863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👥 TURN &amp; TALK:</a:t>
            </a:r>
            <a:r>
              <a:rPr b="0" i="0" lang="en" sz="90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Share with partner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/>
          <p:nvPr/>
        </p:nvSpPr>
        <p:spPr>
          <a:xfrm>
            <a:off x="1764300" y="216225"/>
            <a:ext cx="56154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8B2AC"/>
              </a:buClr>
              <a:buSzPts val="975"/>
              <a:buFont typeface="Arial"/>
              <a:buNone/>
            </a:pPr>
            <a:r>
              <a:rPr b="1" i="0" lang="en" sz="4375" u="none" cap="none" strike="noStrike">
                <a:solidFill>
                  <a:srgbClr val="38B2AC"/>
                </a:solidFill>
              </a:rPr>
              <a:t>DRIVING QUESTION</a:t>
            </a:r>
            <a:endParaRPr b="1" i="0" sz="4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356550" y="1267921"/>
            <a:ext cx="8430900" cy="10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Georgia"/>
              <a:buNone/>
            </a:pPr>
            <a:r>
              <a:rPr b="1" i="0" lang="en" sz="3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Why does a car get hot inside but not outside?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3986955" y="2762648"/>
            <a:ext cx="1170000" cy="40200"/>
          </a:xfrm>
          <a:prstGeom prst="roundRect">
            <a:avLst>
              <a:gd fmla="val 66667" name="adj"/>
            </a:avLst>
          </a:prstGeom>
          <a:solidFill>
            <a:srgbClr val="38B2A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1846664" y="3232050"/>
            <a:ext cx="54504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8B2AC"/>
              </a:buClr>
              <a:buSzPts val="1650"/>
              <a:buFont typeface="Georgia"/>
              <a:buNone/>
            </a:pPr>
            <a:r>
              <a:rPr b="0" i="0" lang="en" sz="2250" u="none" cap="none" strike="noStrike">
                <a:solidFill>
                  <a:srgbClr val="38B2AC"/>
                </a:solidFill>
                <a:latin typeface="Georgia"/>
                <a:ea typeface="Georgia"/>
                <a:cs typeface="Georgia"/>
                <a:sym typeface="Georgia"/>
              </a:rPr>
              <a:t>And what does this have to do with Earth's climate?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1833372" y="4235188"/>
            <a:ext cx="5476800" cy="692100"/>
          </a:xfrm>
          <a:prstGeom prst="roundRect">
            <a:avLst>
              <a:gd fmla="val 11629" name="adj"/>
            </a:avLst>
          </a:prstGeom>
          <a:solidFill>
            <a:srgbClr val="38B2AC">
              <a:alpha val="20000"/>
            </a:srgbClr>
          </a:solidFill>
          <a:ln cap="flat" cmpd="sng" w="19050">
            <a:solidFill>
              <a:srgbClr val="38B2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1905900" y="4341300"/>
            <a:ext cx="53322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🎯 Your Mission:</a:t>
            </a:r>
            <a:r>
              <a:rPr b="0" i="0" lang="en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Connect hot car → molecules → climate change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/>
          <p:nvPr/>
        </p:nvSpPr>
        <p:spPr>
          <a:xfrm>
            <a:off x="228600" y="29850"/>
            <a:ext cx="86868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2CE"/>
              </a:buClr>
              <a:buSzPts val="2250"/>
              <a:buFont typeface="Georgia"/>
              <a:buNone/>
            </a:pPr>
            <a:r>
              <a:rPr b="1" i="0" lang="en" sz="2950" u="none" cap="none" strike="noStrike">
                <a:solidFill>
                  <a:srgbClr val="3182CE"/>
                </a:solidFill>
                <a:latin typeface="Georgia"/>
                <a:ea typeface="Georgia"/>
                <a:cs typeface="Georgia"/>
                <a:sym typeface="Georgia"/>
              </a:rPr>
              <a:t>🔗 What You Already Know (Cycle 2)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228600" y="676350"/>
            <a:ext cx="4305300" cy="1516200"/>
          </a:xfrm>
          <a:prstGeom prst="roundRect">
            <a:avLst>
              <a:gd fmla="val 4445" name="adj"/>
            </a:avLst>
          </a:prstGeom>
          <a:solidFill>
            <a:srgbClr val="EBF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18"/>
          <p:cNvCxnSpPr/>
          <p:nvPr/>
        </p:nvCxnSpPr>
        <p:spPr>
          <a:xfrm>
            <a:off x="247650" y="1256854"/>
            <a:ext cx="0" cy="857101"/>
          </a:xfrm>
          <a:prstGeom prst="straightConnector1">
            <a:avLst/>
          </a:prstGeom>
          <a:noFill/>
          <a:ln cap="flat" cmpd="sng" w="38100">
            <a:solidFill>
              <a:srgbClr val="3182C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18"/>
          <p:cNvSpPr/>
          <p:nvPr/>
        </p:nvSpPr>
        <p:spPr>
          <a:xfrm>
            <a:off x="381000" y="878538"/>
            <a:ext cx="41193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182CE"/>
              </a:buClr>
              <a:buSzPts val="900"/>
              <a:buFont typeface="Arial"/>
              <a:buNone/>
            </a:pPr>
            <a:r>
              <a:rPr b="1" i="0" lang="en" sz="2000" u="none" cap="none" strike="noStrike">
                <a:solidFill>
                  <a:srgbClr val="3182CE"/>
                </a:solidFill>
                <a:latin typeface="Arial"/>
                <a:ea typeface="Arial"/>
                <a:cs typeface="Arial"/>
                <a:sym typeface="Arial"/>
              </a:rPr>
              <a:t>Breaking bonds...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381000" y="1228943"/>
            <a:ext cx="41193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75"/>
              <a:buFont typeface="Arial"/>
              <a:buNone/>
            </a:pPr>
            <a:r>
              <a:rPr b="1" i="0" lang="en" sz="23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ABSORBS energy</a:t>
            </a:r>
            <a:endParaRPr b="0" i="0" sz="2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381000" y="1730990"/>
            <a:ext cx="41193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25"/>
              <a:buFont typeface="Arial"/>
              <a:buNone/>
            </a:pPr>
            <a:r>
              <a:rPr b="0" i="0" lang="en" sz="1925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→ CO₂ vibrates, doesn't break</a:t>
            </a:r>
            <a:endParaRPr b="0" i="0" sz="19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4610100" y="676350"/>
            <a:ext cx="4305300" cy="1516200"/>
          </a:xfrm>
          <a:prstGeom prst="roundRect">
            <a:avLst>
              <a:gd fmla="val 4445" name="adj"/>
            </a:avLst>
          </a:prstGeom>
          <a:solidFill>
            <a:srgbClr val="FF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18"/>
          <p:cNvCxnSpPr/>
          <p:nvPr/>
        </p:nvCxnSpPr>
        <p:spPr>
          <a:xfrm>
            <a:off x="4629150" y="676350"/>
            <a:ext cx="0" cy="1516200"/>
          </a:xfrm>
          <a:prstGeom prst="straightConnector1">
            <a:avLst/>
          </a:prstGeom>
          <a:noFill/>
          <a:ln cap="flat" cmpd="sng" w="38100">
            <a:solidFill>
              <a:srgbClr val="C530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18"/>
          <p:cNvSpPr/>
          <p:nvPr/>
        </p:nvSpPr>
        <p:spPr>
          <a:xfrm>
            <a:off x="4762500" y="878538"/>
            <a:ext cx="41193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900"/>
              <a:buFont typeface="Arial"/>
              <a:buNone/>
            </a:pPr>
            <a:r>
              <a:rPr b="1" i="0" lang="en" sz="2000" u="none" cap="none" strike="noStrike">
                <a:solidFill>
                  <a:srgbClr val="C53030"/>
                </a:solidFill>
                <a:latin typeface="Arial"/>
                <a:ea typeface="Arial"/>
                <a:cs typeface="Arial"/>
                <a:sym typeface="Arial"/>
              </a:rPr>
              <a:t>Forming bonds...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4762500" y="1228943"/>
            <a:ext cx="41193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75"/>
              <a:buFont typeface="Arial"/>
              <a:buNone/>
            </a:pPr>
            <a:r>
              <a:rPr b="1" i="0" lang="en" sz="23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RELEASES energy</a:t>
            </a:r>
            <a:endParaRPr b="0" i="0" sz="2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4762500" y="1730990"/>
            <a:ext cx="41193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25"/>
              <a:buFont typeface="Arial"/>
              <a:buNone/>
            </a:pPr>
            <a:r>
              <a:rPr b="0" i="0" lang="en" sz="1925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→ Combustion releases heat</a:t>
            </a:r>
            <a:endParaRPr b="0" i="0" sz="19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228600" y="2192488"/>
            <a:ext cx="4305300" cy="1645500"/>
          </a:xfrm>
          <a:prstGeom prst="roundRect">
            <a:avLst>
              <a:gd fmla="val 4445" name="adj"/>
            </a:avLst>
          </a:prstGeom>
          <a:solidFill>
            <a:srgbClr val="F0FF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18"/>
          <p:cNvCxnSpPr/>
          <p:nvPr/>
        </p:nvCxnSpPr>
        <p:spPr>
          <a:xfrm>
            <a:off x="247650" y="3141911"/>
            <a:ext cx="0" cy="857101"/>
          </a:xfrm>
          <a:prstGeom prst="straightConnector1">
            <a:avLst/>
          </a:prstGeom>
          <a:noFill/>
          <a:ln cap="flat" cmpd="sng" w="38100">
            <a:solidFill>
              <a:srgbClr val="38A1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18"/>
          <p:cNvSpPr/>
          <p:nvPr/>
        </p:nvSpPr>
        <p:spPr>
          <a:xfrm>
            <a:off x="381000" y="2411951"/>
            <a:ext cx="41193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8A169"/>
              </a:buClr>
              <a:buSzPts val="900"/>
              <a:buFont typeface="Arial"/>
              <a:buNone/>
            </a:pPr>
            <a:r>
              <a:rPr b="1" i="0" lang="en" sz="2000" u="none" cap="none" strike="noStrike">
                <a:solidFill>
                  <a:srgbClr val="38A169"/>
                </a:solidFill>
                <a:latin typeface="Arial"/>
                <a:ea typeface="Arial"/>
                <a:cs typeface="Arial"/>
                <a:sym typeface="Arial"/>
              </a:rPr>
              <a:t>Atoms are...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381000" y="2792297"/>
            <a:ext cx="41193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75"/>
              <a:buFont typeface="Arial"/>
              <a:buNone/>
            </a:pPr>
            <a:r>
              <a:rPr b="1" i="0" lang="en" sz="23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CONSERVED</a:t>
            </a:r>
            <a:endParaRPr b="0" i="0" sz="2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381000" y="3337240"/>
            <a:ext cx="41193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25"/>
              <a:buFont typeface="Arial"/>
              <a:buNone/>
            </a:pPr>
            <a:r>
              <a:rPr b="0" i="0" lang="en" sz="1925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→ Carbon cycles, never destroyed</a:t>
            </a:r>
            <a:endParaRPr b="0" i="0" sz="19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4610100" y="2192488"/>
            <a:ext cx="4305300" cy="1645500"/>
          </a:xfrm>
          <a:prstGeom prst="roundRect">
            <a:avLst>
              <a:gd fmla="val 4445" name="adj"/>
            </a:avLst>
          </a:prstGeom>
          <a:solidFill>
            <a:srgbClr val="FA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18"/>
          <p:cNvCxnSpPr/>
          <p:nvPr/>
        </p:nvCxnSpPr>
        <p:spPr>
          <a:xfrm>
            <a:off x="4629150" y="2192488"/>
            <a:ext cx="0" cy="1645500"/>
          </a:xfrm>
          <a:prstGeom prst="straightConnector1">
            <a:avLst/>
          </a:prstGeom>
          <a:noFill/>
          <a:ln cap="flat" cmpd="sng" w="38100">
            <a:solidFill>
              <a:srgbClr val="805A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18"/>
          <p:cNvSpPr/>
          <p:nvPr/>
        </p:nvSpPr>
        <p:spPr>
          <a:xfrm>
            <a:off x="4762500" y="2411951"/>
            <a:ext cx="41193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5AD5"/>
              </a:buClr>
              <a:buSzPts val="900"/>
              <a:buFont typeface="Arial"/>
              <a:buNone/>
            </a:pPr>
            <a:r>
              <a:rPr b="1" i="0" lang="en" sz="2000" u="none" cap="none" strike="noStrike">
                <a:solidFill>
                  <a:srgbClr val="805AD5"/>
                </a:solidFill>
                <a:latin typeface="Arial"/>
                <a:ea typeface="Arial"/>
                <a:cs typeface="Arial"/>
                <a:sym typeface="Arial"/>
              </a:rPr>
              <a:t>Endothermic means...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762500" y="2792297"/>
            <a:ext cx="41193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75"/>
              <a:buFont typeface="Arial"/>
              <a:buNone/>
            </a:pPr>
            <a:r>
              <a:rPr b="1" i="0" lang="en" sz="23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ABSORBS heat</a:t>
            </a:r>
            <a:endParaRPr b="0" i="0" sz="2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4762500" y="3337240"/>
            <a:ext cx="41193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25"/>
              <a:buFont typeface="Arial"/>
              <a:buNone/>
            </a:pPr>
            <a:r>
              <a:rPr b="0" i="0" lang="en" sz="1925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→ Energy INTO molecules</a:t>
            </a:r>
            <a:endParaRPr b="0" i="0" sz="19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228600" y="4057800"/>
            <a:ext cx="8686800" cy="857100"/>
          </a:xfrm>
          <a:prstGeom prst="roundRect">
            <a:avLst>
              <a:gd fmla="val 15712" name="adj"/>
            </a:avLst>
          </a:prstGeom>
          <a:solidFill>
            <a:srgbClr val="667E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238887" y="4282245"/>
            <a:ext cx="86661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i="0" lang="en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📝 Notecard:</a:t>
            </a:r>
            <a:r>
              <a:rPr b="0" i="0" lang="en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Which concept do you remember BEST? Write it + one example.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/>
          <p:nvPr/>
        </p:nvSpPr>
        <p:spPr>
          <a:xfrm>
            <a:off x="345000" y="78650"/>
            <a:ext cx="84540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4E52"/>
              </a:buClr>
              <a:buSzPts val="2250"/>
              <a:buFont typeface="Georgia"/>
              <a:buNone/>
            </a:pPr>
            <a:r>
              <a:rPr b="1" i="0" lang="en" sz="3950" u="none" cap="none" strike="noStrike">
                <a:solidFill>
                  <a:srgbClr val="234E52"/>
                </a:solidFill>
                <a:latin typeface="Georgia"/>
                <a:ea typeface="Georgia"/>
                <a:cs typeface="Georgia"/>
                <a:sym typeface="Georgia"/>
              </a:rPr>
              <a:t>🎯 Learning Targets</a:t>
            </a:r>
            <a:endParaRPr b="0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228600" y="841525"/>
            <a:ext cx="4305300" cy="1512300"/>
          </a:xfrm>
          <a:prstGeom prst="roundRect">
            <a:avLst>
              <a:gd fmla="val 719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361950" y="1113603"/>
            <a:ext cx="41583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8B2AC"/>
              </a:buClr>
              <a:buSzPts val="825"/>
              <a:buFont typeface="Arial"/>
              <a:buNone/>
            </a:pPr>
            <a:r>
              <a:rPr b="1" i="0" lang="en" sz="1425" u="none" cap="none" strike="noStrike">
                <a:solidFill>
                  <a:srgbClr val="38B2AC"/>
                </a:solidFill>
                <a:latin typeface="Arial"/>
                <a:ea typeface="Arial"/>
                <a:cs typeface="Arial"/>
                <a:sym typeface="Arial"/>
              </a:rPr>
              <a:t>TARGET 1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361950" y="1586779"/>
            <a:ext cx="40785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75"/>
              <a:buFont typeface="Arial"/>
              <a:buNone/>
            </a:pPr>
            <a:r>
              <a:rPr b="1" i="0" lang="en" sz="15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Explain why CO₂ absorbs heat</a:t>
            </a:r>
            <a:r>
              <a:rPr b="0" i="0" lang="en" sz="15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 but N₂ doesn't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4610100" y="841525"/>
            <a:ext cx="4305300" cy="1512300"/>
          </a:xfrm>
          <a:prstGeom prst="roundRect">
            <a:avLst>
              <a:gd fmla="val 719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4743450" y="1113603"/>
            <a:ext cx="41583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8B2AC"/>
              </a:buClr>
              <a:buSzPts val="825"/>
              <a:buFont typeface="Arial"/>
              <a:buNone/>
            </a:pPr>
            <a:r>
              <a:rPr b="1" i="0" lang="en" sz="1425" u="none" cap="none" strike="noStrike">
                <a:solidFill>
                  <a:srgbClr val="38B2AC"/>
                </a:solidFill>
                <a:latin typeface="Arial"/>
                <a:ea typeface="Arial"/>
                <a:cs typeface="Arial"/>
                <a:sym typeface="Arial"/>
              </a:rPr>
              <a:t>TARGET 2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4659256" y="1586779"/>
            <a:ext cx="40785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75"/>
              <a:buFont typeface="Arial"/>
              <a:buNone/>
            </a:pPr>
            <a:r>
              <a:rPr b="1" i="0" lang="en" sz="15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Trace carbon atoms</a:t>
            </a:r>
            <a:r>
              <a:rPr b="0" i="0" lang="en" sz="15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 through the carbon cycle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228600" y="2551628"/>
            <a:ext cx="4305300" cy="1512300"/>
          </a:xfrm>
          <a:prstGeom prst="roundRect">
            <a:avLst>
              <a:gd fmla="val 719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361950" y="2823717"/>
            <a:ext cx="41583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7A7B"/>
              </a:buClr>
              <a:buSzPts val="825"/>
              <a:buFont typeface="Arial"/>
              <a:buNone/>
            </a:pPr>
            <a:r>
              <a:rPr b="1" i="0" lang="en" sz="1425" u="none" cap="none" strike="noStrike">
                <a:solidFill>
                  <a:srgbClr val="2C7A7B"/>
                </a:solidFill>
                <a:latin typeface="Arial"/>
                <a:ea typeface="Arial"/>
                <a:cs typeface="Arial"/>
                <a:sym typeface="Arial"/>
              </a:rPr>
              <a:t>TARGET 3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361950" y="3242383"/>
            <a:ext cx="4078500" cy="7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75"/>
              <a:buFont typeface="Arial"/>
              <a:buNone/>
            </a:pPr>
            <a:r>
              <a:rPr b="1" i="0" lang="en" sz="15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Design a structure</a:t>
            </a:r>
            <a:r>
              <a:rPr b="0" i="0" lang="en" sz="15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 that traps thermal energy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4610100" y="2551628"/>
            <a:ext cx="4305300" cy="1512300"/>
          </a:xfrm>
          <a:prstGeom prst="roundRect">
            <a:avLst>
              <a:gd fmla="val 719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4743450" y="2823717"/>
            <a:ext cx="41583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7A7B"/>
              </a:buClr>
              <a:buSzPts val="825"/>
              <a:buFont typeface="Arial"/>
              <a:buNone/>
            </a:pPr>
            <a:r>
              <a:rPr b="1" i="0" lang="en" sz="1425" u="none" cap="none" strike="noStrike">
                <a:solidFill>
                  <a:srgbClr val="2C7A7B"/>
                </a:solidFill>
                <a:latin typeface="Arial"/>
                <a:ea typeface="Arial"/>
                <a:cs typeface="Arial"/>
                <a:sym typeface="Arial"/>
              </a:rPr>
              <a:t>TARGET 4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4659256" y="3242530"/>
            <a:ext cx="4078500" cy="7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75"/>
              <a:buFont typeface="Arial"/>
              <a:buNone/>
            </a:pPr>
            <a:r>
              <a:rPr b="1" i="0" lang="en" sz="15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Connect bond energy</a:t>
            </a:r>
            <a:r>
              <a:rPr b="0" i="0" lang="en" sz="15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 to greenhouse effect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228600" y="4213920"/>
            <a:ext cx="8686800" cy="700980"/>
          </a:xfrm>
          <a:prstGeom prst="roundRect">
            <a:avLst>
              <a:gd fmla="val 8153" name="adj"/>
            </a:avLst>
          </a:prstGeom>
          <a:solidFill>
            <a:srgbClr val="234E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3639430" y="4328220"/>
            <a:ext cx="50232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3639430" y="4667250"/>
            <a:ext cx="50232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Total Points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4437748" y="4328220"/>
            <a:ext cx="395603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~75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4437748" y="4667250"/>
            <a:ext cx="39560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Minutes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5130619" y="4328220"/>
            <a:ext cx="372681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5130619" y="4667250"/>
            <a:ext cx="37268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Sections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6f75a7de.png" id="151" name="Google Shape;15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200" cy="8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0"/>
          <p:cNvSpPr/>
          <p:nvPr/>
        </p:nvSpPr>
        <p:spPr>
          <a:xfrm>
            <a:off x="669450" y="297190"/>
            <a:ext cx="78051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eorgia"/>
              <a:buNone/>
            </a:pPr>
            <a:r>
              <a:rPr lang="en" sz="4400">
                <a:solidFill>
                  <a:srgbClr val="1A202C"/>
                </a:solidFill>
              </a:rPr>
              <a:t>🎯</a:t>
            </a:r>
            <a:r>
              <a:rPr b="1" i="0" lang="en" sz="3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Hook – The Hot Car Mystery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326100" y="1219210"/>
            <a:ext cx="47022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7EEA"/>
              </a:buClr>
              <a:buSzPts val="975"/>
              <a:buFont typeface="Arial"/>
              <a:buNone/>
            </a:pPr>
            <a:r>
              <a:rPr b="1" i="0" lang="en" sz="1675" u="none" cap="none" strike="noStrike">
                <a:solidFill>
                  <a:srgbClr val="667EEA"/>
                </a:solidFill>
                <a:latin typeface="Arial"/>
                <a:ea typeface="Arial"/>
                <a:cs typeface="Arial"/>
                <a:sym typeface="Arial"/>
              </a:rPr>
              <a:t>WHAT YOU'LL DO</a:t>
            </a:r>
            <a:endParaRPr b="0" i="0" sz="1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326100" y="1735121"/>
            <a:ext cx="4610100" cy="2142600"/>
          </a:xfrm>
          <a:prstGeom prst="roundRect">
            <a:avLst>
              <a:gd fmla="val 3678" name="adj"/>
            </a:avLst>
          </a:prstGeom>
          <a:solidFill>
            <a:srgbClr val="F7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20"/>
          <p:cNvCxnSpPr/>
          <p:nvPr/>
        </p:nvCxnSpPr>
        <p:spPr>
          <a:xfrm flipH="1">
            <a:off x="314650" y="1769550"/>
            <a:ext cx="7800" cy="2084100"/>
          </a:xfrm>
          <a:prstGeom prst="straightConnector1">
            <a:avLst/>
          </a:prstGeom>
          <a:noFill/>
          <a:ln cap="flat" cmpd="sng" w="28575">
            <a:solidFill>
              <a:srgbClr val="667E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20"/>
          <p:cNvSpPr/>
          <p:nvPr/>
        </p:nvSpPr>
        <p:spPr>
          <a:xfrm>
            <a:off x="468975" y="1971529"/>
            <a:ext cx="44400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75"/>
              <a:buFont typeface="Arial"/>
              <a:buNone/>
            </a:pPr>
            <a:r>
              <a:rPr b="1" i="0" lang="en" sz="16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b="0" i="0" lang="en" sz="16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 Think about heat and energy (2 min)</a:t>
            </a:r>
            <a:endParaRPr b="0" i="0" sz="1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468975" y="2408637"/>
            <a:ext cx="44400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75"/>
              <a:buFont typeface="Arial"/>
              <a:buNone/>
            </a:pPr>
            <a:r>
              <a:rPr b="1" i="0" lang="en" sz="16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b="0" i="0" lang="en" sz="16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 Predict WHY cars get hot (3 min)</a:t>
            </a:r>
            <a:endParaRPr b="0" i="0" sz="1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468975" y="2845743"/>
            <a:ext cx="44400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75"/>
              <a:buFont typeface="Arial"/>
              <a:buNone/>
            </a:pPr>
            <a:r>
              <a:rPr b="1" i="0" lang="en" sz="16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b="0" i="0" lang="en" sz="16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 Connect to Cycle 2 chemistry (3 min)</a:t>
            </a:r>
            <a:endParaRPr b="0" i="0" sz="1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468975" y="3282852"/>
            <a:ext cx="44400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75"/>
              <a:buFont typeface="Arial"/>
              <a:buNone/>
            </a:pPr>
            <a:r>
              <a:rPr b="1" i="0" lang="en" sz="16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r>
              <a:rPr b="0" i="0" lang="en" sz="16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 Submit in Google Form (2 min)</a:t>
            </a:r>
            <a:endParaRPr b="0" i="0" sz="1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326100" y="4035171"/>
            <a:ext cx="4610100" cy="803400"/>
          </a:xfrm>
          <a:prstGeom prst="roundRect">
            <a:avLst>
              <a:gd fmla="val 9805" name="adj"/>
            </a:avLst>
          </a:prstGeom>
          <a:solidFill>
            <a:srgbClr val="FFFAF0"/>
          </a:solidFill>
          <a:ln cap="flat" cmpd="sng" w="19050">
            <a:solidFill>
              <a:srgbClr val="ED89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440400" y="4119651"/>
            <a:ext cx="44691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05621"/>
              </a:buClr>
              <a:buSzPts val="900"/>
              <a:buFont typeface="Arial"/>
              <a:buNone/>
            </a:pPr>
            <a:r>
              <a:rPr b="1" i="0" lang="en" sz="1600" u="none" cap="none" strike="noStrike">
                <a:solidFill>
                  <a:srgbClr val="C05621"/>
                </a:solidFill>
                <a:latin typeface="Arial"/>
                <a:ea typeface="Arial"/>
                <a:cs typeface="Arial"/>
                <a:sym typeface="Arial"/>
              </a:rPr>
              <a:t>💡 Key Question:</a:t>
            </a:r>
            <a:r>
              <a:rPr b="0" i="0" lang="en" sz="1600" u="none" cap="none" strike="noStrike">
                <a:solidFill>
                  <a:srgbClr val="C05621"/>
                </a:solidFill>
                <a:latin typeface="Arial"/>
                <a:ea typeface="Arial"/>
                <a:cs typeface="Arial"/>
                <a:sym typeface="Arial"/>
              </a:rPr>
              <a:t> Do molecules vibrate OR break apart when absorbing energy?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5067300" y="1219200"/>
            <a:ext cx="3771900" cy="3154710"/>
          </a:xfrm>
          <a:prstGeom prst="roundRect">
            <a:avLst>
              <a:gd fmla="val 1812" name="adj"/>
            </a:avLst>
          </a:prstGeom>
          <a:solidFill>
            <a:srgbClr val="667E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5200650" y="1352550"/>
            <a:ext cx="3575400" cy="10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0" i="0" lang="en" sz="18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📝 QUICK WRITE FIRST</a:t>
            </a:r>
            <a:endParaRPr b="0" i="0" sz="1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5200650" y="1793142"/>
            <a:ext cx="3575400" cy="23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" sz="4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"I think cars get hot because..."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5067300" y="4450110"/>
            <a:ext cx="3771900" cy="388590"/>
          </a:xfrm>
          <a:prstGeom prst="roundRect">
            <a:avLst>
              <a:gd fmla="val 9805" name="adj"/>
            </a:avLst>
          </a:prstGeom>
          <a:solidFill>
            <a:srgbClr val="F7FAFC"/>
          </a:solidFill>
          <a:ln cap="flat" cmpd="sng" w="19050">
            <a:solidFill>
              <a:srgbClr val="667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5181600" y="4564410"/>
            <a:ext cx="361416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7EE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667EEA"/>
                </a:solidFill>
                <a:latin typeface="Arial"/>
                <a:ea typeface="Arial"/>
                <a:cs typeface="Arial"/>
                <a:sym typeface="Arial"/>
              </a:rPr>
              <a:t>🎲 Cold Call Coming!</a:t>
            </a:r>
            <a:r>
              <a:rPr b="0" i="0" lang="en" sz="900" u="none" cap="none" strike="noStrike">
                <a:solidFill>
                  <a:srgbClr val="667EEA"/>
                </a:solidFill>
                <a:latin typeface="Arial"/>
                <a:ea typeface="Arial"/>
                <a:cs typeface="Arial"/>
                <a:sym typeface="Arial"/>
              </a:rPr>
              <a:t> Be ready to share.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703914c8.png" id="172" name="Google Shape;17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2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1"/>
          <p:cNvSpPr/>
          <p:nvPr/>
        </p:nvSpPr>
        <p:spPr>
          <a:xfrm>
            <a:off x="970793" y="297192"/>
            <a:ext cx="7864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3000"/>
              <a:buFont typeface="Arial"/>
              <a:buNone/>
            </a:pPr>
            <a:r>
              <a:rPr lang="en" sz="4100">
                <a:solidFill>
                  <a:srgbClr val="1A202C"/>
                </a:solidFill>
              </a:rPr>
              <a:t>🔬</a:t>
            </a:r>
            <a:r>
              <a:rPr b="1" lang="en" sz="3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</a:t>
            </a:r>
            <a:r>
              <a:rPr b="1" i="0" lang="en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tation 1 – Molecular Vibration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304800" y="1006677"/>
            <a:ext cx="47022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3F8C"/>
              </a:buClr>
              <a:buSzPts val="975"/>
              <a:buFont typeface="Arial"/>
              <a:buNone/>
            </a:pPr>
            <a:r>
              <a:rPr b="1" i="0" lang="en" sz="1575" u="none" cap="none" strike="noStrike">
                <a:solidFill>
                  <a:srgbClr val="D53F8C"/>
                </a:solidFill>
                <a:latin typeface="Arial"/>
                <a:ea typeface="Arial"/>
                <a:cs typeface="Arial"/>
                <a:sym typeface="Arial"/>
              </a:rPr>
              <a:t>YOUR INVESTIGATION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304800" y="1574113"/>
            <a:ext cx="4610100" cy="2356500"/>
          </a:xfrm>
          <a:prstGeom prst="roundRect">
            <a:avLst>
              <a:gd fmla="val 3678" name="adj"/>
            </a:avLst>
          </a:prstGeom>
          <a:solidFill>
            <a:srgbClr val="FF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p21"/>
          <p:cNvCxnSpPr/>
          <p:nvPr/>
        </p:nvCxnSpPr>
        <p:spPr>
          <a:xfrm>
            <a:off x="319088" y="2415778"/>
            <a:ext cx="0" cy="1035844"/>
          </a:xfrm>
          <a:prstGeom prst="straightConnector1">
            <a:avLst/>
          </a:prstGeom>
          <a:noFill/>
          <a:ln cap="flat" cmpd="sng" w="28575">
            <a:solidFill>
              <a:srgbClr val="D53F8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21"/>
          <p:cNvSpPr/>
          <p:nvPr/>
        </p:nvSpPr>
        <p:spPr>
          <a:xfrm>
            <a:off x="447675" y="1834132"/>
            <a:ext cx="44400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75"/>
              <a:buFont typeface="Arial"/>
              <a:buNone/>
            </a:pPr>
            <a:r>
              <a:rPr b="1" i="0" lang="en" sz="15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b="0" i="0" lang="en" sz="15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 Open PhET: Molecules and Light (5 min)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447675" y="2314895"/>
            <a:ext cx="44400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75"/>
              <a:buFont typeface="Arial"/>
              <a:buNone/>
            </a:pPr>
            <a:r>
              <a:rPr b="1" i="0" lang="en" sz="15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b="0" i="0" lang="en" sz="15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 Test CO₂, H₂O, N₂, O₂ with infrared (8 min)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447675" y="2795659"/>
            <a:ext cx="44400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75"/>
              <a:buFont typeface="Arial"/>
              <a:buNone/>
            </a:pPr>
            <a:r>
              <a:rPr b="1" i="0" lang="en" sz="15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b="0" i="0" lang="en" sz="15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 Record observations in form (3 min)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447675" y="3276423"/>
            <a:ext cx="44400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75"/>
              <a:buFont typeface="Arial"/>
              <a:buNone/>
            </a:pPr>
            <a:r>
              <a:rPr b="1" i="0" lang="en" sz="15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r>
              <a:rPr b="0" i="0" lang="en" sz="15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 Answer analysis questions (2 min)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304800" y="4103878"/>
            <a:ext cx="4610100" cy="827400"/>
          </a:xfrm>
          <a:prstGeom prst="roundRect">
            <a:avLst>
              <a:gd fmla="val 10475" name="adj"/>
            </a:avLst>
          </a:prstGeom>
          <a:solidFill>
            <a:srgbClr val="234E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355854" y="4320560"/>
            <a:ext cx="45081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i="0" lang="en" sz="15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🔗 phet.colorado.edu</a:t>
            </a:r>
            <a:r>
              <a:rPr b="0" i="0" lang="en" sz="15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→ "Molecules and Light"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5067300" y="1287688"/>
            <a:ext cx="3771900" cy="1451400"/>
          </a:xfrm>
          <a:prstGeom prst="roundRect">
            <a:avLst>
              <a:gd fmla="val 8957" name="adj"/>
            </a:avLst>
          </a:prstGeom>
          <a:solidFill>
            <a:srgbClr val="D53F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5165550" y="1400868"/>
            <a:ext cx="3575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1" i="0" lang="en" sz="1425" u="none" cap="none" strike="noStrike">
                <a:solidFill>
                  <a:srgbClr val="FFFFFF"/>
                </a:solidFill>
              </a:rPr>
              <a:t>🎯 DISCOVERY GOAL</a:t>
            </a:r>
            <a:endParaRPr b="1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5200650" y="1834125"/>
            <a:ext cx="3575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Which molecules absorb IR? What happens to them?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5067300" y="2912465"/>
            <a:ext cx="3771900" cy="884100"/>
          </a:xfrm>
          <a:prstGeom prst="roundRect">
            <a:avLst>
              <a:gd fmla="val 9805" name="adj"/>
            </a:avLst>
          </a:prstGeom>
          <a:solidFill>
            <a:srgbClr val="FFF5F7"/>
          </a:solidFill>
          <a:ln cap="flat" cmpd="sng" w="19050">
            <a:solidFill>
              <a:srgbClr val="D53F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5181600" y="3002976"/>
            <a:ext cx="36141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3F8C"/>
              </a:buClr>
              <a:buSzPts val="900"/>
              <a:buFont typeface="Arial"/>
              <a:buNone/>
            </a:pPr>
            <a:r>
              <a:rPr b="1" i="0" lang="en" sz="1500" u="none" cap="none" strike="noStrike">
                <a:solidFill>
                  <a:srgbClr val="D53F8C"/>
                </a:solidFill>
                <a:latin typeface="Arial"/>
                <a:ea typeface="Arial"/>
                <a:cs typeface="Arial"/>
                <a:sym typeface="Arial"/>
              </a:rPr>
              <a:t>📝 Predict:</a:t>
            </a:r>
            <a:r>
              <a:rPr b="0" i="0" lang="en" sz="1500" u="none" cap="none" strike="noStrike">
                <a:solidFill>
                  <a:srgbClr val="D53F8C"/>
                </a:solidFill>
                <a:latin typeface="Arial"/>
                <a:ea typeface="Arial"/>
                <a:cs typeface="Arial"/>
                <a:sym typeface="Arial"/>
              </a:rPr>
              <a:t> "I think _____ will absorb IR because..."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5067300" y="3969805"/>
            <a:ext cx="3771900" cy="680400"/>
          </a:xfrm>
          <a:prstGeom prst="roundRect">
            <a:avLst>
              <a:gd fmla="val 12743" name="adj"/>
            </a:avLst>
          </a:prstGeom>
          <a:solidFill>
            <a:srgbClr val="F7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5143500" y="4143151"/>
            <a:ext cx="36918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25"/>
              <a:buFont typeface="Arial"/>
              <a:buNone/>
            </a:pPr>
            <a:r>
              <a:rPr b="1" i="0" lang="en" sz="1425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Hint:</a:t>
            </a:r>
            <a:r>
              <a:rPr b="0" i="0" lang="en" sz="1425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Look for molecules that VIBRATE when IR hits them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/>
        </p:nvSpPr>
        <p:spPr>
          <a:xfrm>
            <a:off x="228600" y="228600"/>
            <a:ext cx="86868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3F8C"/>
              </a:buClr>
              <a:buSzPts val="2100"/>
              <a:buFont typeface="Georgia"/>
              <a:buNone/>
            </a:pPr>
            <a:r>
              <a:rPr b="1" i="0" lang="en" sz="2600" u="none" cap="none" strike="noStrike">
                <a:solidFill>
                  <a:srgbClr val="D53F8C"/>
                </a:solidFill>
                <a:latin typeface="Georgia"/>
                <a:ea typeface="Georgia"/>
                <a:cs typeface="Georgia"/>
                <a:sym typeface="Georgia"/>
              </a:rPr>
              <a:t>🔬 Key Discovery: Why Some Molecules Trap Heat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228600" y="742950"/>
            <a:ext cx="4267200" cy="2047875"/>
          </a:xfrm>
          <a:prstGeom prst="roundRect">
            <a:avLst>
              <a:gd fmla="val 2791" name="adj"/>
            </a:avLst>
          </a:prstGeom>
          <a:solidFill>
            <a:srgbClr val="F0FFF4"/>
          </a:solidFill>
          <a:ln cap="flat" cmpd="sng" w="19050">
            <a:solidFill>
              <a:srgbClr val="38A1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361950" y="876300"/>
            <a:ext cx="408051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8A169"/>
              </a:buClr>
              <a:buSzPts val="900"/>
              <a:buFont typeface="Arial"/>
              <a:buNone/>
            </a:pPr>
            <a:r>
              <a:rPr b="1" i="0" lang="en" u="none" cap="none" strike="noStrike">
                <a:solidFill>
                  <a:srgbClr val="38A169"/>
                </a:solidFill>
                <a:latin typeface="Arial"/>
                <a:ea typeface="Arial"/>
                <a:cs typeface="Arial"/>
                <a:sym typeface="Arial"/>
              </a:rPr>
              <a:t>✓ GREENHOUSE GASES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361950" y="1093440"/>
            <a:ext cx="408051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Arial"/>
              <a:buNone/>
            </a:pPr>
            <a:r>
              <a:rPr b="1" i="0" lang="en" sz="155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CO₂, H₂O, CH₄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361950" y="1318171"/>
            <a:ext cx="40005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noAutofit/>
          </a:bodyPr>
          <a:lstStyle/>
          <a:p>
            <a:pPr indent="-11747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50"/>
              <a:buFont typeface="Arial"/>
              <a:buChar char="•"/>
            </a:pPr>
            <a:r>
              <a:rPr b="0" i="0" lang="en" sz="18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Absorb infrared radiation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747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50"/>
              <a:buFont typeface="Arial"/>
              <a:buChar char="•"/>
            </a:pPr>
            <a:r>
              <a:rPr b="0" i="0" lang="en" sz="18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Molecules VIBRATE (stretch, bend)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747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50"/>
              <a:buFont typeface="Arial"/>
              <a:buChar char="•"/>
            </a:pPr>
            <a:r>
              <a:rPr b="0" i="0" lang="en" sz="18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Re-emit heat in all directions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228600" y="2867025"/>
            <a:ext cx="4267200" cy="2047875"/>
          </a:xfrm>
          <a:prstGeom prst="roundRect">
            <a:avLst>
              <a:gd fmla="val 2791" name="adj"/>
            </a:avLst>
          </a:prstGeom>
          <a:solidFill>
            <a:srgbClr val="FFF5F5"/>
          </a:solidFill>
          <a:ln cap="flat" cmpd="sng" w="19050">
            <a:solidFill>
              <a:srgbClr val="C5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361950" y="3000375"/>
            <a:ext cx="408051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900"/>
              <a:buFont typeface="Arial"/>
              <a:buNone/>
            </a:pPr>
            <a:r>
              <a:rPr b="1" i="0" lang="en" u="none" cap="none" strike="noStrike">
                <a:solidFill>
                  <a:srgbClr val="C53030"/>
                </a:solidFill>
                <a:latin typeface="Arial"/>
                <a:ea typeface="Arial"/>
                <a:cs typeface="Arial"/>
                <a:sym typeface="Arial"/>
              </a:rPr>
              <a:t>✗ NOT GREENHOUSE GASES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361950" y="3217515"/>
            <a:ext cx="408051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Arial"/>
              <a:buNone/>
            </a:pPr>
            <a:r>
              <a:rPr b="1" i="0" lang="en" sz="155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N₂, O₂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361950" y="3442246"/>
            <a:ext cx="40005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noAutofit/>
          </a:bodyPr>
          <a:lstStyle/>
          <a:p>
            <a:pPr indent="-11747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50"/>
              <a:buFont typeface="Arial"/>
              <a:buChar char="•"/>
            </a:pPr>
            <a:r>
              <a:rPr b="0" i="0" lang="en" sz="18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IR passes straight through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747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50"/>
              <a:buFont typeface="Arial"/>
              <a:buChar char="•"/>
            </a:pPr>
            <a:r>
              <a:rPr b="0" i="0" lang="en" sz="18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Molecules don't vibrate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747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850"/>
              <a:buFont typeface="Arial"/>
              <a:buChar char="•"/>
            </a:pPr>
            <a:r>
              <a:rPr b="0" i="0" lang="en" sz="18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Heat escapes to space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8358b7e0.png" id="204" name="Google Shape;20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8200" y="742947"/>
            <a:ext cx="4267200" cy="1863601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/>
          <p:nvPr/>
        </p:nvSpPr>
        <p:spPr>
          <a:xfrm>
            <a:off x="4781550" y="1039482"/>
            <a:ext cx="40806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BIG IDEA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4781550" y="1479984"/>
            <a:ext cx="4080600" cy="8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Molecules with </a:t>
            </a:r>
            <a:r>
              <a:rPr b="1" i="0" lang="en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3+ atoms</a:t>
            </a:r>
            <a:r>
              <a:rPr b="0" i="0" lang="en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can vibrate to absorb IR. This is why CO₂ traps heat!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4648200" y="2775999"/>
            <a:ext cx="4267200" cy="1189800"/>
          </a:xfrm>
          <a:prstGeom prst="roundRect">
            <a:avLst>
              <a:gd fmla="val 7119" name="adj"/>
            </a:avLst>
          </a:prstGeom>
          <a:solidFill>
            <a:srgbClr val="F7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p22"/>
          <p:cNvCxnSpPr/>
          <p:nvPr/>
        </p:nvCxnSpPr>
        <p:spPr>
          <a:xfrm>
            <a:off x="4662488" y="2805113"/>
            <a:ext cx="0" cy="535186"/>
          </a:xfrm>
          <a:prstGeom prst="straightConnector1">
            <a:avLst/>
          </a:prstGeom>
          <a:noFill/>
          <a:ln cap="flat" cmpd="sng" w="28575">
            <a:solidFill>
              <a:srgbClr val="667E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22"/>
          <p:cNvSpPr/>
          <p:nvPr/>
        </p:nvSpPr>
        <p:spPr>
          <a:xfrm>
            <a:off x="4772025" y="2987810"/>
            <a:ext cx="41292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7EEA"/>
              </a:buClr>
              <a:buSzPts val="825"/>
              <a:buFont typeface="Arial"/>
              <a:buNone/>
            </a:pPr>
            <a:r>
              <a:rPr b="1" i="0" lang="en" sz="1325" u="none" cap="none" strike="noStrike">
                <a:solidFill>
                  <a:srgbClr val="667EEA"/>
                </a:solidFill>
                <a:latin typeface="Arial"/>
                <a:ea typeface="Arial"/>
                <a:cs typeface="Arial"/>
                <a:sym typeface="Arial"/>
              </a:rPr>
              <a:t>🔗 Cycle 2 Connection</a:t>
            </a:r>
            <a:endParaRPr b="0" i="0" sz="1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4772025" y="3398522"/>
            <a:ext cx="41292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Arial"/>
              <a:buNone/>
            </a:pPr>
            <a:r>
              <a:rPr b="0" i="0" lang="en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Absorbing energy = VIBRATE, not break. Breaking requires MORE energy.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4648200" y="4135556"/>
            <a:ext cx="4267200" cy="779400"/>
          </a:xfrm>
          <a:prstGeom prst="roundRect">
            <a:avLst>
              <a:gd fmla="val 10870" name="adj"/>
            </a:avLst>
          </a:prstGeom>
          <a:solidFill>
            <a:srgbClr val="667E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4743450" y="4347367"/>
            <a:ext cx="41583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👥 Turn &amp; Talk:</a:t>
            </a:r>
            <a:r>
              <a:rPr b="0" i="0" lang="en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Why does Earth need SOME greenhouse gases?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094a4a4e.png" id="218" name="Google Shape;21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2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3"/>
          <p:cNvSpPr/>
          <p:nvPr/>
        </p:nvSpPr>
        <p:spPr>
          <a:xfrm>
            <a:off x="342900" y="266700"/>
            <a:ext cx="485016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1A202C"/>
                </a:solidFill>
                <a:latin typeface="Arial"/>
                <a:ea typeface="Arial"/>
                <a:cs typeface="Arial"/>
                <a:sym typeface="Arial"/>
              </a:rPr>
              <a:t>🌿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970806" y="297210"/>
            <a:ext cx="454154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eorgia"/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Station 2 – Carbon Cycle Conservation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4682481" y="496460"/>
            <a:ext cx="45414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 Points • ~15 Minutes • Calculations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304800" y="1061727"/>
            <a:ext cx="47022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76749"/>
              </a:buClr>
              <a:buSzPts val="975"/>
              <a:buFont typeface="Arial"/>
              <a:buNone/>
            </a:pPr>
            <a:r>
              <a:rPr b="1" i="0" lang="en" sz="1575" u="none" cap="none" strike="noStrike">
                <a:solidFill>
                  <a:srgbClr val="276749"/>
                </a:solidFill>
                <a:latin typeface="Arial"/>
                <a:ea typeface="Arial"/>
                <a:cs typeface="Arial"/>
                <a:sym typeface="Arial"/>
              </a:rPr>
              <a:t>YOUR TASKS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304800" y="1613211"/>
            <a:ext cx="4610100" cy="2289900"/>
          </a:xfrm>
          <a:prstGeom prst="roundRect">
            <a:avLst>
              <a:gd fmla="val 3678" name="adj"/>
            </a:avLst>
          </a:prstGeom>
          <a:solidFill>
            <a:srgbClr val="F0FF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23"/>
          <p:cNvCxnSpPr/>
          <p:nvPr/>
        </p:nvCxnSpPr>
        <p:spPr>
          <a:xfrm>
            <a:off x="319088" y="2403277"/>
            <a:ext cx="0" cy="1035844"/>
          </a:xfrm>
          <a:prstGeom prst="straightConnector1">
            <a:avLst/>
          </a:prstGeom>
          <a:noFill/>
          <a:ln cap="flat" cmpd="sng" w="28575">
            <a:solidFill>
              <a:srgbClr val="27674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23"/>
          <p:cNvSpPr/>
          <p:nvPr/>
        </p:nvSpPr>
        <p:spPr>
          <a:xfrm>
            <a:off x="447675" y="1865919"/>
            <a:ext cx="44400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75"/>
              <a:buFont typeface="Arial"/>
              <a:buNone/>
            </a:pPr>
            <a:r>
              <a:rPr b="1" i="0" lang="en" sz="15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b="0" i="0" lang="en" sz="15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 Trace carbon through cycle diagram (4 min)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447675" y="2333167"/>
            <a:ext cx="44400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75"/>
              <a:buFont typeface="Arial"/>
              <a:buNone/>
            </a:pPr>
            <a:r>
              <a:rPr b="1" i="0" lang="en" sz="15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b="0" i="0" lang="en" sz="15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 Balance atoms in equations (4 min)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447675" y="2800412"/>
            <a:ext cx="44400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75"/>
              <a:buFont typeface="Arial"/>
              <a:buNone/>
            </a:pPr>
            <a:r>
              <a:rPr b="1" i="0" lang="en" sz="15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b="0" i="0" lang="en" sz="15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 Calculate carbon in gasoline (5 min)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447675" y="3267660"/>
            <a:ext cx="44400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75"/>
              <a:buFont typeface="Arial"/>
              <a:buNone/>
            </a:pPr>
            <a:r>
              <a:rPr b="1" i="0" lang="en" sz="15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r>
              <a:rPr b="0" i="0" lang="en" sz="15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 Complete analysis questions (2 min)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304800" y="4071852"/>
            <a:ext cx="4610100" cy="859200"/>
          </a:xfrm>
          <a:prstGeom prst="roundRect">
            <a:avLst>
              <a:gd fmla="val 9805" name="adj"/>
            </a:avLst>
          </a:prstGeom>
          <a:solidFill>
            <a:srgbClr val="FFFAF0"/>
          </a:solidFill>
          <a:ln cap="flat" cmpd="sng" w="19050">
            <a:solidFill>
              <a:srgbClr val="ED89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419100" y="4324561"/>
            <a:ext cx="44691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05621"/>
              </a:buClr>
              <a:buSzPts val="900"/>
              <a:buFont typeface="Arial"/>
              <a:buNone/>
            </a:pPr>
            <a:r>
              <a:rPr b="1" i="0" lang="en" sz="1500" u="none" cap="none" strike="noStrike">
                <a:solidFill>
                  <a:srgbClr val="C05621"/>
                </a:solidFill>
                <a:latin typeface="Arial"/>
                <a:ea typeface="Arial"/>
                <a:cs typeface="Arial"/>
                <a:sym typeface="Arial"/>
              </a:rPr>
              <a:t>Key Calc:</a:t>
            </a:r>
            <a:r>
              <a:rPr b="0" i="0" lang="en" sz="1500" u="none" cap="none" strike="noStrike">
                <a:solidFill>
                  <a:srgbClr val="C05621"/>
                </a:solidFill>
                <a:latin typeface="Arial"/>
                <a:ea typeface="Arial"/>
                <a:cs typeface="Arial"/>
                <a:sym typeface="Arial"/>
              </a:rPr>
              <a:t> 48 lbs gas × 27% carbon = ~13 lbs carbon → CO₂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5067300" y="1156162"/>
            <a:ext cx="3771900" cy="1823100"/>
          </a:xfrm>
          <a:prstGeom prst="roundRect">
            <a:avLst>
              <a:gd fmla="val 6930" name="adj"/>
            </a:avLst>
          </a:prstGeom>
          <a:solidFill>
            <a:srgbClr val="2767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5200650" y="1450989"/>
            <a:ext cx="35754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0" i="0" lang="en" sz="14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🎯 KEY IDEA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5200650" y="1859338"/>
            <a:ext cx="35754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Carbon atoms are NEVER created or destroyed</a:t>
            </a:r>
            <a:r>
              <a:rPr b="0" i="0" lang="en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– just moved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5067300" y="3147888"/>
            <a:ext cx="3771900" cy="859200"/>
          </a:xfrm>
          <a:prstGeom prst="roundRect">
            <a:avLst>
              <a:gd fmla="val 9805" name="adj"/>
            </a:avLst>
          </a:prstGeom>
          <a:solidFill>
            <a:srgbClr val="F0FFF4"/>
          </a:solidFill>
          <a:ln cap="flat" cmpd="sng" w="19050">
            <a:solidFill>
              <a:srgbClr val="2767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5181600" y="3400596"/>
            <a:ext cx="36141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76749"/>
              </a:buClr>
              <a:buSzPts val="900"/>
              <a:buFont typeface="Arial"/>
              <a:buNone/>
            </a:pPr>
            <a:r>
              <a:rPr b="1" i="0" lang="en" sz="1500" u="none" cap="none" strike="noStrike">
                <a:solidFill>
                  <a:srgbClr val="276749"/>
                </a:solidFill>
                <a:latin typeface="Arial"/>
                <a:ea typeface="Arial"/>
                <a:cs typeface="Arial"/>
                <a:sym typeface="Arial"/>
              </a:rPr>
              <a:t>📝 Notecard:</a:t>
            </a:r>
            <a:r>
              <a:rPr b="0" i="0" lang="en" sz="1500" u="none" cap="none" strike="noStrike">
                <a:solidFill>
                  <a:srgbClr val="276749"/>
                </a:solidFill>
                <a:latin typeface="Arial"/>
                <a:ea typeface="Arial"/>
                <a:cs typeface="Arial"/>
                <a:sym typeface="Arial"/>
              </a:rPr>
              <a:t> Where do carbon atoms in gasoline come from?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5067300" y="4175502"/>
            <a:ext cx="3771900" cy="661200"/>
          </a:xfrm>
          <a:prstGeom prst="roundRect">
            <a:avLst>
              <a:gd fmla="val 12743" name="adj"/>
            </a:avLst>
          </a:prstGeom>
          <a:solidFill>
            <a:srgbClr val="F7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5143500" y="4343975"/>
            <a:ext cx="36918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25"/>
              <a:buFont typeface="Arial"/>
              <a:buNone/>
            </a:pPr>
            <a:r>
              <a:rPr b="1" i="0" lang="en" sz="1425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Hint:</a:t>
            </a:r>
            <a:r>
              <a:rPr b="0" i="0" lang="en" sz="1425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Ancient plants → fossil fuels → burning → CO₂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/>
          <p:cNvSpPr/>
          <p:nvPr/>
        </p:nvSpPr>
        <p:spPr>
          <a:xfrm>
            <a:off x="228600" y="228600"/>
            <a:ext cx="86184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6749"/>
              </a:buClr>
              <a:buSzPts val="2100"/>
              <a:buFont typeface="Georgia"/>
              <a:buNone/>
            </a:pPr>
            <a:r>
              <a:rPr b="1" i="0" lang="en" sz="2500" u="none" cap="none" strike="noStrike">
                <a:solidFill>
                  <a:srgbClr val="276749"/>
                </a:solidFill>
                <a:latin typeface="Georgia"/>
                <a:ea typeface="Georgia"/>
                <a:cs typeface="Georgia"/>
                <a:sym typeface="Georgia"/>
              </a:rPr>
              <a:t>🌿 Key Discovery: Conservation in the Carbon Cycle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228600" y="1014556"/>
            <a:ext cx="2844900" cy="2689800"/>
          </a:xfrm>
          <a:prstGeom prst="roundRect">
            <a:avLst>
              <a:gd fmla="val 8312" name="adj"/>
            </a:avLst>
          </a:prstGeom>
          <a:solidFill>
            <a:srgbClr val="F0FF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297307" y="1387153"/>
            <a:ext cx="2707500" cy="5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76749"/>
              </a:buClr>
              <a:buSzPts val="825"/>
              <a:buFont typeface="Arial"/>
              <a:buNone/>
            </a:pPr>
            <a:r>
              <a:rPr b="1" i="0" lang="en" sz="2125" u="none" cap="none" strike="noStrike">
                <a:solidFill>
                  <a:srgbClr val="276749"/>
                </a:solidFill>
                <a:latin typeface="Arial"/>
                <a:ea typeface="Arial"/>
                <a:cs typeface="Arial"/>
                <a:sym typeface="Arial"/>
              </a:rPr>
              <a:t>PHOTOSYNTHESIS</a:t>
            </a:r>
            <a:endParaRPr b="0" i="0" sz="2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297307" y="2035123"/>
            <a:ext cx="27075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Arial"/>
              <a:buNone/>
            </a:pPr>
            <a:r>
              <a:rPr b="0" i="0" lang="en" sz="15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6CO₂ + 6H₂O → C₆H₁₂O₆ + 6O₂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297307" y="2810007"/>
            <a:ext cx="27075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50"/>
              <a:buFont typeface="Arial"/>
              <a:buNone/>
            </a:pPr>
            <a:r>
              <a:rPr b="0" i="0" lang="en" sz="13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6 carbons in → 6 carbons out ✓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3149650" y="1014556"/>
            <a:ext cx="2844900" cy="2689800"/>
          </a:xfrm>
          <a:prstGeom prst="roundRect">
            <a:avLst>
              <a:gd fmla="val 8312" name="adj"/>
            </a:avLst>
          </a:prstGeom>
          <a:solidFill>
            <a:srgbClr val="FF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3218356" y="1387153"/>
            <a:ext cx="2707500" cy="5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825"/>
              <a:buFont typeface="Arial"/>
              <a:buNone/>
            </a:pPr>
            <a:r>
              <a:rPr b="1" i="0" lang="en" sz="2125" u="none" cap="none" strike="noStrike">
                <a:solidFill>
                  <a:srgbClr val="C53030"/>
                </a:solidFill>
                <a:latin typeface="Arial"/>
                <a:ea typeface="Arial"/>
                <a:cs typeface="Arial"/>
                <a:sym typeface="Arial"/>
              </a:rPr>
              <a:t>COMBUSTION</a:t>
            </a:r>
            <a:endParaRPr b="0" i="0" sz="2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3218356" y="2035123"/>
            <a:ext cx="27075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Arial"/>
              <a:buNone/>
            </a:pPr>
            <a:r>
              <a:rPr b="0" i="0" lang="en" sz="15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CH₄ + 2O₂ → CO₂ + 2H₂O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3218356" y="2810007"/>
            <a:ext cx="27075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50"/>
              <a:buFont typeface="Arial"/>
              <a:buNone/>
            </a:pPr>
            <a:r>
              <a:rPr b="0" i="0" lang="en" sz="13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1 carbon in → 1 carbon out ✓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6070700" y="1014556"/>
            <a:ext cx="2844900" cy="2689800"/>
          </a:xfrm>
          <a:prstGeom prst="roundRect">
            <a:avLst>
              <a:gd fmla="val 8312" name="adj"/>
            </a:avLst>
          </a:prstGeom>
          <a:solidFill>
            <a:srgbClr val="EBF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6139407" y="1387153"/>
            <a:ext cx="2707500" cy="5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182CE"/>
              </a:buClr>
              <a:buSzPts val="825"/>
              <a:buFont typeface="Arial"/>
              <a:buNone/>
            </a:pPr>
            <a:r>
              <a:rPr b="1" i="0" lang="en" sz="2125" u="none" cap="none" strike="noStrike">
                <a:solidFill>
                  <a:srgbClr val="3182CE"/>
                </a:solidFill>
                <a:latin typeface="Arial"/>
                <a:ea typeface="Arial"/>
                <a:cs typeface="Arial"/>
                <a:sym typeface="Arial"/>
              </a:rPr>
              <a:t>RESPIRATION</a:t>
            </a:r>
            <a:endParaRPr b="0" i="0" sz="2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6139407" y="2035123"/>
            <a:ext cx="27075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Arial"/>
              <a:buNone/>
            </a:pPr>
            <a:r>
              <a:rPr b="0" i="0" lang="en" sz="15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C₆H₁₂O₆ + 6O₂ → 6CO₂ + 6H₂O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6139407" y="2810007"/>
            <a:ext cx="27075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50"/>
              <a:buFont typeface="Arial"/>
              <a:buNone/>
            </a:pPr>
            <a:r>
              <a:rPr b="0" i="0" lang="en" sz="1350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6 carbons in → 6 carbons out ✓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c54d390b.png" id="256" name="Google Shape;25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3331400"/>
            <a:ext cx="8686800" cy="661371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4"/>
          <p:cNvSpPr/>
          <p:nvPr/>
        </p:nvSpPr>
        <p:spPr>
          <a:xfrm>
            <a:off x="258318" y="3513455"/>
            <a:ext cx="86274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BIG IDEA:</a:t>
            </a:r>
            <a:r>
              <a:rPr b="0" i="0" lang="en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We don't CREATE new carbon. We RELEASE carbon stored underground for millions of years.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228600" y="4114143"/>
            <a:ext cx="4319700" cy="800700"/>
          </a:xfrm>
          <a:prstGeom prst="roundRect">
            <a:avLst>
              <a:gd fmla="val 7578" name="adj"/>
            </a:avLst>
          </a:prstGeom>
          <a:solidFill>
            <a:srgbClr val="F7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" name="Google Shape;259;p24"/>
          <p:cNvCxnSpPr/>
          <p:nvPr/>
        </p:nvCxnSpPr>
        <p:spPr>
          <a:xfrm>
            <a:off x="242888" y="4412159"/>
            <a:ext cx="0" cy="502741"/>
          </a:xfrm>
          <a:prstGeom prst="straightConnector1">
            <a:avLst/>
          </a:prstGeom>
          <a:noFill/>
          <a:ln cap="flat" cmpd="sng" w="28575">
            <a:solidFill>
              <a:srgbClr val="667E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0" name="Google Shape;260;p24"/>
          <p:cNvSpPr/>
          <p:nvPr/>
        </p:nvSpPr>
        <p:spPr>
          <a:xfrm>
            <a:off x="352425" y="4265855"/>
            <a:ext cx="41826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7EEA"/>
              </a:buClr>
              <a:buSzPts val="825"/>
              <a:buFont typeface="Arial"/>
              <a:buNone/>
            </a:pPr>
            <a:r>
              <a:rPr b="1" i="0" lang="en" sz="1125" u="none" cap="none" strike="noStrike">
                <a:solidFill>
                  <a:srgbClr val="667EEA"/>
                </a:solidFill>
                <a:latin typeface="Arial"/>
                <a:ea typeface="Arial"/>
                <a:cs typeface="Arial"/>
                <a:sym typeface="Arial"/>
              </a:rPr>
              <a:t>🔗 Why This Matters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4"/>
          <p:cNvSpPr/>
          <p:nvPr/>
        </p:nvSpPr>
        <p:spPr>
          <a:xfrm>
            <a:off x="352425" y="4529692"/>
            <a:ext cx="41826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25"/>
              <a:buFont typeface="Arial"/>
              <a:buNone/>
            </a:pPr>
            <a:r>
              <a:rPr b="0" i="0" lang="en" sz="1125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1 tank of gas = ~100 lbs CO₂ from 300 million years ago!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4"/>
          <p:cNvSpPr/>
          <p:nvPr/>
        </p:nvSpPr>
        <p:spPr>
          <a:xfrm>
            <a:off x="4624387" y="4245942"/>
            <a:ext cx="4290900" cy="537000"/>
          </a:xfrm>
          <a:prstGeom prst="roundRect">
            <a:avLst>
              <a:gd fmla="val 11302" name="adj"/>
            </a:avLst>
          </a:prstGeom>
          <a:solidFill>
            <a:srgbClr val="667E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4"/>
          <p:cNvSpPr/>
          <p:nvPr/>
        </p:nvSpPr>
        <p:spPr>
          <a:xfrm>
            <a:off x="4719637" y="4397655"/>
            <a:ext cx="41826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1" i="0" lang="en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👥 Turn &amp; Talk:</a:t>
            </a:r>
            <a:r>
              <a:rPr b="0" i="0" lang="en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If atoms are conserved, why is CO₂ increasing?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7d598148.png" id="269" name="Google Shape;26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2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5"/>
          <p:cNvSpPr/>
          <p:nvPr/>
        </p:nvSpPr>
        <p:spPr>
          <a:xfrm>
            <a:off x="342900" y="266700"/>
            <a:ext cx="485016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1A202C"/>
                </a:solidFill>
                <a:latin typeface="Arial"/>
                <a:ea typeface="Arial"/>
                <a:cs typeface="Arial"/>
                <a:sym typeface="Arial"/>
              </a:rPr>
              <a:t>🔧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970806" y="297210"/>
            <a:ext cx="395997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eorgia"/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Station 3 – Engineering Challenge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4835806" y="498260"/>
            <a:ext cx="39600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25 Points • ~20 Minutes • Design Task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302550" y="1016806"/>
            <a:ext cx="47022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05621"/>
              </a:buClr>
              <a:buSzPts val="975"/>
              <a:buFont typeface="Arial"/>
              <a:buNone/>
            </a:pPr>
            <a:r>
              <a:rPr b="1" i="0" lang="en" sz="1475" u="none" cap="none" strike="noStrike">
                <a:solidFill>
                  <a:srgbClr val="C05621"/>
                </a:solidFill>
                <a:latin typeface="Arial"/>
                <a:ea typeface="Arial"/>
                <a:cs typeface="Arial"/>
                <a:sym typeface="Arial"/>
              </a:rPr>
              <a:t>THE CHALLENGE</a:t>
            </a:r>
            <a:endParaRPr b="0" i="0" sz="1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304800" y="1797630"/>
            <a:ext cx="4610100" cy="760800"/>
          </a:xfrm>
          <a:prstGeom prst="roundRect">
            <a:avLst>
              <a:gd fmla="val 9481" name="adj"/>
            </a:avLst>
          </a:prstGeom>
          <a:solidFill>
            <a:srgbClr val="FFFA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447675" y="1892922"/>
            <a:ext cx="4440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75"/>
              <a:buFont typeface="Arial"/>
              <a:buNone/>
            </a:pPr>
            <a:r>
              <a:rPr b="1" i="0" lang="en" sz="14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Design a "Thermal Trap"</a:t>
            </a:r>
            <a:r>
              <a:rPr b="0" i="0" lang="en" sz="14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 that maximizes heat capture</a:t>
            </a:r>
            <a:endParaRPr b="0" i="0" sz="1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304800" y="2702894"/>
            <a:ext cx="4610100" cy="1085700"/>
          </a:xfrm>
          <a:prstGeom prst="roundRect">
            <a:avLst>
              <a:gd fmla="val 6646" name="adj"/>
            </a:avLst>
          </a:prstGeom>
          <a:solidFill>
            <a:srgbClr val="FFFFFF"/>
          </a:solidFill>
          <a:ln cap="flat" cmpd="sng" w="19050">
            <a:solidFill>
              <a:srgbClr val="ED89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419100" y="2919346"/>
            <a:ext cx="44691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Arial"/>
              <a:buNone/>
            </a:pPr>
            <a:r>
              <a:rPr b="1" i="0" lang="en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Available Materials: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419100" y="3294474"/>
            <a:ext cx="44691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25"/>
              <a:buFont typeface="Arial"/>
              <a:buNone/>
            </a:pPr>
            <a:r>
              <a:rPr b="0" i="0" lang="en" sz="1325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Clear plastic • Black paper • Cardboard • Aluminum foil • White paper • Bubble wrap</a:t>
            </a:r>
            <a:endParaRPr b="0" i="0" sz="1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304800" y="3932838"/>
            <a:ext cx="4610100" cy="663600"/>
          </a:xfrm>
          <a:prstGeom prst="roundRect">
            <a:avLst>
              <a:gd fmla="val 10870" name="adj"/>
            </a:avLst>
          </a:prstGeom>
          <a:solidFill>
            <a:srgbClr val="F7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400050" y="4113214"/>
            <a:ext cx="45081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Arial"/>
              <a:buNone/>
            </a:pPr>
            <a:r>
              <a:rPr b="1" i="0" lang="en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Explain:</a:t>
            </a:r>
            <a:r>
              <a:rPr b="0" i="0" lang="en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 WHERE each material goes AND WHY (using science)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5067300" y="975224"/>
            <a:ext cx="3771900" cy="3091200"/>
          </a:xfrm>
          <a:prstGeom prst="roundRect">
            <a:avLst>
              <a:gd fmla="val 3501" name="adj"/>
            </a:avLst>
          </a:prstGeom>
          <a:solidFill>
            <a:srgbClr val="C05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5200650" y="1227751"/>
            <a:ext cx="35754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0" i="0" lang="en" sz="1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🎯 SUCCESS CRITERIA</a:t>
            </a:r>
            <a:endParaRPr b="0" i="0" sz="1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5200650" y="1577514"/>
            <a:ext cx="3505200" cy="22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noAutofit/>
          </a:bodyPr>
          <a:lstStyle/>
          <a:p>
            <a:pPr indent="-11747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Arial"/>
              <a:buChar char="•"/>
            </a:pPr>
            <a:r>
              <a:rPr b="0" i="0" lang="en" sz="1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Describe WHERE materials go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747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Arial"/>
              <a:buChar char="•"/>
            </a:pPr>
            <a:r>
              <a:rPr b="0" i="0" lang="en" sz="1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Explain WHY each choice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747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Arial"/>
              <a:buChar char="•"/>
            </a:pPr>
            <a:r>
              <a:rPr b="0" i="0" lang="en" sz="1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Connect to greenhouse effect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747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Arial"/>
              <a:buChar char="•"/>
            </a:pPr>
            <a:r>
              <a:rPr b="0" i="0" lang="en" sz="1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"particles moving faster"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5067300" y="4211013"/>
            <a:ext cx="3771900" cy="735900"/>
          </a:xfrm>
          <a:prstGeom prst="roundRect">
            <a:avLst>
              <a:gd fmla="val 9805" name="adj"/>
            </a:avLst>
          </a:prstGeom>
          <a:solidFill>
            <a:srgbClr val="FFFAF0"/>
          </a:solidFill>
          <a:ln cap="flat" cmpd="sng" w="19050">
            <a:solidFill>
              <a:srgbClr val="ED89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5181600" y="4427465"/>
            <a:ext cx="36141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05621"/>
              </a:buClr>
              <a:buSzPts val="900"/>
              <a:buFont typeface="Arial"/>
              <a:buNone/>
            </a:pPr>
            <a:r>
              <a:rPr b="1" i="0" lang="en" u="none" cap="none" strike="noStrike">
                <a:solidFill>
                  <a:srgbClr val="C05621"/>
                </a:solidFill>
                <a:latin typeface="Arial"/>
                <a:ea typeface="Arial"/>
                <a:cs typeface="Arial"/>
                <a:sym typeface="Arial"/>
              </a:rPr>
              <a:t>📝 Sketch First!</a:t>
            </a:r>
            <a:r>
              <a:rPr b="0" i="0" lang="en" u="none" cap="none" strike="noStrike">
                <a:solidFill>
                  <a:srgbClr val="C05621"/>
                </a:solidFill>
                <a:latin typeface="Arial"/>
                <a:ea typeface="Arial"/>
                <a:cs typeface="Arial"/>
                <a:sym typeface="Arial"/>
              </a:rPr>
              <a:t> Draw design on notecard before writing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6"/>
          <p:cNvSpPr/>
          <p:nvPr/>
        </p:nvSpPr>
        <p:spPr>
          <a:xfrm>
            <a:off x="228600" y="228600"/>
            <a:ext cx="456628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621"/>
              </a:buClr>
              <a:buSzPts val="2100"/>
              <a:buFont typeface="Georgia"/>
              <a:buNone/>
            </a:pPr>
            <a:r>
              <a:rPr b="1" i="0" lang="en" sz="2100" u="none" cap="none" strike="noStrike">
                <a:solidFill>
                  <a:srgbClr val="C05621"/>
                </a:solidFill>
                <a:latin typeface="Georgia"/>
                <a:ea typeface="Georgia"/>
                <a:cs typeface="Georgia"/>
                <a:sym typeface="Georgia"/>
              </a:rPr>
              <a:t>🔧 Strong Justification = Strong Points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6"/>
          <p:cNvSpPr/>
          <p:nvPr/>
        </p:nvSpPr>
        <p:spPr>
          <a:xfrm>
            <a:off x="226325" y="939575"/>
            <a:ext cx="8860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75"/>
              <a:buFont typeface="Arial"/>
              <a:buNone/>
            </a:pPr>
            <a:r>
              <a:rPr b="0" i="0" lang="en" sz="975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Compare these explanations: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6"/>
          <p:cNvSpPr/>
          <p:nvPr/>
        </p:nvSpPr>
        <p:spPr>
          <a:xfrm>
            <a:off x="228600" y="1410249"/>
            <a:ext cx="4267200" cy="2125800"/>
          </a:xfrm>
          <a:prstGeom prst="roundRect">
            <a:avLst>
              <a:gd fmla="val 6962" name="adj"/>
            </a:avLst>
          </a:prstGeom>
          <a:solidFill>
            <a:srgbClr val="FFF5F5"/>
          </a:solidFill>
          <a:ln cap="flat" cmpd="sng" w="19050">
            <a:solidFill>
              <a:srgbClr val="C5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6"/>
          <p:cNvSpPr/>
          <p:nvPr/>
        </p:nvSpPr>
        <p:spPr>
          <a:xfrm>
            <a:off x="361950" y="1755553"/>
            <a:ext cx="40806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825"/>
              <a:buFont typeface="Arial"/>
              <a:buNone/>
            </a:pPr>
            <a:r>
              <a:rPr b="1" i="0" lang="en" sz="1425" u="none" cap="none" strike="noStrike">
                <a:solidFill>
                  <a:srgbClr val="C53030"/>
                </a:solidFill>
                <a:latin typeface="Arial"/>
                <a:ea typeface="Arial"/>
                <a:cs typeface="Arial"/>
                <a:sym typeface="Arial"/>
              </a:rPr>
              <a:t>❌ WEAK (1-2 pts)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6"/>
          <p:cNvSpPr/>
          <p:nvPr/>
        </p:nvSpPr>
        <p:spPr>
          <a:xfrm>
            <a:off x="361950" y="2283141"/>
            <a:ext cx="40806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Arial"/>
              <a:buNone/>
            </a:pPr>
            <a:r>
              <a:rPr b="0" i="1" lang="en" sz="15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"I put black paper on the bottom because black gets hot."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6"/>
          <p:cNvSpPr/>
          <p:nvPr/>
        </p:nvSpPr>
        <p:spPr>
          <a:xfrm>
            <a:off x="361950" y="2845415"/>
            <a:ext cx="40806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50"/>
              <a:buFont typeface="Arial"/>
              <a:buNone/>
            </a:pPr>
            <a:r>
              <a:rPr b="0" i="0" lang="en" sz="135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No molecular explanation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6"/>
          <p:cNvSpPr/>
          <p:nvPr/>
        </p:nvSpPr>
        <p:spPr>
          <a:xfrm>
            <a:off x="4648200" y="1203297"/>
            <a:ext cx="4267200" cy="2540100"/>
          </a:xfrm>
          <a:prstGeom prst="roundRect">
            <a:avLst>
              <a:gd fmla="val 5826" name="adj"/>
            </a:avLst>
          </a:prstGeom>
          <a:solidFill>
            <a:srgbClr val="F0FFF4"/>
          </a:solidFill>
          <a:ln cap="flat" cmpd="sng" w="19050">
            <a:solidFill>
              <a:srgbClr val="38A1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6"/>
          <p:cNvSpPr/>
          <p:nvPr/>
        </p:nvSpPr>
        <p:spPr>
          <a:xfrm>
            <a:off x="4781550" y="1548601"/>
            <a:ext cx="40806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8A169"/>
              </a:buClr>
              <a:buSzPts val="825"/>
              <a:buFont typeface="Arial"/>
              <a:buNone/>
            </a:pPr>
            <a:r>
              <a:rPr b="1" i="0" lang="en" sz="1425" u="none" cap="none" strike="noStrike">
                <a:solidFill>
                  <a:srgbClr val="38A169"/>
                </a:solidFill>
                <a:latin typeface="Arial"/>
                <a:ea typeface="Arial"/>
                <a:cs typeface="Arial"/>
                <a:sym typeface="Arial"/>
              </a:rPr>
              <a:t>✓ STRONG (4-5 pts)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6"/>
          <p:cNvSpPr/>
          <p:nvPr/>
        </p:nvSpPr>
        <p:spPr>
          <a:xfrm>
            <a:off x="4781550" y="2076192"/>
            <a:ext cx="40806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Arial"/>
              <a:buNone/>
            </a:pPr>
            <a:r>
              <a:rPr b="0" i="1" lang="en" sz="15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"Black absorbs all wavelengths, making particles move faster, then emit IR that gets trapped."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6"/>
          <p:cNvSpPr/>
          <p:nvPr/>
        </p:nvSpPr>
        <p:spPr>
          <a:xfrm>
            <a:off x="4781550" y="3052753"/>
            <a:ext cx="40806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50"/>
              <a:buFont typeface="Arial"/>
              <a:buNone/>
            </a:pPr>
            <a:r>
              <a:rPr b="0" i="0" lang="en" sz="135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Connects to molecular behavior!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a3751731.png" id="301" name="Google Shape;30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3914924"/>
            <a:ext cx="8686800" cy="58668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6"/>
          <p:cNvSpPr/>
          <p:nvPr/>
        </p:nvSpPr>
        <p:spPr>
          <a:xfrm>
            <a:off x="342900" y="4029224"/>
            <a:ext cx="862736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WORDS THAT SCORE POINTS: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6"/>
          <p:cNvSpPr/>
          <p:nvPr/>
        </p:nvSpPr>
        <p:spPr>
          <a:xfrm>
            <a:off x="342900" y="4227314"/>
            <a:ext cx="862736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"particles moving faster" • "infrared" • "absorb/emit" • "thermal energy" • "vibrate" • "trap heat"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6"/>
          <p:cNvSpPr/>
          <p:nvPr/>
        </p:nvSpPr>
        <p:spPr>
          <a:xfrm>
            <a:off x="228600" y="4577804"/>
            <a:ext cx="2844850" cy="337096"/>
          </a:xfrm>
          <a:prstGeom prst="roundRect">
            <a:avLst>
              <a:gd fmla="val 11302" name="adj"/>
            </a:avLst>
          </a:prstGeom>
          <a:solidFill>
            <a:srgbClr val="F7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6"/>
          <p:cNvSpPr/>
          <p:nvPr/>
        </p:nvSpPr>
        <p:spPr>
          <a:xfrm>
            <a:off x="323850" y="4673054"/>
            <a:ext cx="270743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825"/>
              <a:buFont typeface="Arial"/>
              <a:buNone/>
            </a:pPr>
            <a:r>
              <a:rPr b="1" i="0" lang="en" sz="82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Clear plastic:</a:t>
            </a:r>
            <a:r>
              <a:rPr b="0" i="0" lang="en" sz="82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 Light IN, IR blocked OUT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6"/>
          <p:cNvSpPr/>
          <p:nvPr/>
        </p:nvSpPr>
        <p:spPr>
          <a:xfrm>
            <a:off x="3149650" y="4577804"/>
            <a:ext cx="2844850" cy="337096"/>
          </a:xfrm>
          <a:prstGeom prst="roundRect">
            <a:avLst>
              <a:gd fmla="val 11302" name="adj"/>
            </a:avLst>
          </a:prstGeom>
          <a:solidFill>
            <a:srgbClr val="F7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6"/>
          <p:cNvSpPr/>
          <p:nvPr/>
        </p:nvSpPr>
        <p:spPr>
          <a:xfrm>
            <a:off x="3244900" y="4673054"/>
            <a:ext cx="270743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825"/>
              <a:buFont typeface="Arial"/>
              <a:buNone/>
            </a:pPr>
            <a:r>
              <a:rPr b="1" i="0" lang="en" sz="82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Black surface:</a:t>
            </a:r>
            <a:r>
              <a:rPr b="0" i="0" lang="en" sz="82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 Absorbs → particles faster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6"/>
          <p:cNvSpPr/>
          <p:nvPr/>
        </p:nvSpPr>
        <p:spPr>
          <a:xfrm>
            <a:off x="6070699" y="4577804"/>
            <a:ext cx="2844850" cy="337096"/>
          </a:xfrm>
          <a:prstGeom prst="roundRect">
            <a:avLst>
              <a:gd fmla="val 11302" name="adj"/>
            </a:avLst>
          </a:prstGeom>
          <a:solidFill>
            <a:srgbClr val="F7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6"/>
          <p:cNvSpPr/>
          <p:nvPr/>
        </p:nvSpPr>
        <p:spPr>
          <a:xfrm>
            <a:off x="6165949" y="4673054"/>
            <a:ext cx="270743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825"/>
              <a:buFont typeface="Arial"/>
              <a:buNone/>
            </a:pPr>
            <a:r>
              <a:rPr b="1" i="0" lang="en" sz="82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Insulation:</a:t>
            </a:r>
            <a:r>
              <a:rPr b="0" i="0" lang="en" sz="82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 Slows energy transfer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5ae6da8a.png" id="315" name="Google Shape;31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2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7"/>
          <p:cNvSpPr/>
          <p:nvPr/>
        </p:nvSpPr>
        <p:spPr>
          <a:xfrm>
            <a:off x="342900" y="266700"/>
            <a:ext cx="485016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1A202C"/>
                </a:solidFill>
                <a:latin typeface="Arial"/>
                <a:ea typeface="Arial"/>
                <a:cs typeface="Arial"/>
                <a:sym typeface="Arial"/>
              </a:rPr>
              <a:t>🎓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7"/>
          <p:cNvSpPr/>
          <p:nvPr/>
        </p:nvSpPr>
        <p:spPr>
          <a:xfrm>
            <a:off x="970806" y="297210"/>
            <a:ext cx="41772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eorgia"/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Exit Ticket – Show What You Know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7"/>
          <p:cNvSpPr/>
          <p:nvPr/>
        </p:nvSpPr>
        <p:spPr>
          <a:xfrm>
            <a:off x="970806" y="582960"/>
            <a:ext cx="417721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 Points • ~15 Minutes • Final Assessment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7"/>
          <p:cNvSpPr/>
          <p:nvPr/>
        </p:nvSpPr>
        <p:spPr>
          <a:xfrm>
            <a:off x="304800" y="1582473"/>
            <a:ext cx="47022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46C1"/>
              </a:buClr>
              <a:buSzPts val="975"/>
              <a:buFont typeface="Arial"/>
              <a:buNone/>
            </a:pPr>
            <a:r>
              <a:rPr b="1" i="0" lang="en" sz="1275" u="none" cap="none" strike="noStrike">
                <a:solidFill>
                  <a:srgbClr val="6B46C1"/>
                </a:solidFill>
                <a:latin typeface="Arial"/>
                <a:ea typeface="Arial"/>
                <a:cs typeface="Arial"/>
                <a:sym typeface="Arial"/>
              </a:rPr>
              <a:t>WHAT YOU'LL SHOW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7"/>
          <p:cNvSpPr/>
          <p:nvPr/>
        </p:nvSpPr>
        <p:spPr>
          <a:xfrm>
            <a:off x="304800" y="1985520"/>
            <a:ext cx="4610100" cy="1673700"/>
          </a:xfrm>
          <a:prstGeom prst="roundRect">
            <a:avLst>
              <a:gd fmla="val 3678" name="adj"/>
            </a:avLst>
          </a:prstGeom>
          <a:solidFill>
            <a:srgbClr val="FA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1" name="Google Shape;321;p27"/>
          <p:cNvCxnSpPr/>
          <p:nvPr/>
        </p:nvCxnSpPr>
        <p:spPr>
          <a:xfrm>
            <a:off x="319088" y="2403277"/>
            <a:ext cx="0" cy="1035844"/>
          </a:xfrm>
          <a:prstGeom prst="straightConnector1">
            <a:avLst/>
          </a:prstGeom>
          <a:noFill/>
          <a:ln cap="flat" cmpd="sng" w="28575">
            <a:solidFill>
              <a:srgbClr val="8E2D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2" name="Google Shape;322;p27"/>
          <p:cNvSpPr/>
          <p:nvPr/>
        </p:nvSpPr>
        <p:spPr>
          <a:xfrm>
            <a:off x="447675" y="2170210"/>
            <a:ext cx="44400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75"/>
              <a:buFont typeface="Arial"/>
              <a:buNone/>
            </a:pPr>
            <a:r>
              <a:rPr b="1" i="0" lang="en" sz="12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b="0" i="0" lang="en" sz="12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 Explain why CO₂ is a greenhouse gas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7"/>
          <p:cNvSpPr/>
          <p:nvPr/>
        </p:nvSpPr>
        <p:spPr>
          <a:xfrm>
            <a:off x="447675" y="2511693"/>
            <a:ext cx="44400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75"/>
              <a:buFont typeface="Arial"/>
              <a:buNone/>
            </a:pPr>
            <a:r>
              <a:rPr b="1" i="0" lang="en" sz="12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b="0" i="0" lang="en" sz="12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 Trace carbon through a scenario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7"/>
          <p:cNvSpPr/>
          <p:nvPr/>
        </p:nvSpPr>
        <p:spPr>
          <a:xfrm>
            <a:off x="447675" y="2853175"/>
            <a:ext cx="44400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75"/>
              <a:buFont typeface="Arial"/>
              <a:buNone/>
            </a:pPr>
            <a:r>
              <a:rPr b="1" i="0" lang="en" sz="12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b="0" i="0" lang="en" sz="12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 Connect molecules to climate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7"/>
          <p:cNvSpPr/>
          <p:nvPr/>
        </p:nvSpPr>
        <p:spPr>
          <a:xfrm>
            <a:off x="447675" y="3194659"/>
            <a:ext cx="44400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75"/>
              <a:buFont typeface="Arial"/>
              <a:buNone/>
            </a:pPr>
            <a:r>
              <a:rPr b="1" i="0" lang="en" sz="12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r>
              <a:rPr b="0" i="0" lang="en" sz="1275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 Apply Cycle 2 chemistry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7"/>
          <p:cNvSpPr/>
          <p:nvPr/>
        </p:nvSpPr>
        <p:spPr>
          <a:xfrm>
            <a:off x="304800" y="3782396"/>
            <a:ext cx="4610100" cy="627900"/>
          </a:xfrm>
          <a:prstGeom prst="roundRect">
            <a:avLst>
              <a:gd fmla="val 9805" name="adj"/>
            </a:avLst>
          </a:prstGeom>
          <a:solidFill>
            <a:srgbClr val="FFFAF0"/>
          </a:solidFill>
          <a:ln cap="flat" cmpd="sng" w="19050">
            <a:solidFill>
              <a:srgbClr val="ED89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7"/>
          <p:cNvSpPr/>
          <p:nvPr/>
        </p:nvSpPr>
        <p:spPr>
          <a:xfrm>
            <a:off x="419100" y="3967085"/>
            <a:ext cx="44691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05621"/>
              </a:buClr>
              <a:buSzPts val="900"/>
              <a:buFont typeface="Arial"/>
              <a:buNone/>
            </a:pPr>
            <a:r>
              <a:rPr b="1" i="0" lang="en" sz="1200" u="none" cap="none" strike="noStrike">
                <a:solidFill>
                  <a:srgbClr val="C05621"/>
                </a:solidFill>
                <a:latin typeface="Arial"/>
                <a:ea typeface="Arial"/>
                <a:cs typeface="Arial"/>
                <a:sym typeface="Arial"/>
              </a:rPr>
              <a:t>⚠️ Use vocab:</a:t>
            </a:r>
            <a:r>
              <a:rPr b="0" i="0" lang="en" sz="1200" u="none" cap="none" strike="noStrike">
                <a:solidFill>
                  <a:srgbClr val="C05621"/>
                </a:solidFill>
                <a:latin typeface="Arial"/>
                <a:ea typeface="Arial"/>
                <a:cs typeface="Arial"/>
                <a:sym typeface="Arial"/>
              </a:rPr>
              <a:t> infrared, vibrate, absorb, conserved, carbon cycle, greenhouse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7"/>
          <p:cNvSpPr/>
          <p:nvPr/>
        </p:nvSpPr>
        <p:spPr>
          <a:xfrm>
            <a:off x="5067300" y="998824"/>
            <a:ext cx="3771900" cy="2637900"/>
          </a:xfrm>
          <a:prstGeom prst="roundRect">
            <a:avLst>
              <a:gd fmla="val 3501" name="adj"/>
            </a:avLst>
          </a:prstGeom>
          <a:solidFill>
            <a:srgbClr val="6B46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7"/>
          <p:cNvSpPr/>
          <p:nvPr/>
        </p:nvSpPr>
        <p:spPr>
          <a:xfrm>
            <a:off x="5200650" y="1214296"/>
            <a:ext cx="35754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0" i="0" lang="en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🎯 TESTS ALL 4 TARGETS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7"/>
          <p:cNvSpPr/>
          <p:nvPr/>
        </p:nvSpPr>
        <p:spPr>
          <a:xfrm>
            <a:off x="5200650" y="1512732"/>
            <a:ext cx="35052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noAutofit/>
          </a:bodyPr>
          <a:lstStyle/>
          <a:p>
            <a:pPr indent="-10477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Char char="•"/>
            </a:pPr>
            <a:r>
              <a:rPr b="0" i="0" lang="en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CO₂ absorbs heat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477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Char char="•"/>
            </a:pPr>
            <a:r>
              <a:rPr b="0" i="0" lang="en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Carbon cycle tracing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477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Char char="•"/>
            </a:pPr>
            <a:r>
              <a:rPr b="0" i="0" lang="en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 application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477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Char char="•"/>
            </a:pPr>
            <a:r>
              <a:rPr b="0" i="0" lang="en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Cycle 2 connections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7"/>
          <p:cNvSpPr/>
          <p:nvPr/>
        </p:nvSpPr>
        <p:spPr>
          <a:xfrm>
            <a:off x="5067300" y="3759790"/>
            <a:ext cx="3771900" cy="627900"/>
          </a:xfrm>
          <a:prstGeom prst="roundRect">
            <a:avLst>
              <a:gd fmla="val 9805" name="adj"/>
            </a:avLst>
          </a:prstGeom>
          <a:solidFill>
            <a:srgbClr val="FAF5FF"/>
          </a:solidFill>
          <a:ln cap="flat" cmpd="sng" w="19050">
            <a:solidFill>
              <a:srgbClr val="8E2D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7"/>
          <p:cNvSpPr/>
          <p:nvPr/>
        </p:nvSpPr>
        <p:spPr>
          <a:xfrm>
            <a:off x="5181600" y="3944480"/>
            <a:ext cx="36141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46C1"/>
              </a:buClr>
              <a:buSzPts val="900"/>
              <a:buFont typeface="Arial"/>
              <a:buNone/>
            </a:pPr>
            <a:r>
              <a:rPr b="1" i="0" lang="en" sz="1200" u="none" cap="none" strike="noStrike">
                <a:solidFill>
                  <a:srgbClr val="6B46C1"/>
                </a:solidFill>
                <a:latin typeface="Arial"/>
                <a:ea typeface="Arial"/>
                <a:cs typeface="Arial"/>
                <a:sym typeface="Arial"/>
              </a:rPr>
              <a:t>📝 Review your notecard</a:t>
            </a:r>
            <a:r>
              <a:rPr b="0" i="0" lang="en" sz="1200" u="none" cap="none" strike="noStrike">
                <a:solidFill>
                  <a:srgbClr val="6B46C1"/>
                </a:solidFill>
                <a:latin typeface="Arial"/>
                <a:ea typeface="Arial"/>
                <a:cs typeface="Arial"/>
                <a:sym typeface="Arial"/>
              </a:rPr>
              <a:t> – you wrote key ideas all class!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7"/>
          <p:cNvSpPr/>
          <p:nvPr/>
        </p:nvSpPr>
        <p:spPr>
          <a:xfrm>
            <a:off x="5067300" y="4510815"/>
            <a:ext cx="3771900" cy="483300"/>
          </a:xfrm>
          <a:prstGeom prst="roundRect">
            <a:avLst>
              <a:gd fmla="val 12743" name="adj"/>
            </a:avLst>
          </a:prstGeom>
          <a:solidFill>
            <a:srgbClr val="F7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7"/>
          <p:cNvSpPr/>
          <p:nvPr/>
        </p:nvSpPr>
        <p:spPr>
          <a:xfrm>
            <a:off x="5143500" y="4633941"/>
            <a:ext cx="36918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25"/>
              <a:buFont typeface="Arial"/>
              <a:buNone/>
            </a:pPr>
            <a:r>
              <a:rPr b="1" i="0" lang="en" sz="1125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Cannot change after Submit!</a:t>
            </a:r>
            <a:r>
              <a:rPr b="0" i="0" lang="en" sz="1125" u="none" cap="none" strike="noStrik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Review carefully.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"/>
          <p:cNvSpPr/>
          <p:nvPr/>
        </p:nvSpPr>
        <p:spPr>
          <a:xfrm>
            <a:off x="4120788" y="283125"/>
            <a:ext cx="897000" cy="11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3600"/>
              <a:buFont typeface="Arial"/>
              <a:buNone/>
            </a:pPr>
            <a:r>
              <a:rPr b="0" i="0" lang="en" sz="4100" u="none" cap="none" strike="noStrike">
                <a:solidFill>
                  <a:srgbClr val="1A202C"/>
                </a:solidFill>
                <a:latin typeface="Arial"/>
                <a:ea typeface="Arial"/>
                <a:cs typeface="Arial"/>
                <a:sym typeface="Arial"/>
              </a:rPr>
              <a:t>🏆</a:t>
            </a:r>
            <a:endParaRPr b="0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8"/>
          <p:cNvSpPr/>
          <p:nvPr/>
        </p:nvSpPr>
        <p:spPr>
          <a:xfrm>
            <a:off x="669545" y="1502118"/>
            <a:ext cx="77994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" sz="29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You Connected Chemistry to Climate!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8"/>
          <p:cNvSpPr/>
          <p:nvPr/>
        </p:nvSpPr>
        <p:spPr>
          <a:xfrm>
            <a:off x="427587" y="2801529"/>
            <a:ext cx="1598700" cy="619800"/>
          </a:xfrm>
          <a:prstGeom prst="roundRect">
            <a:avLst>
              <a:gd fmla="val 10796" name="adj"/>
            </a:avLst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8"/>
          <p:cNvSpPr/>
          <p:nvPr/>
        </p:nvSpPr>
        <p:spPr>
          <a:xfrm>
            <a:off x="621261" y="2913019"/>
            <a:ext cx="1211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0" i="0" lang="en" sz="1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Hot Car</a:t>
            </a:r>
            <a:endParaRPr b="0" i="0" sz="1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8"/>
          <p:cNvSpPr/>
          <p:nvPr/>
        </p:nvSpPr>
        <p:spPr>
          <a:xfrm>
            <a:off x="621261" y="3106909"/>
            <a:ext cx="12117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i="0" lang="en" sz="14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 IR trapped</a:t>
            </a:r>
            <a:endParaRPr b="0" i="0" sz="1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8"/>
          <p:cNvSpPr/>
          <p:nvPr/>
        </p:nvSpPr>
        <p:spPr>
          <a:xfrm>
            <a:off x="2144035" y="2801529"/>
            <a:ext cx="1980900" cy="619800"/>
          </a:xfrm>
          <a:prstGeom prst="roundRect">
            <a:avLst>
              <a:gd fmla="val 10796" name="adj"/>
            </a:avLst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8"/>
          <p:cNvSpPr/>
          <p:nvPr/>
        </p:nvSpPr>
        <p:spPr>
          <a:xfrm>
            <a:off x="2333889" y="2913019"/>
            <a:ext cx="1601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0" i="0" lang="en" sz="1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CO₂ Vibration</a:t>
            </a:r>
            <a:endParaRPr b="0" i="0" sz="1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8"/>
          <p:cNvSpPr/>
          <p:nvPr/>
        </p:nvSpPr>
        <p:spPr>
          <a:xfrm>
            <a:off x="2333889" y="3106909"/>
            <a:ext cx="16014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i="0" lang="en" sz="14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 Heat absorbed</a:t>
            </a:r>
            <a:endParaRPr b="0" i="0" sz="1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8"/>
          <p:cNvSpPr/>
          <p:nvPr/>
        </p:nvSpPr>
        <p:spPr>
          <a:xfrm>
            <a:off x="4242451" y="2801529"/>
            <a:ext cx="2140500" cy="619800"/>
          </a:xfrm>
          <a:prstGeom prst="roundRect">
            <a:avLst>
              <a:gd fmla="val 10796" name="adj"/>
            </a:avLst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8"/>
          <p:cNvSpPr/>
          <p:nvPr/>
        </p:nvSpPr>
        <p:spPr>
          <a:xfrm>
            <a:off x="4430709" y="2913019"/>
            <a:ext cx="1764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0" i="0" lang="en" sz="1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Carbon Cycle</a:t>
            </a:r>
            <a:endParaRPr b="0" i="0" sz="1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8"/>
          <p:cNvSpPr/>
          <p:nvPr/>
        </p:nvSpPr>
        <p:spPr>
          <a:xfrm>
            <a:off x="4430709" y="3106909"/>
            <a:ext cx="17640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i="0" lang="en" sz="14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 Mass conserved</a:t>
            </a:r>
            <a:endParaRPr b="0" i="0" sz="1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8"/>
          <p:cNvSpPr/>
          <p:nvPr/>
        </p:nvSpPr>
        <p:spPr>
          <a:xfrm>
            <a:off x="6500306" y="2801529"/>
            <a:ext cx="2210700" cy="619800"/>
          </a:xfrm>
          <a:prstGeom prst="roundRect">
            <a:avLst>
              <a:gd fmla="val 10796" name="adj"/>
            </a:avLst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8"/>
          <p:cNvSpPr/>
          <p:nvPr/>
        </p:nvSpPr>
        <p:spPr>
          <a:xfrm>
            <a:off x="6687862" y="2913019"/>
            <a:ext cx="1835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0" i="0" lang="en" sz="1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Bond Energy</a:t>
            </a:r>
            <a:endParaRPr b="0" i="0" sz="1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8"/>
          <p:cNvSpPr/>
          <p:nvPr/>
        </p:nvSpPr>
        <p:spPr>
          <a:xfrm>
            <a:off x="6687862" y="3106909"/>
            <a:ext cx="18357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i="0" lang="en" sz="14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 Vibrate not break</a:t>
            </a:r>
            <a:endParaRPr b="0" i="0" sz="1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8"/>
          <p:cNvSpPr/>
          <p:nvPr/>
        </p:nvSpPr>
        <p:spPr>
          <a:xfrm>
            <a:off x="220200" y="3777942"/>
            <a:ext cx="8698200" cy="530700"/>
          </a:xfrm>
          <a:prstGeom prst="roundRect">
            <a:avLst>
              <a:gd fmla="val 1260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8"/>
          <p:cNvSpPr/>
          <p:nvPr/>
        </p:nvSpPr>
        <p:spPr>
          <a:xfrm>
            <a:off x="492640" y="3934028"/>
            <a:ext cx="8153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4E52"/>
              </a:buClr>
              <a:buSzPts val="1050"/>
              <a:buFont typeface="Arial"/>
              <a:buNone/>
            </a:pPr>
            <a:r>
              <a:rPr b="1" i="0" lang="en" sz="1550" u="none" cap="none" strike="noStrike">
                <a:solidFill>
                  <a:srgbClr val="234E52"/>
                </a:solidFill>
                <a:latin typeface="Arial"/>
                <a:ea typeface="Arial"/>
                <a:cs typeface="Arial"/>
                <a:sym typeface="Arial"/>
              </a:rPr>
              <a:t>Next Week:</a:t>
            </a:r>
            <a:r>
              <a:rPr b="0" i="0" lang="en" sz="1550" u="none" cap="none" strike="noStrike">
                <a:solidFill>
                  <a:srgbClr val="234E52"/>
                </a:solidFill>
                <a:latin typeface="Arial"/>
                <a:ea typeface="Arial"/>
                <a:cs typeface="Arial"/>
                <a:sym typeface="Arial"/>
              </a:rPr>
              <a:t> How do scientists know CO₂ levels are rising? What evidence do they use?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8"/>
          <p:cNvSpPr/>
          <p:nvPr/>
        </p:nvSpPr>
        <p:spPr>
          <a:xfrm>
            <a:off x="1922138" y="4665336"/>
            <a:ext cx="52941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📝 </a:t>
            </a:r>
            <a:r>
              <a:rPr b="1" i="0" lang="en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Notecard Exit:</a:t>
            </a:r>
            <a:r>
              <a:rPr b="0" i="0" lang="en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One thing learned + one question you still have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