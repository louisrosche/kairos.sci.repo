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Georgia"/>
              </a:defRPr>
            </a:pPr>
            <a:r>
              <a:t>🧊 Week 2: Feedback Loops &amp; Tipping Points 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Arial"/>
              </a:defRPr>
            </a:pPr>
            <a:r>
              <a:t>Grade 7 Science | Rosche | Kairos Academies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MS-ESS3-5 Climate Change Investigation | 100 Points Total | ~75 Minutes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3840480"/>
            <a:ext cx="5486400" cy="731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8B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20240" y="39776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34E52"/>
                </a:solidFill>
                <a:latin typeface="Arial"/>
              </a:defRPr>
            </a:pPr>
            <a:r>
              <a:t>Why does less ice = faster melting?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8778240" cy="54864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🌡️ The Phenomenon: The Melting Ice Mystery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914400"/>
            <a:ext cx="4389120" cy="256032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4023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34E52"/>
                </a:solidFill>
                <a:latin typeface="Arial"/>
              </a:defRPr>
            </a:pPr>
            <a:r>
              <a:t>Scientists discovered something strange:</a:t>
            </a:r>
            <a:br/>
            <a:br/>
            <a:r>
              <a:t>• When ice STARTS melting, it doesn't melt at a steady rate</a:t>
            </a:r>
            <a:br/>
            <a:r>
              <a:t>• Instead, melting SPEEDS UP over time</a:t>
            </a:r>
            <a:br/>
            <a:r>
              <a:t>• The more ice that melts, the FASTER remaining ice melts</a:t>
            </a:r>
            <a:br/>
            <a:br/>
            <a:r>
              <a:t>This seems backwards!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" y="3566160"/>
            <a:ext cx="4389120" cy="64008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36576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Why would melting cause MORE melting?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914400"/>
            <a:ext cx="4206240" cy="27432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0972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Arial"/>
              </a:defRPr>
            </a:pPr>
            <a:r>
              <a:t>📝 QUICK WRITE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164592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30 sec – silent writing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74320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What's your prediction?</a:t>
            </a:r>
            <a:br/>
            <a:r>
              <a:t>Why might less ice = faster melting?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3749039"/>
            <a:ext cx="4206240" cy="4572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37947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67EEA"/>
                </a:solidFill>
                <a:latin typeface="Arial"/>
              </a:defRPr>
            </a:pPr>
            <a:r>
              <a:t>👥 TURN &amp; TALK: Share with partner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2880" y="4389120"/>
            <a:ext cx="8778240" cy="54864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4462272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📝 Notecard: Write your prediction - Why does melting speed up?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38B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rial"/>
              </a:defRPr>
            </a:pPr>
            <a:r>
              <a:t>DRIVING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Georgia"/>
              </a:defRPr>
            </a:pPr>
            <a:r>
              <a:t>Why might melting ice cause MORE melting?</a:t>
            </a:r>
            <a:br/>
            <a:r>
              <a:t>What creates this accelerating cycle?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2926080"/>
            <a:ext cx="1828800" cy="731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Georgia"/>
              </a:defRPr>
            </a:pPr>
            <a:r>
              <a:t>And how does this connect to what you learned about CO₂ in Week 1?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3931920"/>
            <a:ext cx="5486400" cy="731520"/>
          </a:xfrm>
          <a:prstGeom prst="roundRect">
            <a:avLst/>
          </a:prstGeom>
          <a:solidFill>
            <a:srgbClr val="234E52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0233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🎯 Your Mission: Connect ice → albedo → feedback loops → climate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182CE"/>
                </a:solidFill>
                <a:latin typeface="Georgia"/>
              </a:defRPr>
            </a:pPr>
            <a:r>
              <a:t>🔗 What You Already Know (Cycle 2 + Week 1)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640080"/>
            <a:ext cx="4206240" cy="12801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640080"/>
            <a:ext cx="73152" cy="1280160"/>
          </a:xfrm>
          <a:prstGeom prst="round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182CE"/>
                </a:solidFill>
                <a:latin typeface="Arial"/>
              </a:defRPr>
            </a:pPr>
            <a:r>
              <a:t>Breaking bonds...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ABSORBS energy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CO₂ vibrates, doesn't break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640080"/>
            <a:ext cx="4206240" cy="1280160"/>
          </a:xfrm>
          <a:prstGeom prst="roundRect">
            <a:avLst/>
          </a:prstGeom>
          <a:solidFill>
            <a:srgbClr val="FF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640080"/>
            <a:ext cx="73152" cy="1280160"/>
          </a:xfrm>
          <a:prstGeom prst="round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7315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53030"/>
                </a:solidFill>
                <a:latin typeface="Arial"/>
              </a:defRPr>
            </a:pPr>
            <a:r>
              <a:t>Forming bonds...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RELEASES energy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3716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Combustion releases heat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2011680"/>
            <a:ext cx="4206240" cy="128016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2011680"/>
            <a:ext cx="73152" cy="128016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1031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A169"/>
                </a:solidFill>
                <a:latin typeface="Arial"/>
              </a:defRPr>
            </a:pPr>
            <a:r>
              <a:t>Atoms are...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77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CONSERVED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7432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Carbon cycles, never destroyed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2011680"/>
            <a:ext cx="4206240" cy="128016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63440" y="2011680"/>
            <a:ext cx="73152" cy="1280160"/>
          </a:xfrm>
          <a:prstGeom prst="roundRect">
            <a:avLst/>
          </a:prstGeom>
          <a:solidFill>
            <a:srgbClr val="805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21031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05AD5"/>
                </a:solidFill>
                <a:latin typeface="Arial"/>
              </a:defRPr>
            </a:pPr>
            <a:r>
              <a:t>Week 1: Greenhouse Effect...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377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CO₂ TRAPS heat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27432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IR absorbed → molecules vibrate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3474720"/>
            <a:ext cx="8595360" cy="64008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📝 Notecard: Which concept do you remember BEST? Write it + one example.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4206240"/>
            <a:ext cx="8595360" cy="73152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297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34E52"/>
                </a:solidFill>
                <a:latin typeface="Arial"/>
              </a:defRPr>
            </a:pPr>
            <a:r>
              <a:t>🆕 NEW THIS WEEK: How do these concepts connect to FEEDBACK LOOPS that accelerate climate change?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34E52"/>
                </a:solidFill>
                <a:latin typeface="Georgia"/>
              </a:defRPr>
            </a:pPr>
            <a:r>
              <a:t>🎯 Learning Targets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64008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2AC"/>
                </a:solidFill>
                <a:latin typeface="Arial"/>
              </a:defRPr>
            </a:pPr>
            <a:r>
              <a:t>TARGET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Explain how albedo affects Earth's energy balance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64008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7315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2AC"/>
                </a:solidFill>
                <a:latin typeface="Arial"/>
              </a:defRPr>
            </a:pPr>
            <a:r>
              <a:t>TARGET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00584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Model a positive feedback loop using ice-albedo as example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92024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0116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34E52"/>
                </a:solidFill>
                <a:latin typeface="Arial"/>
              </a:defRPr>
            </a:pPr>
            <a:r>
              <a:t>TARGET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28600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Analyze carbon sink data and predict consequences of saturation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92024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20116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34E52"/>
                </a:solidFill>
                <a:latin typeface="Arial"/>
              </a:defRPr>
            </a:pPr>
            <a:r>
              <a:t>TARGET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28600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Design a carbon capture system using scientific principles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3291840"/>
            <a:ext cx="8595360" cy="64008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3832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57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Total Points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33832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~75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657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Minutes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3832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657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Sections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4114800"/>
            <a:ext cx="859536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2062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D3748"/>
                </a:solidFill>
                <a:latin typeface="Arial"/>
              </a:defRPr>
            </a:pPr>
            <a:r>
              <a:t>🎯 Hook (12 pts)  →  ☀️ Station 1 (20 pts)  →  🌊 Station 2 (20 pts)  →  🔧 Station 3 (25 pts)  →  🎓 Exit (23 pts)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37160"/>
            <a:ext cx="8778240" cy="457200"/>
          </a:xfrm>
          <a:prstGeom prst="round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📚 Key Vocabulary This Week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31520"/>
            <a:ext cx="8778240" cy="5943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Albedo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82296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The fraction of light a surface reflects (0 = absorbs all, 1 = reflects all)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" y="1325880"/>
            <a:ext cx="877824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Positive Feedback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41732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When change causes MORE of the same change (amplifying loop)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1920240"/>
            <a:ext cx="8778240" cy="5943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0116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Negative Feedback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01168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When change causes the OPPOSITE change (stabilizing loop)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" y="2514600"/>
            <a:ext cx="877824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6060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Carbon Sink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60604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A reservoir that absorbs more carbon than it releases (oceans, forests)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" y="3108960"/>
            <a:ext cx="8778240" cy="5943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2004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Tipping Point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320040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The threshold where a system shifts to a new, hard-to-reverse state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" y="3840480"/>
            <a:ext cx="8778240" cy="54864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39319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Write down the term you find most confusing - we'll clarify today!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" y="4480560"/>
            <a:ext cx="8778240" cy="45720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34E52"/>
                </a:solidFill>
                <a:latin typeface="Arial"/>
              </a:defRPr>
            </a:pPr>
            <a:r>
              <a:t>💡 Remember: Positive feedback = AMPLIFIES change | Negative feedback = STABILIZES system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6858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Georgia"/>
              </a:defRPr>
            </a:pPr>
            <a:r>
              <a:t>🎯 Hook – The Melting Ice Mystery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502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Arial"/>
              </a:defRPr>
            </a:pPr>
            <a:r>
              <a:t>12 Points | ~10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7EEA"/>
                </a:solidFill>
                <a:latin typeface="Arial"/>
              </a:defRPr>
            </a:pPr>
            <a:r>
              <a:t>WHAT YOU'LL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8288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8288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1. Observe the phenomenon: accelerating ice melt (2 min)</a:t>
            </a:r>
            <a:br/>
            <a:r>
              <a:t>2. Make predictions about WHY melting speeds up (3 min)</a:t>
            </a:r>
            <a:br/>
            <a:r>
              <a:t>3. Learn about feedback loops (3 min)</a:t>
            </a:r>
            <a:br/>
            <a:r>
              <a:t>4. Connect to Week 1 greenhouse effect (2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3291840"/>
            <a:ext cx="4114800" cy="73152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" y="3291840"/>
            <a:ext cx="4114800" cy="45720"/>
          </a:xfrm>
          <a:prstGeom prst="roundRect">
            <a:avLst/>
          </a:prstGeom>
          <a:solidFill>
            <a:srgbClr val="C05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05621"/>
                </a:solidFill>
                <a:latin typeface="Arial"/>
              </a:defRPr>
            </a:pPr>
            <a:r>
              <a:t>💡 Key: What color is ice? What color is ocean?</a:t>
            </a:r>
            <a:br/>
            <a:r>
              <a:t>Which absorbs more sunlight?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1005840"/>
            <a:ext cx="4297680" cy="22860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11430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📝 QUICK WRITE 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64592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"I think melting ice causes more melting because..."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3383280"/>
            <a:ext cx="4297680" cy="36576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342900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67EEA"/>
                </a:solidFill>
                <a:latin typeface="Arial"/>
              </a:defRPr>
            </a:pPr>
            <a:r>
              <a:t>🎲 Cold Call Coming! Be ready to share.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Record your prediction AND your reasoning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48640"/>
          </a:xfrm>
          <a:prstGeom prst="round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🎯 Hook – Think About This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" y="868680"/>
            <a:ext cx="2834640" cy="146304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182CE"/>
                </a:solidFill>
                <a:latin typeface="Arial"/>
              </a:defRPr>
            </a:pPr>
            <a:r>
              <a:t>What color is ice?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White/light - reflects most sunlight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54680" y="868680"/>
            <a:ext cx="2834640" cy="146304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960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34E52"/>
                </a:solidFill>
                <a:latin typeface="Arial"/>
              </a:defRPr>
            </a:pPr>
            <a:r>
              <a:t>What color is ocean water?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Dark blue - absorbs most sunlight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868680"/>
            <a:ext cx="2834640" cy="146304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960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5621"/>
                </a:solidFill>
                <a:latin typeface="Arial"/>
              </a:defRPr>
            </a:pPr>
            <a:r>
              <a:t>Which surface heats up more?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Dark surfaces absorb more → get hotter!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" y="2468880"/>
            <a:ext cx="8686800" cy="9144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8600" y="2468880"/>
            <a:ext cx="73152" cy="91440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5603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A169"/>
                </a:solidFill>
                <a:latin typeface="Arial"/>
              </a:defRPr>
            </a:pPr>
            <a:r>
              <a:t>🔗 Week 1 Connection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Last week: CO₂ absorbs infrared heat → warms atmosphere → ice melts. This week: What happens AFTER ice melts?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600" y="3520440"/>
            <a:ext cx="8686800" cy="77724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611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34E52"/>
                </a:solidFill>
                <a:latin typeface="Arial"/>
              </a:defRPr>
            </a:pPr>
            <a:r>
              <a:t>🔄 THE LOOP: More CO₂ → More heat → Ice melts → Dark ocean exposed → Absorbs MORE heat → MORE ice melts → ...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4434840"/>
            <a:ext cx="8869680" cy="5029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Draw a simple diagram showing this loop with arrows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685800"/>
          </a:xfrm>
          <a:prstGeom prst="roundRect">
            <a:avLst/>
          </a:prstGeom>
          <a:solidFill>
            <a:srgbClr val="F6A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Georgia"/>
              </a:defRPr>
            </a:pPr>
            <a:r>
              <a:t>☀️ Station 1 – Albedo Effect Investigation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502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~18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D6B20"/>
                </a:solidFill>
                <a:latin typeface="Arial"/>
              </a:defRPr>
            </a:pPr>
            <a:r>
              <a:t>YOUR INVESTIGATION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210312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21031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1. Set up heat lamp with 4 surfaces (3 min)</a:t>
            </a:r>
            <a:br/>
            <a:r>
              <a:t>   • Black paper, white paper, aluminum foil, water</a:t>
            </a:r>
            <a:br/>
            <a:r>
              <a:t>2. Record starting temperatures (2 min)</a:t>
            </a:r>
            <a:br/>
            <a:r>
              <a:t>3. Turn on heat lamp for 3 minutes (3 min)</a:t>
            </a:r>
            <a:br/>
            <a:r>
              <a:t>4. Record final temperatures (2 min)</a:t>
            </a:r>
            <a:br/>
            <a:r>
              <a:t>5. Calculate temperature changes (3 min)</a:t>
            </a:r>
            <a:br/>
            <a:r>
              <a:t>6. Answer analysis questions (5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05840"/>
            <a:ext cx="4297680" cy="137160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🎯 DISCOVERY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6304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Which surfaces heat up fastest? Why does surface color matter for climate?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468880"/>
            <a:ext cx="4297680" cy="82296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2468880"/>
            <a:ext cx="4297680" cy="457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560320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6B20"/>
                </a:solidFill>
                <a:latin typeface="Arial"/>
              </a:defRPr>
            </a:pPr>
            <a:r>
              <a:t>📝 Predict: "I think _____ will heat up most because..."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3383280"/>
            <a:ext cx="4297680" cy="640080"/>
          </a:xfrm>
          <a:prstGeom prst="roundRect">
            <a:avLst/>
          </a:prstGeom>
          <a:solidFill>
            <a:srgbClr val="FF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34747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53030"/>
                </a:solidFill>
                <a:latin typeface="Arial"/>
              </a:defRPr>
            </a:pPr>
            <a:r>
              <a:t>⚠️ Safety: Do NOT touch heat lamp bulb!</a:t>
            </a:r>
            <a:br/>
            <a:r>
              <a:t>Keep water away from electrical equipment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Record your prediction BEFORE the experiment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☀️ Station 1 – Albedo Reference &amp;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4297680" cy="137160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2880" y="777240"/>
            <a:ext cx="73152" cy="137160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ALBEDO = fraction of light REFLECTED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Albedo of 0 = absorbs ALL light (black)</a:t>
            </a:r>
            <a:br/>
            <a:r>
              <a:t>• Albedo of 1 = reflects ALL light (mirror)</a:t>
            </a:r>
            <a:br/>
            <a:r>
              <a:t>• Snow/Ice ≈ 0.8-0.9 (reflects most)</a:t>
            </a:r>
            <a:br/>
            <a:r>
              <a:t>• Ocean ≈ 0.06 (absorbs most)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777240"/>
            <a:ext cx="4206240" cy="137160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8686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182CE"/>
                </a:solidFill>
                <a:latin typeface="Arial"/>
              </a:defRPr>
            </a:pPr>
            <a:r>
              <a:t>🏠 HOME ALTERNATIVE DATA: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188720"/>
            <a:ext cx="3840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Surface        | Start | After 3 min | Change</a:t>
            </a:r>
            <a:br/>
            <a:r>
              <a:t>Black paper   | 22°C  | 38°C        | +16°C</a:t>
            </a:r>
            <a:br/>
            <a:r>
              <a:t>Water          | 22°C  | 31°C        | +9°C</a:t>
            </a:r>
            <a:br/>
            <a:r>
              <a:t>White paper   | 22°C  | 27°C        | +5°C</a:t>
            </a:r>
            <a:br/>
            <a:r>
              <a:t>Aluminum foil | 22°C  | 24°C        | +2°C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" y="2286000"/>
            <a:ext cx="4297680" cy="118872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37744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A169"/>
                </a:solidFill>
                <a:latin typeface="Arial"/>
              </a:defRPr>
            </a:pPr>
            <a:r>
              <a:t>📗 SENTENCE STARTERS: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51760"/>
            <a:ext cx="4023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• "Black paper heated most because its albedo is low, which means..."</a:t>
            </a:r>
            <a:br/>
            <a:r>
              <a:t>• "Surfaces with high albedo, like aluminum, stayed cooler because..."</a:t>
            </a:r>
            <a:br/>
            <a:r>
              <a:t>• "The data shows darker surfaces absorb more _____ energy..."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2286000"/>
            <a:ext cx="4206240" cy="118872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237744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34E52"/>
                </a:solidFill>
                <a:latin typeface="Arial"/>
              </a:defRPr>
            </a:pPr>
            <a:r>
              <a:t>🔤 WORD BANK: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651760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34E52"/>
                </a:solidFill>
                <a:latin typeface="Arial"/>
              </a:defRPr>
            </a:pPr>
            <a:r>
              <a:t>reflects • absorbs • albedo • light energy • temperature • feedback • amplify • positive feedback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2880" y="3611880"/>
            <a:ext cx="8686800" cy="64008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703320"/>
            <a:ext cx="8321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🔑 KEY INSIGHT: When ice melts → dark ocean exposed → absorbs MORE heat → MORE melting = POSITIVE FEEDBACK!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4389120"/>
            <a:ext cx="8869680" cy="502920"/>
          </a:xfrm>
          <a:prstGeom prst="roundRect">
            <a:avLst/>
          </a:prstGeom>
          <a:solidFill>
            <a:srgbClr val="F6A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44348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📝 Notecard: Which surface heated most? How does this explain accelerating ice melt?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68580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Georgia"/>
              </a:defRPr>
            </a:pPr>
            <a:r>
              <a:t>🌊 Station 2 – Carbon Sink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502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6CB0"/>
                </a:solidFill>
                <a:latin typeface="Arial"/>
              </a:defRPr>
            </a:pPr>
            <a:r>
              <a:t>YOUR ANALYSIS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82880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82880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1. Study the carbon budget data (3 min)</a:t>
            </a:r>
            <a:br/>
            <a:r>
              <a:t>2. Calculate: How much CO₂ stays in atmosphere? (3 min)</a:t>
            </a:r>
            <a:br/>
            <a:r>
              <a:t>3. Analyze what happens if sinks decrease (4 min)</a:t>
            </a:r>
            <a:br/>
            <a:r>
              <a:t>4. Predict consequences of sink saturation (5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05840"/>
            <a:ext cx="4297680" cy="137160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🎯 DISCOVERY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6304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Why is the atmosphere gaining CO₂ even though Earth has carbon sinks?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468880"/>
            <a:ext cx="4297680" cy="8229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2468880"/>
            <a:ext cx="4297680" cy="45720"/>
          </a:xfrm>
          <a:prstGeom prst="round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560320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182CE"/>
                </a:solidFill>
                <a:latin typeface="Arial"/>
              </a:defRPr>
            </a:pPr>
            <a:r>
              <a:t>🔢 Calculator needed!</a:t>
            </a:r>
            <a:br/>
            <a:r>
              <a:t>Sources - Sinks = What stays in atmosphere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3337560"/>
            <a:ext cx="8595360" cy="64008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34E52"/>
                </a:solidFill>
                <a:latin typeface="Arial"/>
              </a:defRPr>
            </a:pPr>
            <a:r>
              <a:t>💡 Hint: Earth's sinks can only absorb SO MUCH carbon. What happens when they're full?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Write your prediction - What happens when carbon sinks are full?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🌊 Station 2 – Global Carbon Budget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4297680" cy="1371600"/>
          </a:xfrm>
          <a:prstGeom prst="roundRect">
            <a:avLst/>
          </a:prstGeom>
          <a:solidFill>
            <a:srgbClr val="FF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6868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53030"/>
                </a:solidFill>
                <a:latin typeface="Arial"/>
              </a:defRPr>
            </a:pPr>
            <a:r>
              <a:t>📤 SOURCES (Gt CO₂/year)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Fossil fuels:        +36 Gt/year</a:t>
            </a:r>
            <a:br/>
            <a:r>
              <a:t>Deforestation:      +5 Gt/year</a:t>
            </a:r>
            <a:br/>
            <a:r>
              <a:t>───────────────</a:t>
            </a:r>
            <a:br/>
            <a:r>
              <a:t>TOTAL EMITTED:    41 Gt/year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777240"/>
            <a:ext cx="4206240" cy="13716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8686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A169"/>
                </a:solidFill>
                <a:latin typeface="Arial"/>
              </a:defRPr>
            </a:pPr>
            <a:r>
              <a:t>📥 SINKS (Gt CO₂/year)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18872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Ocean absorption:    -10 Gt/year</a:t>
            </a:r>
            <a:br/>
            <a:r>
              <a:t>Land/forest:            -12 Gt/year</a:t>
            </a:r>
            <a:br/>
            <a:r>
              <a:t>───────────────</a:t>
            </a:r>
            <a:br/>
            <a:r>
              <a:t>TOTAL ABSORBED:  22 Gt/year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2286000"/>
            <a:ext cx="8686800" cy="640080"/>
          </a:xfrm>
          <a:prstGeom prst="round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377440"/>
            <a:ext cx="8321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REMAINING IN ATMOSPHERE: 41 - 22 = 19 Gt/year (and growing!)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" y="3063240"/>
            <a:ext cx="4297680" cy="109728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15468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5621"/>
                </a:solidFill>
                <a:latin typeface="Arial"/>
              </a:defRPr>
            </a:pPr>
            <a:r>
              <a:t>🤔 WHAT IF scenarios: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42900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Ocean gets too warm to absorb as much?</a:t>
            </a:r>
            <a:br/>
            <a:r>
              <a:t>• Forests burn or are cut down?</a:t>
            </a:r>
            <a:br/>
            <a:r>
              <a:t>• Permafrost melts and RELEASES carbon?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3063240"/>
            <a:ext cx="4206240" cy="109728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315468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34E52"/>
                </a:solidFill>
                <a:latin typeface="Arial"/>
              </a:defRPr>
            </a:pPr>
            <a:r>
              <a:t>🔄 ANOTHER POSITIVE FEEDBACK: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42900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34E52"/>
                </a:solidFill>
                <a:latin typeface="Arial"/>
              </a:defRPr>
            </a:pPr>
            <a:r>
              <a:t>More CO₂ → Warmer oceans →</a:t>
            </a:r>
            <a:br/>
            <a:r>
              <a:t>Oceans absorb LESS CO₂ →</a:t>
            </a:r>
            <a:br/>
            <a:r>
              <a:t>Even MORE CO₂ stays in atmosphere!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7160" y="4297680"/>
            <a:ext cx="8869680" cy="5029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434340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📝 Notecard: Calculate - If sinks decrease by 50%, how much CO₂ stays in atmosphere?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68580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Georgia"/>
              </a:defRPr>
            </a:pPr>
            <a:r>
              <a:t>🔧 Station 3 – Engineering Carbon Capture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5029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Arial"/>
              </a:defRPr>
            </a:pPr>
            <a:r>
              <a:t>25 Points | ~20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6749"/>
                </a:solidFill>
                <a:latin typeface="Arial"/>
              </a:defRPr>
            </a:pPr>
            <a:r>
              <a:t>YOUR ENGINEERING CHALLENGE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8288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82880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1. Review carbon capture options (3 min)</a:t>
            </a:r>
            <a:br/>
            <a:r>
              <a:t>2. Choose your approach (2 min)</a:t>
            </a:r>
            <a:br/>
            <a:r>
              <a:t>3. Calculate how much CO₂ your design captures (5 min)</a:t>
            </a:r>
            <a:br/>
            <a:r>
              <a:t>4. Design your system with constraints (5 min)</a:t>
            </a:r>
            <a:br/>
            <a:r>
              <a:t>5. Explain the science behind your choice (5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05840"/>
            <a:ext cx="4297680" cy="1645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📋 DESIGN CONSTRAINTS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6304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rial"/>
              </a:defRPr>
            </a:pPr>
            <a:r>
              <a:t>✓ Must work at SCHOOL scale (not industrial)</a:t>
            </a:r>
            <a:br/>
            <a:r>
              <a:t>✓ Must be SUSTAINABLE (low energy)</a:t>
            </a:r>
            <a:br/>
            <a:r>
              <a:t>✓ Must store carbon for 10+ YEARS</a:t>
            </a:r>
            <a:br/>
            <a:r>
              <a:t>✓ Budget: $500 MAXIMUM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743200"/>
            <a:ext cx="4297680" cy="54864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28346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76749"/>
                </a:solidFill>
                <a:latin typeface="Arial"/>
              </a:defRPr>
            </a:pPr>
            <a:r>
              <a:t>⭐ HIGHEST VALUE STATION - Show your best work!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3337560"/>
            <a:ext cx="8595360" cy="64008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34E52"/>
                </a:solidFill>
                <a:latin typeface="Arial"/>
              </a:defRPr>
            </a:pPr>
            <a:r>
              <a:t>🔬 How can we CREATE a carbon sink? What captures CO₂ naturally?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Which carbon capture method interests you most? Why?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🔧 Station 3 – Carbon Capture Options &amp;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8778240" cy="50292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68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🌳 Tree planting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868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~48 lbs CO₂/tree/year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868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8A169"/>
                </a:solidFill>
                <a:latin typeface="Arial"/>
              </a:defRPr>
            </a:pPr>
            <a:r>
              <a:t>$10-50/tree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" y="1280160"/>
            <a:ext cx="877824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🌿 Algae cultivation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3716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10x faster than trees!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8A169"/>
                </a:solidFill>
                <a:latin typeface="Arial"/>
              </a:defRPr>
            </a:pPr>
            <a:r>
              <a:t>$100+ setup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" y="1783080"/>
            <a:ext cx="8778240" cy="50292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87451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♻️ Composting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1874519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Stores carbon in soil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87451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8A169"/>
                </a:solidFill>
                <a:latin typeface="Arial"/>
              </a:defRPr>
            </a:pPr>
            <a:r>
              <a:t>$50 for bins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" y="2286000"/>
            <a:ext cx="877824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377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☀️ Solar panels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3774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Prevents NEW emissions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377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8A169"/>
                </a:solidFill>
                <a:latin typeface="Arial"/>
              </a:defRPr>
            </a:pPr>
            <a:r>
              <a:t>$$$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2880" y="2880360"/>
            <a:ext cx="4297680" cy="109728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7180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182CE"/>
                </a:solidFill>
                <a:latin typeface="Arial"/>
              </a:defRPr>
            </a:pPr>
            <a:r>
              <a:t>🔢 CALCULATION HELP: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246120"/>
            <a:ext cx="4023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Example: 10 trees × 48 lbs/tree = 480 lbs CO₂/year</a:t>
            </a:r>
            <a:br/>
            <a:r>
              <a:t>Cost: 10 trees × $25 = $250 (under budget!)</a:t>
            </a:r>
            <a:br/>
            <a:r>
              <a:t>That's about 1/10 of one person's annual footprint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63440" y="2880360"/>
            <a:ext cx="4206240" cy="109728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0" y="297180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5621"/>
                </a:solidFill>
                <a:latin typeface="Arial"/>
              </a:defRPr>
            </a:pPr>
            <a:r>
              <a:t>💡 DESIGN TIPS: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3246120"/>
            <a:ext cx="3840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• Combine approaches for best results</a:t>
            </a:r>
            <a:br/>
            <a:r>
              <a:t>• Consider maintenance (who takes care of it?)</a:t>
            </a:r>
            <a:br/>
            <a:r>
              <a:t>• Think about WHERE to put your solution</a:t>
            </a:r>
            <a:br/>
            <a:r>
              <a:t>• Explain the SCIENCE - why does it work?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" y="4114800"/>
            <a:ext cx="8869680" cy="502920"/>
          </a:xfrm>
          <a:prstGeom prst="roundRect">
            <a:avLst/>
          </a:prstGeom>
          <a:solidFill>
            <a:srgbClr val="48B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41605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📝 Notecard: Write your design choice + calculate total CO₂ captured per year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685800"/>
          </a:xfrm>
          <a:prstGeom prst="round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Georgia"/>
              </a:defRPr>
            </a:pPr>
            <a:r>
              <a:t>🎓 Exit Ticket – Feedback Loop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502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Arial"/>
              </a:defRPr>
            </a:pPr>
            <a:r>
              <a:t>23 Points | ~15 min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005840"/>
            <a:ext cx="8595360" cy="164592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" y="1005840"/>
            <a:ext cx="73152" cy="1645920"/>
          </a:xfrm>
          <a:prstGeom prst="round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F7AEA"/>
                </a:solidFill>
                <a:latin typeface="Arial"/>
              </a:defRPr>
            </a:pPr>
            <a:r>
              <a:t>QUESTION TYPES: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3748"/>
                </a:solidFill>
                <a:latin typeface="Arial"/>
              </a:defRPr>
            </a:pPr>
            <a:r>
              <a:t>• 2 NEW – Week 2 feedback loop content</a:t>
            </a:r>
            <a:br/>
            <a:r>
              <a:t>• 2 SPIRAL – Week 1 + Cycle 2 review</a:t>
            </a:r>
            <a:br/>
            <a:r>
              <a:t>• 1 INTEGRATION – Connect Week 1 &amp; Week 2 concepts</a:t>
            </a:r>
            <a:br/>
            <a:r>
              <a:t>• 1 SEP-2 – Create a feedback loop MODEL (diagram with labels)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2788920"/>
            <a:ext cx="4206240" cy="109728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88036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A169"/>
                </a:solidFill>
                <a:latin typeface="Arial"/>
              </a:defRPr>
            </a:pPr>
            <a:r>
              <a:t>✅ SUCCESS TIPS: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54680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Use vocabulary from today</a:t>
            </a:r>
            <a:br/>
            <a:r>
              <a:t>• Reference your notecard notes</a:t>
            </a:r>
            <a:br/>
            <a:r>
              <a:t>• Draw arrows in your feedback loop model</a:t>
            </a:r>
            <a:br/>
            <a:r>
              <a:t>• Explain WHY each step leads to the next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2788920"/>
            <a:ext cx="4206240" cy="109728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288036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182CE"/>
                </a:solidFill>
                <a:latin typeface="Arial"/>
              </a:defRPr>
            </a:pPr>
            <a:r>
              <a:t>📊 SEP-2 MODEL MUST INCLUDE: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154680"/>
            <a:ext cx="3840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Clear boxes or circles with labels</a:t>
            </a:r>
            <a:br/>
            <a:r>
              <a:t>• Arrows showing cause → effect</a:t>
            </a:r>
            <a:br/>
            <a:r>
              <a:t>• At least 4 steps in the loop</a:t>
            </a:r>
            <a:br/>
            <a:r>
              <a:t>• "Positive feedback" or "Negative feedback" label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" y="4023360"/>
            <a:ext cx="8869680" cy="64008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41148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📝 FINAL Notecard: Draw the ice-albedo positive feedback loop with 4+ labeled steps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234E52"/>
                </a:solidFill>
                <a:latin typeface="Georgia"/>
              </a:defRPr>
            </a:pPr>
            <a:r>
              <a:t>Week 2 Summary: What You Learned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77724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777240"/>
            <a:ext cx="91440" cy="7315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Albedo Effect: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43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White surfaces reflect light (stay cool), dark surfaces absorb light (heat up)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60020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4320" y="1600200"/>
            <a:ext cx="91440" cy="73152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691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Positive Feedback: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65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Change that causes MORE of the same change (amplifying loop)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42316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4320" y="2423160"/>
            <a:ext cx="91440" cy="7315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146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Carbon Sinks: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788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Reservoirs that absorb CO₂ - can become saturated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324612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4320" y="3246120"/>
            <a:ext cx="91440" cy="731520"/>
          </a:xfrm>
          <a:prstGeom prst="round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3375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Multiple Feedbacks: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611879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Climate change involves many interacting feedback loops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" y="4114800"/>
            <a:ext cx="8595360" cy="73152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🎉 Week 2 Complete!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Next Week: Synthesis &amp; Assessment - Bringing it all together!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