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🧊 Week 2: Feedback Loops &amp; Tipping Points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7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MS-ESS3-5 Climate Change Investigation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8B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does less ice = faster melting?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🌡️ The Phenomenon: The Melting Ice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4E52"/>
                </a:solidFill>
                <a:latin typeface="Arial"/>
              </a:defRPr>
            </a:pPr>
            <a:r>
              <a:t>Scientists discovered something strange:</a:t>
            </a:r>
            <a:br/>
            <a:br/>
            <a:r>
              <a:t>• When ice STARTS melting, it doesn't melt at a steady rate</a:t>
            </a:r>
            <a:br/>
            <a:r>
              <a:t>• Instead, melting SPEEDS UP over time</a:t>
            </a:r>
            <a:br/>
            <a:r>
              <a:t>• The more ice that melts, the FASTER remaining 🧊 ice melts</a:t>
            </a:r>
            <a:br/>
            <a:br/>
            <a:r>
              <a:t>This seems backwards!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Why would melting cause 🧊 MORE melting?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less ice = faster melting?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does melting speed up?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might melting ice cause 🧊 MORE melting?</a:t>
            </a:r>
            <a:br/>
            <a:r>
              <a:t>What creates this accelerating cycle?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926080"/>
            <a:ext cx="1828800" cy="73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what you learned about CO₂ in Week 1?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931920"/>
            <a:ext cx="5486400" cy="731520"/>
          </a:xfrm>
          <a:prstGeom prst="roundRect">
            <a:avLst/>
          </a:prstGeom>
          <a:solidFill>
            <a:srgbClr val="234E5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Connect ice → albedo → feedback loops → climate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182CE"/>
                </a:solidFill>
                <a:latin typeface="Georgia"/>
              </a:defRPr>
            </a:pPr>
            <a:r>
              <a:t>🔗 What You Already Know (Cycle 2 + Week 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Breaking bonds...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ABSORBS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CO₂ vibrates, doesn't break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Forming bonds...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RELEASES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Combustion releases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Atoms are...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CONSERVED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Carbon cycles, never destroyed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05AD5"/>
                </a:solidFill>
                <a:latin typeface="Arial"/>
              </a:defRPr>
            </a:pPr>
            <a:r>
              <a:t>Week 1: Greenhouse Effect...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CO₂ TRAPS heat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IR absorbed → molecules vibrate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concept do you remember BEST? Write it + one example.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How do these concepts connect to FEEDBACK LOOPS that accelerate climate change?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Explain how albedo affects Earth's energy balance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Model a positive feedback loop using ice-albedo as example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Analyze carbon sink data and predict consequences of saturation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Design a carbon capture system using scientific principles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☀️ Station 1 (20 pts)  →  🌊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229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fraction of light a surface reflects (0 = absorbs all, 1 = reflects all)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173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MORE of the same change (amplifying loop)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Negative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116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the OPPOSITE change (stabilizing loop)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6060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reservoir that absorbs more carbon than it releases (oceans, forests)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Tipping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004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threshold where a system shifts to a new, hard-to-reverse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84048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8056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Remember: Positive feedback = AMPLIFIES change | Negative feedback = STABILIZES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Hook – The Melting Ice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phenomenon: accelerating ice melt (2 min)</a:t>
            </a:r>
            <a:br/>
            <a:r>
              <a:t>2. Make predictions about WHY melting speeds up (3 min)</a:t>
            </a:r>
            <a:br/>
            <a:r>
              <a:t>3. Learn about feedback loops (3 min)</a:t>
            </a:r>
            <a:br/>
            <a:r>
              <a:t>4. Connect to Week 1 greenhouse effect (2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5621"/>
                </a:solidFill>
                <a:latin typeface="Arial"/>
              </a:defRPr>
            </a:pPr>
            <a:r>
              <a:t>💡 Key: What color is ice? What color is ocean?</a:t>
            </a:r>
            <a:br/>
            <a:r>
              <a:t>Which absorbs more ☀️ sunlight?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"I think melting ice causes more melting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Think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2834640" cy="14630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What color is ice?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⬜ White/light - reflects most ☀️ sunlight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868680"/>
            <a:ext cx="28346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34E52"/>
                </a:solidFill>
                <a:latin typeface="Arial"/>
              </a:defRPr>
            </a:pPr>
            <a:r>
              <a:t>What color is 🌊 ocean water?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🌊 Dark blue - absorbs most ☀️ sunlight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868680"/>
            <a:ext cx="2834640" cy="146304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5621"/>
                </a:solidFill>
                <a:latin typeface="Arial"/>
              </a:defRPr>
            </a:pPr>
            <a:r>
              <a:t>Which surface 🔥 heats up more?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surfaces absorb more → get 🔥 hotter!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2468880"/>
            <a:ext cx="868680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" y="2468880"/>
            <a:ext cx="73152" cy="9144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🔗 Week 1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Last week: CO₂ absorbs infrared heat → warms atmosphere → 🧊 ice melts. This week: What happens AFTER 🧊 ice melts?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3520440"/>
            <a:ext cx="8686800" cy="7772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🔄 THE LOOP: More CO₂ → More heat → Ice melts → Dark ocean exposed → Absorbs 🔥 MORE heat → MORE 🧊 ice melts → 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43484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Draw a simple diagram showing this loop with arrows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☀️ Station 1 – Albedo Effect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21031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21031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Open the Ice-Albedo Feedback Simulator (3 min)</a:t>
            </a:r>
            <a:br/>
            <a:r>
              <a:t>   • Review the albedo reference data table</a:t>
            </a:r>
            <a:br/>
            <a:r>
              <a:t>2. Analyze how different surfaces heat up (3 min)</a:t>
            </a:r>
            <a:br/>
            <a:r>
              <a:t>3. Run the simulation to see feedback in action (5 min)</a:t>
            </a:r>
            <a:br/>
            <a:r>
              <a:t>4. Note how ice loss affects temperature (3 min)</a:t>
            </a:r>
            <a:br/>
            <a:r>
              <a:t>5. Calculate temperature changes from data (2 min)</a:t>
            </a:r>
            <a:br/>
            <a:r>
              <a:t>6. Answer analysis questions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Which surfaces heat up fastest? Why does surface color matter for climate?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6B20"/>
                </a:solidFill>
                <a:latin typeface="Arial"/>
              </a:defRPr>
            </a:pPr>
            <a:r>
              <a:t>📝 Predict: "I think _____ will heat up most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64008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53030"/>
                </a:solidFill>
                <a:latin typeface="Arial"/>
              </a:defRPr>
            </a:pPr>
            <a:r>
              <a:t>💡 Tip: Use the simulation controls to explore different scenarios</a:t>
            </a:r>
            <a:br/>
            <a: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BEFORE the experiment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☀️ Station 1 – Albedo Reference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ALBEDO = fraction of light REFLECTED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Albedo of 0 = absorbs ALL light (black)</a:t>
            </a:r>
            <a:br/>
            <a:r>
              <a:t>• Albedo of 1 = reflects ALL light (mirror)</a:t>
            </a:r>
            <a:br/>
            <a:r>
              <a:t>• Snow/Ice ≈ 0.8-0.9 (reflects most)</a:t>
            </a:r>
            <a:br/>
            <a:r>
              <a:t>• Ocean ≈ 0.06 (absorbs most)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ALBEDO REFERENCE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2286000"/>
            <a:ext cx="4297680" cy="11887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7744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023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"Black surface (ocean) 🔥 heated most because its albedo is low, which means..."</a:t>
            </a:r>
            <a:br/>
            <a:r>
              <a:t>• "Surfaces with high albedo, like ice and snow, stayed cooler because..."</a:t>
            </a:r>
            <a:br/>
            <a:r>
              <a:t>• "The data shows darker surfaces absorb more _____ energy..."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286000"/>
            <a:ext cx="4206240" cy="11887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🔤 WORD BANK: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rPr sz="1800" b="1"/>
              <a:t>reflects • absorbs • albedo • light energy • temperature • feedback • amplify • positive feedback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" y="3611880"/>
            <a:ext cx="8686800" cy="64008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🔑 KEY INSIGHT: When 🧊 ice melts → 🌊 dark ocean exposed → absorbs 🔥 MORE heat → MORE melting = POSITIVE FEEDBACK!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Which surface 🔥 heated most? How does this explain accelerating ice melt?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846320" y="1188720"/>
          <a:ext cx="384048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768096"/>
                <a:gridCol w="768096"/>
                <a:gridCol w="768096"/>
                <a:gridCol w="768096"/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Surface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Albedo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Start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After 3 min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Change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Black surface (ocean)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~0.06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22°C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38°C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+16°C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~0.10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22°C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31°C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+9°C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White surface (clouds)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~0.70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22°C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27°C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+5°C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Ice/Snow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~0.85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22°C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24°C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+2°C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🌊 Station 2 – Carbon Sink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carbon budget data (3 min)</a:t>
            </a:r>
            <a:br/>
            <a:r>
              <a:t>2. Calculate: How much CO₂ stays in atmosphere? (3 min)</a:t>
            </a:r>
            <a:br/>
            <a:r>
              <a:t>3. Analyze what happens if sinks decrease (4 min)</a:t>
            </a:r>
            <a:br/>
            <a:r>
              <a:t>4. Predict consequences of sink saturation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Why is the atmosphere gaining CO₂ even though Earth has carbon sinks?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182CE"/>
                </a:solidFill>
                <a:latin typeface="Arial"/>
              </a:defRPr>
            </a:pPr>
            <a:r>
              <a:t>🔢 Calculator needed!</a:t>
            </a:r>
            <a:br/>
            <a:r>
              <a:t>Sources - Sinks = What stays in atmosphere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Hint: Earth's sinks can only absorb SO MUCH carbon. What happens when they're full?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What happens when carbon sinks are full?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🌊 Station 2 – Global Carbon Budget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📤 SOURCES (Gt CO₂/year)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Fossil fuels:        +36 Gt/year</a:t>
            </a:r>
            <a:br/>
            <a:r>
              <a:t>Deforestation:      +5 Gt/year</a:t>
            </a:r>
            <a:br/>
            <a:r>
              <a:t>───────────────</a:t>
            </a:r>
            <a:br/>
            <a:r>
              <a:t>TOTAL EMITTED:    41 Gt/year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A169"/>
                </a:solidFill>
                <a:latin typeface="Arial"/>
              </a:defRPr>
            </a:pPr>
            <a:r>
              <a:t>📥 SINKS (Gt CO₂/year)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Ocean absorption:    -10 Gt/year</a:t>
            </a:r>
            <a:br/>
            <a:r>
              <a:t>Land/forest:            -12 Gt/year</a:t>
            </a:r>
            <a:br/>
            <a:r>
              <a:t>───────────────</a:t>
            </a:r>
            <a:br/>
            <a:r>
              <a:t>TOTAL ABSORBED:  22 Gt/year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286000"/>
            <a:ext cx="8686800" cy="64008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REMAINING IN ATMOSPHERE: 41 - 22 = 19 Gt/year (and growing!)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3063240"/>
            <a:ext cx="429768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🤔 WHAT IF scenarios: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2900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Ocean gets too warm to absorb as much?</a:t>
            </a:r>
            <a:br/>
            <a:r>
              <a:t>• Forests burn or are cut down?</a:t>
            </a:r>
            <a:br/>
            <a:r>
              <a:t>• Permafrost melts and RELEASES carbon?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063240"/>
            <a:ext cx="4206240" cy="10972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1546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🔄 ANOTHER POSITIVE FEEDBACK: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29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More CO₂ → Warmer oceans →</a:t>
            </a:r>
            <a:br/>
            <a:r>
              <a:t>Oceans absorb LESS CO₂ →</a:t>
            </a:r>
            <a:br/>
            <a:r>
              <a:t>Even MORE CO₂ stays in atmosphere!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Calculate - If sinks decrease by 50%, how much CO₂ stays in atmosphere?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Engineering Carbon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ENGINEERING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Review carbon capture options (3 min)</a:t>
            </a:r>
            <a:br/>
            <a:r>
              <a:t>2. Choose your approach (2 min)</a:t>
            </a:r>
            <a:br/>
            <a:r>
              <a:t>3. Calculate how much CO₂ your design captures (5 min)</a:t>
            </a:r>
            <a:br/>
            <a:r>
              <a:t>4. Design your system with constraints (5 min)</a:t>
            </a:r>
            <a:br/>
            <a:r>
              <a:t>5. Explain the science behind your choice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DESIGN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Must work at SCHOOL scale (not industrial)</a:t>
            </a:r>
            <a:br/>
            <a:r>
              <a:t>✓ Must be SUSTAINABLE (low energy)</a:t>
            </a:r>
            <a:br/>
            <a:r>
              <a:t>✓ Must store carbon for 10+ YEARS</a:t>
            </a:r>
            <a:br/>
            <a:r>
              <a:t>✓ Budget: $500 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4E52"/>
                </a:solidFill>
                <a:latin typeface="Arial"/>
              </a:defRPr>
            </a:pPr>
            <a:r>
              <a:t>🔬 How can we CREATE a carbon sink? What captures CO₂ naturally?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Which carbon capture method interests you most?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Carbon Capture Options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🌳 Tree planting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~48 lbs CO₂/tree/year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868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$10-50/tree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🌿 Algae cultivation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10x faster than trees!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$100+ setup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8308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♻️ Composting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87451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Stores carbon in soil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$50 for bins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860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☀️ Solar panels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Prevents NEW emissions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$$$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880360"/>
            <a:ext cx="429768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7180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🔢 CALCULATION HELP: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246120"/>
            <a:ext cx="4023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Example: 10 trees × 48 lbs/tree = 480 lbs CO₂/year</a:t>
            </a:r>
            <a:br/>
            <a:r>
              <a:t>Cost: 10 trees × $25 = $250 (under budget!)</a:t>
            </a:r>
            <a:br/>
            <a:r>
              <a:t>That's about 1/10 of one person's annual footprint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880360"/>
            <a:ext cx="420624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9718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💡 DESIGN TIPS: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24612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Combine approaches for best results</a:t>
            </a:r>
            <a:br/>
            <a:r>
              <a:t>• Consider maintenance (who takes care of it?)</a:t>
            </a:r>
            <a:br/>
            <a:r>
              <a:t>• Think about WHERE to put your solution</a:t>
            </a:r>
            <a:br/>
            <a:r>
              <a:t>• Explain the SCIENCE - why does it work?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Write your design choice + calculate total CO₂ captured per year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8229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Feedback Loop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8595360" cy="146304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146304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2 NEW – Week 2 feedback loop content</a:t>
            </a:r>
            <a:br/>
            <a:r>
              <a:t>• 2 SPIRAL – Week 1 + Cycle 2 review</a:t>
            </a:r>
            <a:br/>
            <a:r>
              <a:t>• 1 INTEGRATION – Connect Week 1 &amp; Week 2 concepts</a:t>
            </a:r>
            <a:br/>
            <a:r>
              <a:t>• 1 SEP-2 – Create a feedback loop MODEL (diagram with labels)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97480"/>
            <a:ext cx="4206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Use vocabulary from today</a:t>
            </a:r>
            <a:br/>
            <a:r>
              <a:t>• Reference your notecard notes</a:t>
            </a:r>
            <a:br/>
            <a:r>
              <a:t>• Draw arrows in your feedback loop model</a:t>
            </a:r>
            <a:br/>
            <a:r>
              <a:t>• Explain WHY each step leads to the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206240" cy="10058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889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SEP-2 MODEL MUST INCLUDE: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Clear boxes or circles with labels</a:t>
            </a:r>
            <a:br/>
            <a:r>
              <a:t>• Arrows showing cause → effect</a:t>
            </a:r>
            <a:br/>
            <a:r>
              <a:t>• At least 4 steps in the loop</a:t>
            </a:r>
            <a:br/>
            <a:r>
              <a:t>• "Positive feedback" or "Negative feedback"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3840480"/>
            <a:ext cx="8869680" cy="5943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9319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FINAL Notecard: Draw the ice-albedo positive feedback loop with 4+ labeled steps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 Effect: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White surfaces reflect light (stay cool), dark surfaces absorb light (heat 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Change that causes MORE of the same change (amplifying loop)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Reservoirs that absorb CO₂ - can become saturated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Multiple Feedbacks: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Climate change involves many interacting feedback loops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